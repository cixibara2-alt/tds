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34"/>
  </p:notesMasterIdLst>
  <p:sldIdLst>
    <p:sldId id="313" r:id="rId4"/>
    <p:sldId id="312" r:id="rId5"/>
    <p:sldId id="314" r:id="rId6"/>
    <p:sldId id="315" r:id="rId7"/>
    <p:sldId id="317" r:id="rId8"/>
    <p:sldId id="316" r:id="rId9"/>
    <p:sldId id="318" r:id="rId10"/>
    <p:sldId id="319" r:id="rId11"/>
    <p:sldId id="320" r:id="rId12"/>
    <p:sldId id="323" r:id="rId13"/>
    <p:sldId id="322" r:id="rId14"/>
    <p:sldId id="324" r:id="rId15"/>
    <p:sldId id="325" r:id="rId16"/>
    <p:sldId id="327" r:id="rId17"/>
    <p:sldId id="326" r:id="rId18"/>
    <p:sldId id="328" r:id="rId19"/>
    <p:sldId id="329" r:id="rId20"/>
    <p:sldId id="330" r:id="rId21"/>
    <p:sldId id="331" r:id="rId22"/>
    <p:sldId id="332" r:id="rId23"/>
    <p:sldId id="334" r:id="rId24"/>
    <p:sldId id="333" r:id="rId25"/>
    <p:sldId id="308" r:id="rId26"/>
    <p:sldId id="309" r:id="rId27"/>
    <p:sldId id="310" r:id="rId28"/>
    <p:sldId id="335" r:id="rId29"/>
    <p:sldId id="336" r:id="rId30"/>
    <p:sldId id="337" r:id="rId31"/>
    <p:sldId id="338" r:id="rId32"/>
    <p:sldId id="339" r:id="rId33"/>
  </p:sldIdLst>
  <p:sldSz cx="9144000" cy="51435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32" userDrawn="1">
          <p15:clr>
            <a:srgbClr val="A4A3A4"/>
          </p15:clr>
        </p15:guide>
        <p15:guide id="2" pos="306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E89CE"/>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1" d="100"/>
          <a:sy n="81" d="100"/>
        </p:scale>
        <p:origin x="-872" y="-68"/>
      </p:cViewPr>
      <p:guideLst>
        <p:guide orient="horz" pos="1632"/>
        <p:guide pos="30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8" Type="http://schemas.openxmlformats.org/officeDocument/2006/relationships/commentAuthors" Target="commentAuthors.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notesMaster" Target="notesMasters/notesMaster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vert="horz" lIns="91440" tIns="45720" rIns="91440" bIns="4572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C764DE79-268F-4C1A-8933-263129D2AF90}" type="datetimeFigureOut">
              <a:rPr lang="en-US" smtClean="0"/>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48F63A3B-78C7-47BE-AE5E-E10140E04643}" type="slidenum">
              <a:rPr lang="en-US" smtClean="0"/>
            </a:fld>
            <a:endParaRPr lang="en-US"/>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solidFill>
                  <a:srgbClr val="000000">
                    <a:tint val="75000"/>
                  </a:srgbClr>
                </a:solidFill>
              </a:rPr>
            </a:fld>
            <a:endParaRPr lang="zh-CN" altLang="en-US">
              <a:solidFill>
                <a:srgbClr val="000000">
                  <a:tint val="75000"/>
                </a:srgbClr>
              </a:solidFill>
            </a:endParaRPr>
          </a:p>
        </p:txBody>
      </p:sp>
      <p:sp>
        <p:nvSpPr>
          <p:cNvPr id="4" name="页脚占位符 3"/>
          <p:cNvSpPr>
            <a:spLocks noGrp="1"/>
          </p:cNvSpPr>
          <p:nvPr>
            <p:ph type="ftr" sz="quarter" idx="11"/>
          </p:nvPr>
        </p:nvSpPr>
        <p:spPr/>
        <p:txBody>
          <a:bodyPr/>
          <a:lstStyle/>
          <a:p>
            <a:endParaRPr lang="zh-CN" altLang="en-US" dirty="0">
              <a:solidFill>
                <a:srgbClr val="000000">
                  <a:tint val="75000"/>
                </a:srgbClr>
              </a:solidFill>
            </a:endParaRPr>
          </a:p>
        </p:txBody>
      </p:sp>
      <p:sp>
        <p:nvSpPr>
          <p:cNvPr id="5" name="灯片编号占位符 4"/>
          <p:cNvSpPr>
            <a:spLocks noGrp="1"/>
          </p:cNvSpPr>
          <p:nvPr>
            <p:ph type="sldNum" sz="quarter" idx="12"/>
          </p:nvPr>
        </p:nvSpPr>
        <p:spPr/>
        <p:txBody>
          <a:bodyPr/>
          <a:lstStyle/>
          <a:p>
            <a:fld id="{49AE70B2-8BF9-45C0-BB95-33D1B9D3A854}" type="slidenum">
              <a:rPr lang="zh-CN" altLang="en-US" smtClean="0">
                <a:solidFill>
                  <a:srgbClr val="000000">
                    <a:tint val="75000"/>
                  </a:srgbClr>
                </a:solidFill>
              </a:rPr>
            </a:fld>
            <a:endParaRPr lang="zh-CN" altLang="en-US" dirty="0">
              <a:solidFill>
                <a:srgbClr val="000000">
                  <a:tint val="75000"/>
                </a:srgb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457200" y="206375"/>
            <a:ext cx="822960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200150"/>
            <a:ext cx="8229600" cy="33940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4767263"/>
            <a:ext cx="2133600" cy="274638"/>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124200" y="4767263"/>
            <a:ext cx="2895600" cy="274638"/>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553200" y="4767263"/>
            <a:ext cx="2133600" cy="274638"/>
          </a:xfrm>
          <a:prstGeom prst="rect">
            <a:avLst/>
          </a:prstGeom>
        </p:spPr>
        <p:txBody>
          <a:bodyPr vert="horz" lIns="91440" tIns="45720" rIns="91440" bIns="45720" rtlCol="0" anchor="ctr"/>
          <a:lstStyle>
            <a:lvl1pPr algn="r">
              <a:defRPr sz="1200">
                <a:solidFill>
                  <a:srgbClr val="898989"/>
                </a:solidFill>
              </a:defRPr>
            </a:lvl1pPr>
          </a:lstStyle>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1026" name="标题占位符 1"/>
          <p:cNvSpPr>
            <a:spLocks noGrp="1"/>
          </p:cNvSpPr>
          <p:nvPr>
            <p:ph type="title"/>
          </p:nvPr>
        </p:nvSpPr>
        <p:spPr>
          <a:xfrm>
            <a:off x="457200" y="206375"/>
            <a:ext cx="8229600" cy="85725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457200" y="1200150"/>
            <a:ext cx="8229600" cy="3394075"/>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4767263"/>
            <a:ext cx="2133600" cy="274638"/>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282C478-2C71-4AD8-AE88-0C594035CC6B}"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124200" y="4767263"/>
            <a:ext cx="2895600" cy="274638"/>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553200" y="4767263"/>
            <a:ext cx="2133600" cy="274638"/>
          </a:xfrm>
          <a:prstGeom prst="rect">
            <a:avLst/>
          </a:prstGeom>
        </p:spPr>
        <p:txBody>
          <a:bodyPr vert="horz" lIns="91440" tIns="45720" rIns="91440" bIns="45720" rtlCol="0" anchor="ctr"/>
          <a:lstStyle>
            <a:lvl1pPr algn="r">
              <a:defRPr sz="1200">
                <a:solidFill>
                  <a:srgbClr val="898989"/>
                </a:solidFill>
              </a:defRPr>
            </a:lvl1pPr>
          </a:lstStyle>
          <a:p>
            <a:pPr lvl="0"/>
            <a:fld id="{9A0DB2DC-4C9A-4742-B13C-FB6460FD3503}" type="slidenum">
              <a:rPr lang="zh-CN" altLang="en-US" dirty="0">
                <a:latin typeface="Calibri" panose="020F0502020204030204" pitchFamily="34" charset="0"/>
                <a:ea typeface="宋体" panose="02010600030101010101" pitchFamily="2" charset="-122"/>
              </a:rPr>
            </a:fld>
            <a:endParaRPr lang="zh-CN" altLang="en-US" dirty="0">
              <a:latin typeface="Calibri" panose="020F050202020403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3.jpeg"/><Relationship Id="rId1" Type="http://schemas.openxmlformats.org/officeDocument/2006/relationships/tags" Target="../tags/tag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95605" y="1191895"/>
            <a:ext cx="4989830" cy="381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古诗十九首》</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迢迢牵牛星，皎皎河汉女。</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纤纤擢素手，札札弄机杼。</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终日不成章，泣涕零如雨。</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河汉清且浅，相去复几许。</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盈盈一水间，脉脉不得语。　</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10" name="文本框 9"/>
          <p:cNvSpPr txBox="1"/>
          <p:nvPr/>
        </p:nvSpPr>
        <p:spPr>
          <a:xfrm>
            <a:off x="3996055" y="1203960"/>
            <a:ext cx="5017135" cy="3338195"/>
          </a:xfrm>
          <a:prstGeom prst="rect">
            <a:avLst/>
          </a:prstGeom>
          <a:noFill/>
        </p:spPr>
        <p:txBody>
          <a:bodyPr wrap="square" rtlCol="0">
            <a:spAutoFit/>
          </a:bodyPr>
          <a:lstStyle/>
          <a:p>
            <a:pPr>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是</a:t>
            </a:r>
            <a:r>
              <a:rPr lang="zh-CN" altLang="en-US" sz="2200" dirty="0">
                <a:solidFill>
                  <a:srgbClr val="FF0000"/>
                </a:solidFill>
                <a:latin typeface="华文新魏" panose="02010800040101010101" pitchFamily="2" charset="-122"/>
                <a:ea typeface="华文新魏" panose="02010800040101010101" pitchFamily="2" charset="-122"/>
              </a:rPr>
              <a:t>《古诗十九首》</a:t>
            </a:r>
            <a:r>
              <a:rPr lang="zh-CN" altLang="en-US" sz="2200" dirty="0">
                <a:latin typeface="华文新魏" panose="02010800040101010101" pitchFamily="2" charset="-122"/>
                <a:ea typeface="华文新魏" panose="02010800040101010101" pitchFamily="2" charset="-122"/>
              </a:rPr>
              <a:t>的第十首。题目为后人所加。它最早见于</a:t>
            </a:r>
            <a:r>
              <a:rPr lang="zh-CN" altLang="en-US" sz="2200" dirty="0">
                <a:solidFill>
                  <a:srgbClr val="FF0000"/>
                </a:solidFill>
                <a:latin typeface="华文新魏" panose="02010800040101010101" pitchFamily="2" charset="-122"/>
                <a:ea typeface="华文新魏" panose="02010800040101010101" pitchFamily="2" charset="-122"/>
              </a:rPr>
              <a:t>南朝粱萧统</a:t>
            </a:r>
            <a:r>
              <a:rPr lang="zh-CN" altLang="en-US" sz="2200" dirty="0">
                <a:latin typeface="华文新魏" panose="02010800040101010101" pitchFamily="2" charset="-122"/>
                <a:ea typeface="华文新魏" panose="02010800040101010101" pitchFamily="2" charset="-122"/>
              </a:rPr>
              <a:t>主持编选的</a:t>
            </a:r>
            <a:r>
              <a:rPr lang="zh-CN" altLang="en-US" sz="2200" dirty="0">
                <a:solidFill>
                  <a:srgbClr val="FF0000"/>
                </a:solidFill>
                <a:latin typeface="华文新魏" panose="02010800040101010101" pitchFamily="2" charset="-122"/>
                <a:ea typeface="华文新魏" panose="02010800040101010101" pitchFamily="2" charset="-122"/>
              </a:rPr>
              <a:t>《文选》</a:t>
            </a:r>
            <a:r>
              <a:rPr lang="zh-CN" altLang="en-US" sz="2200" dirty="0">
                <a:latin typeface="华文新魏" panose="02010800040101010101" pitchFamily="2" charset="-122"/>
                <a:ea typeface="华文新魏" panose="02010800040101010101" pitchFamily="2" charset="-122"/>
              </a:rPr>
              <a:t>，是一组</a:t>
            </a:r>
            <a:r>
              <a:rPr lang="zh-CN" altLang="en-US" sz="2200" dirty="0">
                <a:solidFill>
                  <a:srgbClr val="FF0000"/>
                </a:solidFill>
                <a:latin typeface="华文新魏" panose="02010800040101010101" pitchFamily="2" charset="-122"/>
                <a:ea typeface="华文新魏" panose="02010800040101010101" pitchFamily="2" charset="-122"/>
              </a:rPr>
              <a:t>五言古体诗</a:t>
            </a:r>
            <a:r>
              <a:rPr lang="zh-CN" altLang="en-US" sz="2200" dirty="0">
                <a:latin typeface="华文新魏" panose="02010800040101010101" pitchFamily="2" charset="-122"/>
                <a:ea typeface="华文新魏" panose="02010800040101010101" pitchFamily="2" charset="-122"/>
              </a:rPr>
              <a:t>，作者不详，一般认为产生于 </a:t>
            </a:r>
            <a:r>
              <a:rPr lang="zh-CN" altLang="en-US" sz="2200" dirty="0">
                <a:solidFill>
                  <a:srgbClr val="FF0000"/>
                </a:solidFill>
                <a:latin typeface="华文新魏" panose="02010800040101010101" pitchFamily="2" charset="-122"/>
                <a:ea typeface="华文新魏" panose="02010800040101010101" pitchFamily="2" charset="-122"/>
              </a:rPr>
              <a:t>东汉</a:t>
            </a:r>
            <a:r>
              <a:rPr lang="zh-CN" altLang="en-US" sz="2200" dirty="0">
                <a:latin typeface="华文新魏" panose="02010800040101010101" pitchFamily="2" charset="-122"/>
                <a:ea typeface="华文新魏" panose="02010800040101010101" pitchFamily="2" charset="-122"/>
              </a:rPr>
              <a:t>末年。</a:t>
            </a:r>
            <a:endParaRPr lang="zh-CN" altLang="en-US" sz="2200" dirty="0">
              <a:latin typeface="华文新魏" panose="02010800040101010101" pitchFamily="2" charset="-122"/>
              <a:ea typeface="华文新魏" panose="02010800040101010101" pitchFamily="2" charset="-122"/>
            </a:endParaRPr>
          </a:p>
          <a:p>
            <a:pPr>
              <a:lnSpc>
                <a:spcPct val="120000"/>
              </a:lnSpc>
            </a:pPr>
            <a:endParaRPr lang="zh-CN" altLang="en-US" sz="2200" dirty="0">
              <a:latin typeface="华文新魏" panose="02010800040101010101" pitchFamily="2" charset="-122"/>
              <a:ea typeface="华文新魏" panose="02010800040101010101" pitchFamily="2" charset="-122"/>
            </a:endParaRPr>
          </a:p>
          <a:p>
            <a:pPr>
              <a:lnSpc>
                <a:spcPct val="120000"/>
              </a:lnSpc>
            </a:pPr>
            <a:r>
              <a:rPr lang="zh-CN" altLang="en-US" sz="2200" dirty="0">
                <a:latin typeface="华文新魏" panose="02010800040101010101" pitchFamily="2" charset="-122"/>
                <a:ea typeface="华文新魏" panose="02010800040101010101" pitchFamily="2" charset="-122"/>
              </a:rPr>
              <a:t> </a:t>
            </a: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这首诗借</a:t>
            </a:r>
            <a:r>
              <a:rPr lang="zh-CN" altLang="en-US" sz="2200" dirty="0">
                <a:solidFill>
                  <a:srgbClr val="FF0000"/>
                </a:solidFill>
                <a:latin typeface="华文新魏" panose="02010800040101010101" pitchFamily="2" charset="-122"/>
                <a:ea typeface="华文新魏" panose="02010800040101010101" pitchFamily="2" charset="-122"/>
              </a:rPr>
              <a:t>牛郎织女隔河相望</a:t>
            </a:r>
            <a:r>
              <a:rPr lang="zh-CN" altLang="en-US" sz="2200" dirty="0">
                <a:latin typeface="华文新魏" panose="02010800040101010101" pitchFamily="2" charset="-122"/>
                <a:ea typeface="华文新魏" panose="02010800040101010101" pitchFamily="2" charset="-122"/>
              </a:rPr>
              <a:t>的神话传说，表达了</a:t>
            </a:r>
            <a:r>
              <a:rPr lang="zh-CN" altLang="en-US" sz="2200" dirty="0">
                <a:solidFill>
                  <a:srgbClr val="FF0000"/>
                </a:solidFill>
                <a:latin typeface="华文新魏" panose="02010800040101010101" pitchFamily="2" charset="-122"/>
                <a:ea typeface="华文新魏" panose="02010800040101010101" pitchFamily="2" charset="-122"/>
              </a:rPr>
              <a:t>爱而受阻、思而不得的离恨别愁</a:t>
            </a:r>
            <a:r>
              <a:rPr lang="zh-CN" altLang="en-US" sz="2200" dirty="0">
                <a:latin typeface="华文新魏" panose="02010800040101010101" pitchFamily="2" charset="-122"/>
                <a:ea typeface="华文新魏" panose="02010800040101010101" pitchFamily="2" charset="-122"/>
              </a:rPr>
              <a:t>，充满浓厚的</a:t>
            </a:r>
            <a:r>
              <a:rPr lang="zh-CN" altLang="en-US" sz="2200" dirty="0">
                <a:solidFill>
                  <a:srgbClr val="FF0000"/>
                </a:solidFill>
                <a:latin typeface="华文新魏" panose="02010800040101010101" pitchFamily="2" charset="-122"/>
                <a:ea typeface="华文新魏" panose="02010800040101010101" pitchFamily="2" charset="-122"/>
              </a:rPr>
              <a:t>浪漫忧伤</a:t>
            </a:r>
            <a:r>
              <a:rPr lang="zh-CN" altLang="en-US" sz="2200" dirty="0">
                <a:latin typeface="华文新魏" panose="02010800040101010101" pitchFamily="2" charset="-122"/>
                <a:ea typeface="华文新魏" panose="02010800040101010101" pitchFamily="2" charset="-122"/>
              </a:rPr>
              <a:t>气息。 </a:t>
            </a:r>
            <a:r>
              <a:rPr lang="en-US" altLang="zh-CN" sz="2200" dirty="0">
                <a:latin typeface="华文新魏" panose="02010800040101010101" pitchFamily="2" charset="-122"/>
                <a:ea typeface="华文新魏" panose="02010800040101010101" pitchFamily="2" charset="-122"/>
              </a:rPr>
              <a:t>     </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95605" y="1191895"/>
            <a:ext cx="4989830" cy="381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古诗十九首》</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迢迢牵牛星，皎皎河汉女。</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纤纤擢素手，札札弄机杼。</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终日不成章，泣涕零如雨。</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河汉清且浅，相去复几许。</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盈盈一水间，脉脉不得语。　</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8" name="文本框 7"/>
          <p:cNvSpPr txBox="1"/>
          <p:nvPr/>
        </p:nvSpPr>
        <p:spPr>
          <a:xfrm>
            <a:off x="4355465" y="772160"/>
            <a:ext cx="4137660" cy="4092575"/>
          </a:xfrm>
          <a:prstGeom prst="rect">
            <a:avLst/>
          </a:prstGeom>
          <a:noFill/>
        </p:spPr>
        <p:txBody>
          <a:bodyPr wrap="square" rtlCol="0">
            <a:spAutoFit/>
          </a:bodyPr>
          <a:lstStyle/>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皎皎：形容很白很亮。</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河汉女：指织女星。河汉，银河。</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擢</a:t>
            </a:r>
            <a:r>
              <a:rPr 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伸出。</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素：白皙。</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札札：织机发出的响声。</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机杼</a:t>
            </a:r>
            <a:r>
              <a:rPr 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织机。杼，梭子。</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章：花纹。</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零：掉落。</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盈盈；清澈的样子。</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脉脉：相视无言的样子。</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780155" y="106045"/>
            <a:ext cx="5322570" cy="4965700"/>
          </a:xfrm>
          <a:prstGeom prst="rect">
            <a:avLst/>
          </a:prstGeom>
          <a:noFill/>
        </p:spPr>
        <p:txBody>
          <a:bodyPr wrap="square" rtlCol="0">
            <a:spAutoFit/>
          </a:bodyPr>
          <a:lstStyle/>
          <a:p>
            <a:pPr>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开头两句揭示了故事发生的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环境</a:t>
            </a:r>
            <a:r>
              <a:rPr lang="zh-CN" altLang="en-US" sz="2000" dirty="0">
                <a:latin typeface="楷体" panose="02010609060101010101" pitchFamily="49" charset="-122"/>
                <a:ea typeface="楷体" panose="02010609060101010101" pitchFamily="49" charset="-122"/>
                <a:cs typeface="楷体" panose="02010609060101010101" pitchFamily="49" charset="-122"/>
              </a:rPr>
              <a:t>。夜晚，星汉灿烂，仰望星空，但见银河两岸牵牛、织女两星闪烁，不由得联想起牛郎、织女的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神话传说</a:t>
            </a:r>
            <a:r>
              <a:rPr lang="zh-CN" altLang="en-US" sz="2000" dirty="0">
                <a:latin typeface="楷体" panose="02010609060101010101" pitchFamily="49" charset="-122"/>
                <a:ea typeface="楷体" panose="02010609060101010101" pitchFamily="49" charset="-122"/>
                <a:cs typeface="楷体" panose="02010609060101010101" pitchFamily="49" charset="-122"/>
              </a:rPr>
              <a:t>，由此触动了她自己</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现实中的离愁别绪</a:t>
            </a:r>
            <a:r>
              <a:rPr lang="zh-CN" altLang="en-US" sz="2000" dirty="0">
                <a:latin typeface="楷体" panose="02010609060101010101" pitchFamily="49" charset="-122"/>
                <a:ea typeface="楷体" panose="02010609060101010101" pitchFamily="49" charset="-122"/>
                <a:cs typeface="楷体" panose="02010609060101010101" pitchFamily="49" charset="-122"/>
              </a:rPr>
              <a:t>。“迢迢</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“皎皎”，既是</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实写星空之景</a:t>
            </a:r>
            <a:r>
              <a:rPr lang="zh-CN" altLang="en-US" sz="2000" dirty="0">
                <a:latin typeface="楷体" panose="02010609060101010101" pitchFamily="49" charset="-122"/>
                <a:ea typeface="楷体" panose="02010609060101010101" pitchFamily="49" charset="-122"/>
                <a:cs typeface="楷体" panose="02010609060101010101" pitchFamily="49" charset="-122"/>
              </a:rPr>
              <a:t>，也是</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想象人之情态</a:t>
            </a:r>
            <a:r>
              <a:rPr lang="zh-CN" altLang="en-US" sz="2000" dirty="0">
                <a:latin typeface="楷体" panose="02010609060101010101" pitchFamily="49" charset="-122"/>
                <a:ea typeface="楷体" panose="02010609060101010101" pitchFamily="49" charset="-122"/>
                <a:cs typeface="楷体" panose="02010609060101010101" pitchFamily="49" charset="-122"/>
              </a:rPr>
              <a:t>，还表现出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内心之感受</a:t>
            </a:r>
            <a:r>
              <a:rPr lang="zh-CN" altLang="en-US" sz="2000" dirty="0">
                <a:latin typeface="楷体" panose="02010609060101010101" pitchFamily="49" charset="-122"/>
                <a:ea typeface="楷体" panose="02010609060101010101" pitchFamily="49" charset="-122"/>
                <a:cs typeface="楷体" panose="02010609060101010101" pitchFamily="49" charset="-122"/>
              </a:rPr>
              <a:t>。距离的旷远拉伸了主人公之间的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相思之情</a:t>
            </a:r>
            <a:r>
              <a:rPr lang="zh-CN" altLang="en-US" sz="2000" dirty="0">
                <a:latin typeface="楷体" panose="02010609060101010101" pitchFamily="49" charset="-122"/>
                <a:ea typeface="楷体" panose="02010609060101010101" pitchFamily="49" charset="-122"/>
                <a:cs typeface="楷体" panose="02010609060101010101" pitchFamily="49" charset="-122"/>
              </a:rPr>
              <a:t>。</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a:p>
            <a:pPr>
              <a:lnSpc>
                <a:spcPct val="12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三、四句</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含蓄描写了织女的美丽</a:t>
            </a:r>
            <a:r>
              <a:rPr lang="zh-CN" altLang="en-US" sz="2000" dirty="0">
                <a:latin typeface="楷体" panose="02010609060101010101" pitchFamily="49" charset="-122"/>
                <a:ea typeface="楷体" panose="02010609060101010101" pitchFamily="49" charset="-122"/>
                <a:cs typeface="楷体" panose="02010609060101010101" pitchFamily="49" charset="-122"/>
              </a:rPr>
              <a:t>，刻画了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织女劳动时</a:t>
            </a:r>
            <a:r>
              <a:rPr lang="zh-CN" altLang="en-US" sz="2000" dirty="0">
                <a:latin typeface="楷体" panose="02010609060101010101" pitchFamily="49" charset="-122"/>
                <a:ea typeface="楷体" panose="02010609060101010101" pitchFamily="49" charset="-122"/>
                <a:cs typeface="楷体" panose="02010609060101010101" pitchFamily="49" charset="-122"/>
              </a:rPr>
              <a:t>的形态。“纤纤”,形容</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素手之修美</a:t>
            </a:r>
            <a:r>
              <a:rPr lang="zh-CN" altLang="en-US" sz="2000" dirty="0">
                <a:latin typeface="楷体" panose="02010609060101010101" pitchFamily="49" charset="-122"/>
                <a:ea typeface="楷体" panose="02010609060101010101" pitchFamily="49" charset="-122"/>
                <a:cs typeface="楷体" panose="02010609060101010101" pitchFamily="49" charset="-122"/>
              </a:rPr>
              <a:t>;“札札”，状写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织布之繁忙</a:t>
            </a:r>
            <a:r>
              <a:rPr lang="zh-CN" altLang="en-US" sz="2000" dirty="0">
                <a:latin typeface="楷体" panose="02010609060101010101" pitchFamily="49" charset="-122"/>
                <a:ea typeface="楷体" panose="02010609060101010101" pitchFamily="49" charset="-122"/>
                <a:cs typeface="楷体" panose="02010609060101010101" pitchFamily="49" charset="-122"/>
              </a:rPr>
              <a:t>。“擢素手”描写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织女之灵气</a:t>
            </a:r>
            <a:r>
              <a:rPr lang="zh-CN" altLang="en-US" sz="2000" dirty="0">
                <a:latin typeface="楷体" panose="02010609060101010101" pitchFamily="49" charset="-122"/>
                <a:ea typeface="楷体" panose="02010609060101010101" pitchFamily="49" charset="-122"/>
                <a:cs typeface="楷体" panose="02010609060101010101" pitchFamily="49" charset="-122"/>
              </a:rPr>
              <a:t>;“弄机杼”将“擢”字落实到</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“弄”</a:t>
            </a:r>
            <a:r>
              <a:rPr lang="zh-CN" altLang="en-US" sz="2000" dirty="0">
                <a:latin typeface="楷体" panose="02010609060101010101" pitchFamily="49" charset="-122"/>
                <a:ea typeface="楷体" panose="02010609060101010101" pitchFamily="49" charset="-122"/>
                <a:cs typeface="楷体" panose="02010609060101010101" pitchFamily="49" charset="-122"/>
              </a:rPr>
              <a:t>字上，泄漏了此时织女的心境，</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心不在焉，心神不宁</a:t>
            </a:r>
            <a:r>
              <a:rPr lang="zh-CN" altLang="en-US" sz="2000" dirty="0">
                <a:latin typeface="楷体" panose="02010609060101010101" pitchFamily="49" charset="-122"/>
                <a:ea typeface="楷体" panose="02010609060101010101" pitchFamily="49" charset="-122"/>
                <a:cs typeface="楷体" panose="02010609060101010101" pitchFamily="49" charset="-122"/>
              </a:rPr>
              <a:t>的样子。</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en-US" altLang="zh-CN" sz="2200" dirty="0">
                <a:latin typeface="楷体" panose="02010609060101010101" pitchFamily="49" charset="-122"/>
                <a:ea typeface="楷体" panose="02010609060101010101" pitchFamily="49" charset="-122"/>
                <a:cs typeface="楷体" panose="02010609060101010101" pitchFamily="49" charset="-122"/>
              </a:rPr>
              <a:t> </a:t>
            </a:r>
            <a:endParaRPr lang="zh-CN" altLang="en-US" sz="22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468630" y="1203960"/>
            <a:ext cx="4989830" cy="381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古诗十九首》</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迢迢牵牛星，皎皎河汉女。</a:t>
            </a:r>
            <a:r>
              <a:rPr kumimoji="0" lang="en-US" altLang="zh-CN"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纤纤擢素手，札札弄机杼。</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终日不成章，泣涕零如雨。</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河汉清且浅，相去复几许。</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盈盈一水间，脉脉不得语。　</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95605" y="1191895"/>
            <a:ext cx="4989830" cy="381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a:t>
            </a: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古诗十九首》</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迢迢牵牛星，皎皎河汉女。</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纤纤擢素手，札札弄机杼。</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终日不成章，泣涕零如雨。</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河汉清且浅，相去复几许。</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盈盈一水间，脉脉不得语。　</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10" name="文本框 9"/>
          <p:cNvSpPr txBox="1"/>
          <p:nvPr/>
        </p:nvSpPr>
        <p:spPr>
          <a:xfrm>
            <a:off x="3978910" y="51435"/>
            <a:ext cx="5034280" cy="4864100"/>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五、六句描写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织女织布的结果和织布时的情态。</a:t>
            </a:r>
            <a:r>
              <a:rPr lang="zh-CN" altLang="en-US" sz="2000" dirty="0">
                <a:latin typeface="楷体" panose="02010609060101010101" pitchFamily="49" charset="-122"/>
                <a:ea typeface="楷体" panose="02010609060101010101" pitchFamily="49" charset="-122"/>
                <a:cs typeface="楷体" panose="02010609060101010101" pitchFamily="49" charset="-122"/>
              </a:rPr>
              <a:t>她虽然整天在织布，却没有织成一匹完好的布匹，原来她是在思念她的牛郎啊。“不成章”蕴舍</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“思”</a:t>
            </a:r>
            <a:r>
              <a:rPr lang="zh-CN" altLang="en-US" sz="2000" dirty="0">
                <a:latin typeface="楷体" panose="02010609060101010101" pitchFamily="49" charset="-122"/>
                <a:ea typeface="楷体" panose="02010609060101010101" pitchFamily="49" charset="-122"/>
                <a:cs typeface="楷体" panose="02010609060101010101" pitchFamily="49" charset="-122"/>
              </a:rPr>
              <a:t>字;“泣涕零如雨”，表露</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内心的悲苦</a:t>
            </a:r>
            <a:r>
              <a:rPr lang="zh-CN" altLang="en-US"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这两句</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sym typeface="+mn-ea"/>
              </a:rPr>
              <a:t>写出了爱情受阻、思而不得的痛苦和悲伤</a:t>
            </a: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 </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最后四句诗人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发出慨叹</a:t>
            </a:r>
            <a:r>
              <a:rPr lang="zh-CN" altLang="en-US" sz="2000" dirty="0">
                <a:latin typeface="楷体" panose="02010609060101010101" pitchFamily="49" charset="-122"/>
                <a:ea typeface="楷体" panose="02010609060101010101" pitchFamily="49" charset="-122"/>
                <a:cs typeface="楷体" panose="02010609060101010101" pitchFamily="49" charset="-122"/>
              </a:rPr>
              <a:t>:那阻隔了牵牛和织女的银河既清且浅，牵牛与织女相距也并不远，但一水之隔却相视而不得语，更有力突出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织女的忧伤哀愁</a:t>
            </a:r>
            <a:r>
              <a:rPr lang="zh-CN" altLang="en-US" sz="2000" dirty="0">
                <a:latin typeface="楷体" panose="02010609060101010101" pitchFamily="49" charset="-122"/>
                <a:ea typeface="楷体" panose="02010609060101010101" pitchFamily="49" charset="-122"/>
                <a:cs typeface="楷体" panose="02010609060101010101" pitchFamily="49" charset="-122"/>
              </a:rPr>
              <a:t>。“脉脉”一词描摹二人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含情相望</a:t>
            </a:r>
            <a:r>
              <a:rPr lang="zh-CN" altLang="en-US" sz="2000" dirty="0">
                <a:latin typeface="楷体" panose="02010609060101010101" pitchFamily="49" charset="-122"/>
                <a:ea typeface="楷体" panose="02010609060101010101" pitchFamily="49" charset="-122"/>
                <a:cs typeface="楷体" panose="02010609060101010101" pitchFamily="49" charset="-122"/>
              </a:rPr>
              <a:t>的样子，饱含</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缠绵无尽的相思。</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叠音词</a:t>
            </a:r>
            <a:r>
              <a:rPr lang="zh-CN" altLang="en-US" sz="2000" dirty="0">
                <a:latin typeface="楷体" panose="02010609060101010101" pitchFamily="49" charset="-122"/>
                <a:ea typeface="楷体" panose="02010609060101010101" pitchFamily="49" charset="-122"/>
                <a:cs typeface="楷体" panose="02010609060101010101" pitchFamily="49" charset="-122"/>
              </a:rPr>
              <a:t>的运用使这首诗</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质朴、清丽，情趣盎然。</a:t>
            </a:r>
            <a:r>
              <a:rPr lang="zh-CN" altLang="en-US" sz="2000" dirty="0">
                <a:latin typeface="楷体" panose="02010609060101010101" pitchFamily="49" charset="-122"/>
                <a:ea typeface="楷体" panose="02010609060101010101" pitchFamily="49" charset="-122"/>
                <a:cs typeface="楷体" panose="02010609060101010101" pitchFamily="49" charset="-122"/>
              </a:rPr>
              <a:t>特别是最后两句，一个</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饱含离愁</a:t>
            </a:r>
            <a:r>
              <a:rPr lang="zh-CN" altLang="en-US" sz="2000" dirty="0">
                <a:latin typeface="楷体" panose="02010609060101010101" pitchFamily="49" charset="-122"/>
                <a:ea typeface="楷体" panose="02010609060101010101" pitchFamily="49" charset="-122"/>
                <a:cs typeface="楷体" panose="02010609060101010101" pitchFamily="49" charset="-122"/>
              </a:rPr>
              <a:t>的少妇形象现于纸上，诗思深远而余味无穷。</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韩翃</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春城无处不飞花，</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寒食东风御柳斜。</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日暮汉宫传蜡烛，</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轻烟散入五侯家。</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8" name="文本框 7"/>
          <p:cNvSpPr txBox="1"/>
          <p:nvPr/>
        </p:nvSpPr>
        <p:spPr>
          <a:xfrm>
            <a:off x="4211955" y="2715895"/>
            <a:ext cx="4768850" cy="1691640"/>
          </a:xfrm>
          <a:prstGeom prst="rect">
            <a:avLst/>
          </a:prstGeom>
          <a:noFill/>
        </p:spPr>
        <p:txBody>
          <a:bodyPr wrap="square" rtlCol="0">
            <a:spAutoFit/>
          </a:bodyPr>
          <a:lstStyle/>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春城：指春天的京城。</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御柳：皇城里的柳树。</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传蜡烛：指宫中传赐新火。</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五侯：这里泛指权贵豪门。</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10" name="文本框 9"/>
          <p:cNvSpPr txBox="1"/>
          <p:nvPr/>
        </p:nvSpPr>
        <p:spPr>
          <a:xfrm>
            <a:off x="4043680" y="1059180"/>
            <a:ext cx="5008245" cy="902970"/>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solidFill>
                  <a:srgbClr val="FF0000"/>
                </a:solidFill>
                <a:latin typeface="华文新魏" panose="02010800040101010101" pitchFamily="2" charset="-122"/>
                <a:ea typeface="华文新魏" panose="02010800040101010101" pitchFamily="2" charset="-122"/>
                <a:sym typeface="+mn-ea"/>
              </a:rPr>
              <a:t>韩翃</a:t>
            </a:r>
            <a:r>
              <a:rPr lang="zh-CN" altLang="en-US" sz="2200" dirty="0">
                <a:latin typeface="华文新魏" panose="02010800040101010101" pitchFamily="2" charset="-122"/>
                <a:ea typeface="华文新魏" panose="02010800040101010101" pitchFamily="2" charset="-122"/>
                <a:sym typeface="+mn-ea"/>
              </a:rPr>
              <a:t>，字</a:t>
            </a:r>
            <a:r>
              <a:rPr lang="zh-CN" altLang="en-US" sz="2200" dirty="0">
                <a:solidFill>
                  <a:srgbClr val="FF0000"/>
                </a:solidFill>
                <a:latin typeface="华文新魏" panose="02010800040101010101" pitchFamily="2" charset="-122"/>
                <a:ea typeface="华文新魏" panose="02010800040101010101" pitchFamily="2" charset="-122"/>
                <a:sym typeface="+mn-ea"/>
              </a:rPr>
              <a:t>君平</a:t>
            </a:r>
            <a:r>
              <a:rPr lang="zh-CN" altLang="en-US" sz="2200" dirty="0">
                <a:latin typeface="华文新魏" panose="02010800040101010101" pitchFamily="2" charset="-122"/>
                <a:ea typeface="华文新魏" panose="02010800040101010101" pitchFamily="2" charset="-122"/>
                <a:sym typeface="+mn-ea"/>
              </a:rPr>
              <a:t>，</a:t>
            </a:r>
            <a:r>
              <a:rPr lang="zh-CN" altLang="en-US" sz="2200" dirty="0">
                <a:solidFill>
                  <a:srgbClr val="FF0000"/>
                </a:solidFill>
                <a:latin typeface="华文新魏" panose="02010800040101010101" pitchFamily="2" charset="-122"/>
                <a:ea typeface="华文新魏" panose="02010800040101010101" pitchFamily="2" charset="-122"/>
                <a:sym typeface="+mn-ea"/>
              </a:rPr>
              <a:t>唐代</a:t>
            </a:r>
            <a:r>
              <a:rPr lang="zh-CN" altLang="en-US" sz="2200" dirty="0">
                <a:latin typeface="华文新魏" panose="02010800040101010101" pitchFamily="2" charset="-122"/>
                <a:ea typeface="华文新魏" panose="02010800040101010101" pitchFamily="2" charset="-122"/>
                <a:sym typeface="+mn-ea"/>
              </a:rPr>
              <a:t>诗人，</a:t>
            </a:r>
            <a:r>
              <a:rPr lang="zh-CN" altLang="en-US" sz="2200" dirty="0">
                <a:solidFill>
                  <a:srgbClr val="FF0000"/>
                </a:solidFill>
                <a:latin typeface="华文新魏" panose="02010800040101010101" pitchFamily="2" charset="-122"/>
                <a:ea typeface="华文新魏" panose="02010800040101010101" pitchFamily="2" charset="-122"/>
                <a:sym typeface="+mn-ea"/>
              </a:rPr>
              <a:t>“大历十才子”</a:t>
            </a:r>
            <a:r>
              <a:rPr lang="zh-CN" altLang="en-US" sz="2200" dirty="0">
                <a:latin typeface="华文新魏" panose="02010800040101010101" pitchFamily="2" charset="-122"/>
                <a:ea typeface="华文新魏" panose="02010800040101010101" pitchFamily="2" charset="-122"/>
                <a:sym typeface="+mn-ea"/>
              </a:rPr>
              <a:t>之一。</a:t>
            </a:r>
            <a:r>
              <a:rPr lang="zh-CN" altLang="en-US" sz="2200" dirty="0">
                <a:latin typeface="华文新魏" panose="02010800040101010101" pitchFamily="2" charset="-122"/>
                <a:ea typeface="华文新魏" panose="02010800040101010101" pitchFamily="2" charset="-122"/>
                <a:sym typeface="+mn-ea"/>
              </a:rPr>
              <a:t>体裁为</a:t>
            </a:r>
            <a:r>
              <a:rPr lang="zh-CN" altLang="en-US" sz="2200" dirty="0">
                <a:solidFill>
                  <a:srgbClr val="FF0000"/>
                </a:solidFill>
                <a:latin typeface="华文新魏" panose="02010800040101010101" pitchFamily="2" charset="-122"/>
                <a:ea typeface="华文新魏" panose="02010800040101010101" pitchFamily="2" charset="-122"/>
                <a:sym typeface="+mn-ea"/>
              </a:rPr>
              <a:t>七言绝句</a:t>
            </a:r>
            <a:r>
              <a:rPr lang="zh-CN" altLang="en-US" sz="2200" dirty="0">
                <a:latin typeface="华文新魏" panose="02010800040101010101" pitchFamily="2" charset="-122"/>
                <a:ea typeface="华文新魏" panose="02010800040101010101" pitchFamily="2" charset="-122"/>
                <a:sym typeface="+mn-ea"/>
              </a:rPr>
              <a:t>。</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95605" y="1191895"/>
            <a:ext cx="4989830" cy="381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韩翃</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春城无处不飞花，</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寒食东风御柳斜。</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日暮汉宫传蜡烛，</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轻烟散入五侯家。</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a:t>
            </a:r>
            <a:endParaRPr kumimoji="0" lang="zh-CN" altLang="en-US" sz="23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10" name="文本框 9"/>
          <p:cNvSpPr txBox="1"/>
          <p:nvPr/>
        </p:nvSpPr>
        <p:spPr>
          <a:xfrm>
            <a:off x="3924300" y="1564005"/>
            <a:ext cx="5033645" cy="2120900"/>
          </a:xfrm>
          <a:prstGeom prst="rect">
            <a:avLst/>
          </a:prstGeom>
          <a:noFill/>
        </p:spPr>
        <p:txBody>
          <a:bodyPr wrap="square" rtlCol="0">
            <a:spAutoFit/>
          </a:bodyPr>
          <a:lstStyle/>
          <a:p>
            <a:pPr>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 </a:t>
            </a: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《寒食》</a:t>
            </a:r>
            <a:r>
              <a:rPr lang="zh-CN" altLang="en-US" sz="2200" dirty="0">
                <a:solidFill>
                  <a:srgbClr val="FF0000"/>
                </a:solidFill>
                <a:latin typeface="华文新魏" panose="02010800040101010101" pitchFamily="2" charset="-122"/>
                <a:ea typeface="华文新魏" panose="02010800040101010101" pitchFamily="2" charset="-122"/>
              </a:rPr>
              <a:t>前两句</a:t>
            </a:r>
            <a:r>
              <a:rPr lang="zh-CN" altLang="en-US" sz="2200" dirty="0">
                <a:latin typeface="华文新魏" panose="02010800040101010101" pitchFamily="2" charset="-122"/>
                <a:ea typeface="华文新魏" panose="02010800040101010101" pitchFamily="2" charset="-122"/>
              </a:rPr>
              <a:t>描写</a:t>
            </a:r>
            <a:r>
              <a:rPr lang="zh-CN" altLang="en-US" sz="2200" dirty="0">
                <a:solidFill>
                  <a:srgbClr val="FF0000"/>
                </a:solidFill>
                <a:latin typeface="华文新魏" panose="02010800040101010101" pitchFamily="2" charset="-122"/>
                <a:ea typeface="华文新魏" panose="02010800040101010101" pitchFamily="2" charset="-122"/>
              </a:rPr>
              <a:t>长安城里一派美好的春日风光</a:t>
            </a:r>
            <a:r>
              <a:rPr lang="zh-CN" altLang="en-US" sz="2200" dirty="0">
                <a:latin typeface="华文新魏" panose="02010800040101010101" pitchFamily="2" charset="-122"/>
                <a:ea typeface="华文新魏" panose="02010800040101010101" pitchFamily="2" charset="-122"/>
              </a:rPr>
              <a:t>；后两句则写</a:t>
            </a:r>
            <a:r>
              <a:rPr lang="zh-CN" altLang="en-US" sz="2200" dirty="0">
                <a:solidFill>
                  <a:srgbClr val="FF0000"/>
                </a:solidFill>
                <a:latin typeface="华文新魏" panose="02010800040101010101" pitchFamily="2" charset="-122"/>
                <a:ea typeface="华文新魏" panose="02010800040101010101" pitchFamily="2" charset="-122"/>
              </a:rPr>
              <a:t>夜晚景象</a:t>
            </a:r>
            <a:r>
              <a:rPr lang="zh-CN" altLang="en-US" sz="2200" dirty="0">
                <a:latin typeface="华文新魏" panose="02010800040101010101" pitchFamily="2" charset="-122"/>
                <a:ea typeface="华文新魏" panose="02010800040101010101" pitchFamily="2" charset="-122"/>
              </a:rPr>
              <a:t>，生动地画出一幅</a:t>
            </a:r>
            <a:r>
              <a:rPr lang="zh-CN" altLang="en-US" sz="2200" dirty="0">
                <a:solidFill>
                  <a:srgbClr val="FF0000"/>
                </a:solidFill>
                <a:latin typeface="华文新魏" panose="02010800040101010101" pitchFamily="2" charset="-122"/>
                <a:ea typeface="华文新魏" panose="02010800040101010101" pitchFamily="2" charset="-122"/>
              </a:rPr>
              <a:t>夜晚走马传烛图</a:t>
            </a:r>
            <a:r>
              <a:rPr lang="zh-CN" altLang="en-US" sz="2200" dirty="0">
                <a:latin typeface="华文新魏" panose="02010800040101010101" pitchFamily="2" charset="-122"/>
                <a:ea typeface="华文新魏" panose="02010800040101010101" pitchFamily="2" charset="-122"/>
              </a:rPr>
              <a:t>。全诗用</a:t>
            </a:r>
            <a:r>
              <a:rPr lang="zh-CN" altLang="en-US" sz="2200" dirty="0">
                <a:solidFill>
                  <a:srgbClr val="FF0000"/>
                </a:solidFill>
                <a:latin typeface="华文新魏" panose="02010800040101010101" pitchFamily="2" charset="-122"/>
                <a:ea typeface="华文新魏" panose="02010800040101010101" pitchFamily="2" charset="-122"/>
              </a:rPr>
              <a:t>白描</a:t>
            </a:r>
            <a:r>
              <a:rPr lang="zh-CN" altLang="en-US" sz="2200" dirty="0">
                <a:latin typeface="华文新魏" panose="02010800040101010101" pitchFamily="2" charset="-122"/>
                <a:ea typeface="华文新魏" panose="02010800040101010101" pitchFamily="2" charset="-122"/>
              </a:rPr>
              <a:t>手法，表现</a:t>
            </a:r>
            <a:r>
              <a:rPr lang="zh-CN" altLang="en-US" sz="2200" dirty="0">
                <a:solidFill>
                  <a:srgbClr val="FF0000"/>
                </a:solidFill>
                <a:latin typeface="华文新魏" panose="02010800040101010101" pitchFamily="2" charset="-122"/>
                <a:ea typeface="华文新魏" panose="02010800040101010101" pitchFamily="2" charset="-122"/>
              </a:rPr>
              <a:t>皇室的气派</a:t>
            </a:r>
            <a:r>
              <a:rPr lang="zh-CN" altLang="en-US" sz="2200" dirty="0">
                <a:latin typeface="华文新魏" panose="02010800040101010101" pitchFamily="2" charset="-122"/>
                <a:ea typeface="华文新魏" panose="02010800040101010101" pitchFamily="2" charset="-122"/>
              </a:rPr>
              <a:t>，充溢着对</a:t>
            </a:r>
            <a:r>
              <a:rPr lang="zh-CN" altLang="en-US" sz="2200" dirty="0">
                <a:solidFill>
                  <a:srgbClr val="FF0000"/>
                </a:solidFill>
                <a:latin typeface="华文新魏" panose="02010800040101010101" pitchFamily="2" charset="-122"/>
                <a:ea typeface="华文新魏" panose="02010800040101010101" pitchFamily="2" charset="-122"/>
              </a:rPr>
              <a:t>皇城春色的陶醉和对承平盛世的歌咏</a:t>
            </a:r>
            <a:r>
              <a:rPr lang="zh-CN" altLang="en-US" sz="2200" dirty="0">
                <a:latin typeface="华文新魏" panose="02010800040101010101" pitchFamily="2" charset="-122"/>
                <a:ea typeface="华文新魏" panose="02010800040101010101" pitchFamily="2" charset="-122"/>
              </a:rPr>
              <a:t>。</a:t>
            </a:r>
            <a:r>
              <a:rPr lang="en-US" altLang="zh-CN" sz="2200" dirty="0">
                <a:latin typeface="华文新魏" panose="02010800040101010101" pitchFamily="2" charset="-122"/>
                <a:ea typeface="华文新魏" panose="02010800040101010101" pitchFamily="2" charset="-122"/>
              </a:rPr>
              <a:t>    </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491865" y="313690"/>
            <a:ext cx="5330825" cy="4525645"/>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rPr>
              <a:t>前两句</a:t>
            </a:r>
            <a:r>
              <a:rPr lang="zh-CN" altLang="en-US" sz="2000" dirty="0">
                <a:latin typeface="楷体" panose="02010609060101010101" pitchFamily="49" charset="-122"/>
                <a:ea typeface="楷体" panose="02010609060101010101" pitchFamily="49" charset="-122"/>
                <a:cs typeface="楷体" panose="02010609060101010101" pitchFamily="49" charset="-122"/>
              </a:rPr>
              <a:t>描写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春日京城落红漫舞、柳条随风袅娜</a:t>
            </a:r>
            <a:r>
              <a:rPr lang="zh-CN" altLang="en-US" sz="2000" dirty="0">
                <a:latin typeface="楷体" panose="02010609060101010101" pitchFamily="49" charset="-122"/>
                <a:ea typeface="楷体" panose="02010609060101010101" pitchFamily="49" charset="-122"/>
                <a:cs typeface="楷体" panose="02010609060101010101" pitchFamily="49" charset="-122"/>
              </a:rPr>
              <a:t>之态，突出长安城里一派</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绚丽迷人的春光</a:t>
            </a:r>
            <a:r>
              <a:rPr lang="zh-CN" altLang="en-US" sz="2000" dirty="0">
                <a:latin typeface="楷体" panose="02010609060101010101" pitchFamily="49" charset="-122"/>
                <a:ea typeface="楷体" panose="02010609060101010101" pitchFamily="49" charset="-122"/>
                <a:cs typeface="楷体" panose="02010609060101010101" pitchFamily="49" charset="-122"/>
              </a:rPr>
              <a:t>。</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第一句点明季节、地点，</a:t>
            </a:r>
            <a:r>
              <a:rPr lang="zh-CN" altLang="en-US" sz="2000" dirty="0">
                <a:latin typeface="楷体" panose="02010609060101010101" pitchFamily="49" charset="-122"/>
                <a:ea typeface="楷体" panose="02010609060101010101" pitchFamily="49" charset="-122"/>
                <a:cs typeface="楷体" panose="02010609060101010101" pitchFamily="49" charset="-122"/>
              </a:rPr>
              <a:t>且用双重否定，加强肯定语气，烘托出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春意浓郁、满城沉醉其间</a:t>
            </a:r>
            <a:r>
              <a:rPr lang="zh-CN" altLang="en-US" sz="2000" dirty="0">
                <a:latin typeface="楷体" panose="02010609060101010101" pitchFamily="49" charset="-122"/>
                <a:ea typeface="楷体" panose="02010609060101010101" pitchFamily="49" charset="-122"/>
                <a:cs typeface="楷体" panose="02010609060101010101" pitchFamily="49" charset="-122"/>
              </a:rPr>
              <a:t>的富丽盛况。“飞花”，描</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落花随风飞舞之姿</a:t>
            </a:r>
            <a:r>
              <a:rPr lang="zh-CN" altLang="en-US" sz="2000" dirty="0">
                <a:latin typeface="楷体" panose="02010609060101010101" pitchFamily="49" charset="-122"/>
                <a:ea typeface="楷体" panose="02010609060101010101" pitchFamily="49" charset="-122"/>
                <a:cs typeface="楷体" panose="02010609060101010101" pitchFamily="49" charset="-122"/>
              </a:rPr>
              <a:t>，一个“飞”字，明写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花而暗写风</a:t>
            </a:r>
            <a:r>
              <a:rPr lang="zh-CN" altLang="en-US" sz="2000" dirty="0">
                <a:latin typeface="楷体" panose="02010609060101010101" pitchFamily="49" charset="-122"/>
                <a:ea typeface="楷体" panose="02010609060101010101" pitchFamily="49" charset="-122"/>
                <a:cs typeface="楷体" panose="02010609060101010101" pitchFamily="49" charset="-122"/>
              </a:rPr>
              <a:t>，与后句</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“东风”</a:t>
            </a:r>
            <a:r>
              <a:rPr lang="zh-CN" altLang="en-US" sz="2000" dirty="0">
                <a:latin typeface="楷体" panose="02010609060101010101" pitchFamily="49" charset="-122"/>
                <a:ea typeface="楷体" panose="02010609060101010101" pitchFamily="49" charset="-122"/>
                <a:cs typeface="楷体" panose="02010609060101010101" pitchFamily="49" charset="-122"/>
              </a:rPr>
              <a:t>呼应，笔断意连。</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“寒食东风御柳斜”，摹</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皇宫垂柳随风摇曳之态</a:t>
            </a:r>
            <a:r>
              <a:rPr lang="zh-CN" altLang="en-US" sz="2000" dirty="0">
                <a:latin typeface="楷体" panose="02010609060101010101" pitchFamily="49" charset="-122"/>
                <a:ea typeface="楷体" panose="02010609060101010101" pitchFamily="49" charset="-122"/>
                <a:cs typeface="楷体" panose="02010609060101010101" pitchFamily="49" charset="-122"/>
              </a:rPr>
              <a:t>，一个“斜”字，明写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柳而暗写风</a:t>
            </a:r>
            <a:r>
              <a:rPr lang="zh-CN" altLang="en-US" sz="2000" dirty="0">
                <a:latin typeface="楷体" panose="02010609060101010101" pitchFamily="49" charset="-122"/>
                <a:ea typeface="楷体" panose="02010609060101010101" pitchFamily="49" charset="-122"/>
                <a:cs typeface="楷体" panose="02010609060101010101" pitchFamily="49" charset="-122"/>
              </a:rPr>
              <a:t>。柳与花从景上</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相合</a:t>
            </a:r>
            <a:r>
              <a:rPr lang="zh-CN" altLang="en-US" sz="2000" dirty="0">
                <a:latin typeface="楷体" panose="02010609060101010101" pitchFamily="49" charset="-122"/>
                <a:ea typeface="楷体" panose="02010609060101010101" pitchFamily="49" charset="-122"/>
                <a:cs typeface="楷体" panose="02010609060101010101" pitchFamily="49" charset="-122"/>
              </a:rPr>
              <a:t>，一“飞”一“斜”，</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前后勾连</a:t>
            </a:r>
            <a:r>
              <a:rPr lang="zh-CN" altLang="en-US" sz="2000" dirty="0">
                <a:latin typeface="楷体" panose="02010609060101010101" pitchFamily="49" charset="-122"/>
                <a:ea typeface="楷体" panose="02010609060101010101" pitchFamily="49" charset="-122"/>
                <a:cs typeface="楷体" panose="02010609060101010101" pitchFamily="49" charset="-122"/>
              </a:rPr>
              <a:t>，形神俱在，意境顿出。按当时的风俗，寒食日要折柳插门，柳与后句写皇宫赐火，从</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习俗上又暗合</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韩翃</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春城无处不飞花，</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寒食东风御柳斜。</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日暮汉宫传蜡烛，</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轻烟散入五侯家。</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305175" y="195580"/>
            <a:ext cx="5697855" cy="5880100"/>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后两句写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夜晚</a:t>
            </a:r>
            <a:r>
              <a:rPr lang="zh-CN" altLang="en-US" sz="2000" dirty="0">
                <a:latin typeface="楷体" panose="02010609060101010101" pitchFamily="49" charset="-122"/>
                <a:ea typeface="楷体" panose="02010609060101010101" pitchFamily="49" charset="-122"/>
                <a:cs typeface="楷体" panose="02010609060101010101" pitchFamily="49" charset="-122"/>
              </a:rPr>
              <a:t>景象，生动地画出一幅</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夜晚走马传烛</a:t>
            </a:r>
            <a:r>
              <a:rPr lang="zh-CN" altLang="en-US" sz="2000" dirty="0">
                <a:latin typeface="楷体" panose="02010609060101010101" pitchFamily="49" charset="-122"/>
                <a:ea typeface="楷体" panose="02010609060101010101" pitchFamily="49" charset="-122"/>
                <a:cs typeface="楷体" panose="02010609060101010101" pitchFamily="49" charset="-122"/>
              </a:rPr>
              <a:t>图，使人如见蜡烛之光，如闻轻烟之味。</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汉宫”，</a:t>
            </a:r>
            <a:r>
              <a:rPr lang="zh-CN" altLang="en-US" sz="2000" dirty="0">
                <a:ln w="0"/>
                <a:solidFill>
                  <a:srgbClr val="FF0000"/>
                </a:solidFill>
                <a:effectLst/>
                <a:latin typeface="楷体" panose="02010609060101010101" pitchFamily="49" charset="-122"/>
                <a:ea typeface="楷体" panose="02010609060101010101" pitchFamily="49" charset="-122"/>
                <a:cs typeface="楷体" panose="02010609060101010101" pitchFamily="49" charset="-122"/>
                <a:sym typeface="+mn-ea"/>
              </a:rPr>
              <a:t>实写唐朝宫廷</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。皇帝向王侯贵戚们赐新火，用</a:t>
            </a:r>
            <a:r>
              <a:rPr lang="zh-CN" altLang="en-US" sz="2000" dirty="0">
                <a:ln w="0"/>
                <a:solidFill>
                  <a:srgbClr val="FF0000"/>
                </a:solidFill>
                <a:effectLst/>
                <a:latin typeface="楷体" panose="02010609060101010101" pitchFamily="49" charset="-122"/>
                <a:ea typeface="楷体" panose="02010609060101010101" pitchFamily="49" charset="-122"/>
                <a:cs typeface="楷体" panose="02010609060101010101" pitchFamily="49" charset="-122"/>
                <a:sym typeface="+mn-ea"/>
              </a:rPr>
              <a:t>“传”</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字，既是</a:t>
            </a:r>
            <a:r>
              <a:rPr lang="zh-CN" altLang="en-US" sz="2000" dirty="0">
                <a:ln w="0"/>
                <a:solidFill>
                  <a:srgbClr val="FF0000"/>
                </a:solidFill>
                <a:effectLst/>
                <a:latin typeface="楷体" panose="02010609060101010101" pitchFamily="49" charset="-122"/>
                <a:ea typeface="楷体" panose="02010609060101010101" pitchFamily="49" charset="-122"/>
                <a:cs typeface="楷体" panose="02010609060101010101" pitchFamily="49" charset="-122"/>
                <a:sym typeface="+mn-ea"/>
              </a:rPr>
              <a:t>形象的动态描绘，又意味着依照等级次序，逐一分赐，封建制度下森严的等级次第昭然在目</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a:t>
            </a:r>
            <a:endPar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endParaRPr>
          </a:p>
          <a:p>
            <a:pPr>
              <a:lnSpc>
                <a:spcPct val="110000"/>
              </a:lnSpc>
            </a:pP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 </a:t>
            </a:r>
            <a:r>
              <a:rPr lang="en-US" altLang="zh-CN"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   </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“轻烟散入五侯家”，袅袅轻烟在王侯贵戚的府第飘散开，喻示着</a:t>
            </a:r>
            <a:r>
              <a:rPr lang="zh-CN" altLang="en-US" sz="2000" dirty="0">
                <a:ln w="0"/>
                <a:solidFill>
                  <a:srgbClr val="FF0000"/>
                </a:solidFill>
                <a:effectLst/>
                <a:latin typeface="楷体" panose="02010609060101010101" pitchFamily="49" charset="-122"/>
                <a:ea typeface="楷体" panose="02010609060101010101" pitchFamily="49" charset="-122"/>
                <a:cs typeface="楷体" panose="02010609060101010101" pitchFamily="49" charset="-122"/>
                <a:sym typeface="+mn-ea"/>
              </a:rPr>
              <a:t>王侯近臣们得到了皇帝的恩宠</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，其府第与皇宫一样灯火通明起来，表现出</a:t>
            </a:r>
            <a:r>
              <a:rPr lang="zh-CN" altLang="en-US" sz="2000" dirty="0">
                <a:ln w="0"/>
                <a:solidFill>
                  <a:srgbClr val="FF0000"/>
                </a:solidFill>
                <a:effectLst/>
                <a:latin typeface="楷体" panose="02010609060101010101" pitchFamily="49" charset="-122"/>
                <a:ea typeface="楷体" panose="02010609060101010101" pitchFamily="49" charset="-122"/>
                <a:cs typeface="楷体" panose="02010609060101010101" pitchFamily="49" charset="-122"/>
                <a:sym typeface="+mn-ea"/>
              </a:rPr>
              <a:t>一派承平</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气象。“五侯”泛指权贵豪门。寒食节禁火，而宫中传烛分新火于五侯之家，</a:t>
            </a:r>
            <a:r>
              <a:rPr lang="zh-CN" altLang="en-US" sz="2000" dirty="0">
                <a:ln w="0"/>
                <a:solidFill>
                  <a:srgbClr val="FF0000"/>
                </a:solidFill>
                <a:effectLst/>
                <a:latin typeface="楷体" panose="02010609060101010101" pitchFamily="49" charset="-122"/>
                <a:ea typeface="楷体" panose="02010609060101010101" pitchFamily="49" charset="-122"/>
                <a:cs typeface="楷体" panose="02010609060101010101" pitchFamily="49" charset="-122"/>
                <a:sym typeface="+mn-ea"/>
              </a:rPr>
              <a:t>贵宠可见</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a:t>
            </a:r>
            <a:endPar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endParaRPr>
          </a:p>
          <a:p>
            <a:pPr>
              <a:lnSpc>
                <a:spcPct val="110000"/>
              </a:lnSpc>
            </a:pPr>
            <a:r>
              <a:rPr lang="en-US" altLang="zh-CN"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   </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主旨存</a:t>
            </a:r>
            <a:r>
              <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rPr>
              <a:t>争议：或是感受到对富丽春景的歌咏，对承平气象的称颂;或是感受到对权贵豪门的讥讽，对贫寒人家的怜悯;或是感受到士人失意的怅惘。</a:t>
            </a:r>
            <a:endPar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endParaRPr>
          </a:p>
          <a:p>
            <a:pPr>
              <a:lnSpc>
                <a:spcPct val="110000"/>
              </a:lnSpc>
            </a:pPr>
            <a:endParaRPr lang="zh-CN" altLang="en-US" sz="2000" dirty="0">
              <a:ln w="0"/>
              <a:solidFill>
                <a:srgbClr val="000000"/>
              </a:solidFill>
              <a:effectLst/>
              <a:latin typeface="楷体" panose="02010609060101010101" pitchFamily="49" charset="-122"/>
              <a:ea typeface="楷体" panose="02010609060101010101" pitchFamily="49" charset="-122"/>
              <a:cs typeface="楷体" panose="02010609060101010101" pitchFamily="49" charset="-122"/>
              <a:sym typeface="+mn-ea"/>
            </a:endParaRPr>
          </a:p>
          <a:p>
            <a:pPr>
              <a:lnSpc>
                <a:spcPct val="110000"/>
              </a:lnSpc>
            </a:pP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韩翃</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春城无处不飞花，</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寒食东风御柳斜。</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日暮汉宫传蜡烛，</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轻烟散入五侯家。</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十五夜望月</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王建</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中庭地白树栖鸦，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冷露无声湿桂花。</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今夜月明人尽望，</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不知秋思落谁家。</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8" name="文本框 7"/>
          <p:cNvSpPr txBox="1"/>
          <p:nvPr/>
        </p:nvSpPr>
        <p:spPr>
          <a:xfrm>
            <a:off x="4139565" y="1145540"/>
            <a:ext cx="4768850" cy="2491740"/>
          </a:xfrm>
          <a:prstGeom prst="rect">
            <a:avLst/>
          </a:prstGeom>
          <a:noFill/>
        </p:spPr>
        <p:txBody>
          <a:bodyPr wrap="square" rtlCol="0">
            <a:spAutoFit/>
          </a:bodyPr>
          <a:lstStyle/>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中庭地白：月光照在庭院的地上，像铺了一层白霜。中庭，即庭中，庭院中。</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栖：歇，休息。</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冷露：秋天清冷的露水。</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尽：都。</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落：在，到。</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10" name="文本框 9"/>
          <p:cNvSpPr txBox="1"/>
          <p:nvPr/>
        </p:nvSpPr>
        <p:spPr>
          <a:xfrm>
            <a:off x="3851910" y="267335"/>
            <a:ext cx="5008245" cy="902970"/>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solidFill>
                  <a:srgbClr val="FF0000"/>
                </a:solidFill>
                <a:latin typeface="华文新魏" panose="02010800040101010101" pitchFamily="2" charset="-122"/>
                <a:ea typeface="华文新魏" panose="02010800040101010101" pitchFamily="2" charset="-122"/>
              </a:rPr>
              <a:t>王建</a:t>
            </a:r>
            <a:r>
              <a:rPr lang="zh-CN" altLang="en-US" sz="2200" dirty="0">
                <a:latin typeface="华文新魏" panose="02010800040101010101" pitchFamily="2" charset="-122"/>
                <a:ea typeface="华文新魏" panose="02010800040101010101" pitchFamily="2" charset="-122"/>
              </a:rPr>
              <a:t>，字</a:t>
            </a:r>
            <a:r>
              <a:rPr lang="zh-CN" altLang="en-US" sz="2200" dirty="0">
                <a:solidFill>
                  <a:srgbClr val="FF0000"/>
                </a:solidFill>
                <a:latin typeface="华文新魏" panose="02010800040101010101" pitchFamily="2" charset="-122"/>
                <a:ea typeface="华文新魏" panose="02010800040101010101" pitchFamily="2" charset="-122"/>
              </a:rPr>
              <a:t>仲初</a:t>
            </a:r>
            <a:r>
              <a:rPr lang="zh-CN" altLang="en-US" sz="2200" dirty="0">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唐代</a:t>
            </a:r>
            <a:r>
              <a:rPr lang="zh-CN" altLang="en-US" sz="2200" dirty="0">
                <a:latin typeface="华文新魏" panose="02010800040101010101" pitchFamily="2" charset="-122"/>
                <a:ea typeface="华文新魏" panose="02010800040101010101" pitchFamily="2" charset="-122"/>
              </a:rPr>
              <a:t>诗人。体裁为</a:t>
            </a:r>
            <a:r>
              <a:rPr lang="zh-CN" altLang="en-US" sz="2200" dirty="0">
                <a:solidFill>
                  <a:srgbClr val="FF0000"/>
                </a:solidFill>
                <a:latin typeface="华文新魏" panose="02010800040101010101" pitchFamily="2" charset="-122"/>
                <a:ea typeface="华文新魏" panose="02010800040101010101" pitchFamily="2" charset="-122"/>
              </a:rPr>
              <a:t>七言绝句</a:t>
            </a:r>
            <a:r>
              <a:rPr lang="zh-CN" altLang="en-US" sz="2200" dirty="0">
                <a:latin typeface="华文新魏" panose="02010800040101010101" pitchFamily="2" charset="-122"/>
                <a:ea typeface="华文新魏" panose="02010800040101010101" pitchFamily="2" charset="-122"/>
              </a:rPr>
              <a:t>。</a:t>
            </a:r>
            <a:endParaRPr lang="zh-CN" altLang="en-US" sz="2200" dirty="0">
              <a:latin typeface="华文新魏" panose="02010800040101010101" pitchFamily="2" charset="-122"/>
              <a:ea typeface="华文新魏" panose="02010800040101010101" pitchFamily="2" charset="-122"/>
            </a:endParaRPr>
          </a:p>
        </p:txBody>
      </p:sp>
      <p:sp>
        <p:nvSpPr>
          <p:cNvPr id="3" name="文本框 2"/>
          <p:cNvSpPr txBox="1"/>
          <p:nvPr/>
        </p:nvSpPr>
        <p:spPr>
          <a:xfrm>
            <a:off x="3851910" y="3724275"/>
            <a:ext cx="5008245" cy="1308735"/>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《十五夜望月》诗人通过表达</a:t>
            </a:r>
            <a:r>
              <a:rPr lang="zh-CN" altLang="en-US" sz="2200" dirty="0">
                <a:solidFill>
                  <a:srgbClr val="FF0000"/>
                </a:solidFill>
                <a:latin typeface="华文新魏" panose="02010800040101010101" pitchFamily="2" charset="-122"/>
                <a:ea typeface="华文新魏" panose="02010800040101010101" pitchFamily="2" charset="-122"/>
              </a:rPr>
              <a:t>自己于寂寥清冷的中秋之夜在庭院中仰望明月</a:t>
            </a:r>
            <a:r>
              <a:rPr lang="zh-CN" altLang="en-US" sz="2200" dirty="0">
                <a:latin typeface="华文新魏" panose="02010800040101010101" pitchFamily="2" charset="-122"/>
                <a:ea typeface="华文新魏" panose="02010800040101010101" pitchFamily="2" charset="-122"/>
              </a:rPr>
              <a:t>的情景，表达了诗人</a:t>
            </a:r>
            <a:r>
              <a:rPr lang="zh-CN" altLang="en-US" sz="2200" dirty="0">
                <a:solidFill>
                  <a:srgbClr val="FF0000"/>
                </a:solidFill>
                <a:latin typeface="华文新魏" panose="02010800040101010101" pitchFamily="2" charset="-122"/>
                <a:ea typeface="华文新魏" panose="02010800040101010101" pitchFamily="2" charset="-122"/>
              </a:rPr>
              <a:t>入骨的相思</a:t>
            </a:r>
            <a:r>
              <a:rPr lang="zh-CN" altLang="en-US" sz="2200" dirty="0">
                <a:latin typeface="华文新魏" panose="02010800040101010101" pitchFamily="2" charset="-122"/>
                <a:ea typeface="华文新魏" panose="02010800040101010101" pitchFamily="2" charset="-122"/>
              </a:rPr>
              <a:t>之情。</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491865" y="339725"/>
            <a:ext cx="5330825" cy="4187190"/>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前两句写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中秋月色</a:t>
            </a:r>
            <a:r>
              <a:rPr lang="zh-CN" altLang="en-US" sz="2000" dirty="0">
                <a:latin typeface="楷体" panose="02010609060101010101" pitchFamily="49" charset="-122"/>
                <a:ea typeface="楷体" panose="02010609060101010101" pitchFamily="49" charset="-122"/>
                <a:cs typeface="楷体" panose="02010609060101010101" pitchFamily="49" charset="-122"/>
              </a:rPr>
              <a:t>。用“中庭地白”“栖鸦”“冷露”“桂花”几种意象，组成了一幅</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寂寥、冷清、沉静的中秋之夜</a:t>
            </a:r>
            <a:r>
              <a:rPr lang="zh-CN" altLang="en-US" sz="2000" dirty="0">
                <a:latin typeface="楷体" panose="02010609060101010101" pitchFamily="49" charset="-122"/>
                <a:ea typeface="楷体" panose="02010609060101010101" pitchFamily="49" charset="-122"/>
                <a:cs typeface="楷体" panose="02010609060101010101" pitchFamily="49" charset="-122"/>
              </a:rPr>
              <a:t>的图画，营造出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清冷澄静、素洁悠远</a:t>
            </a:r>
            <a:r>
              <a:rPr lang="zh-CN" altLang="en-US" sz="2000" dirty="0">
                <a:latin typeface="楷体" panose="02010609060101010101" pitchFamily="49" charset="-122"/>
                <a:ea typeface="楷体" panose="02010609060101010101" pitchFamily="49" charset="-122"/>
                <a:cs typeface="楷体" panose="02010609060101010101" pitchFamily="49" charset="-122"/>
              </a:rPr>
              <a:t>的意境。同时用寒意、清冷烘托诗人寂寞凄清的心理。</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“中庭地白”，让人想象月光将清辉洒向庭院，给人以</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澄静素洁</a:t>
            </a:r>
            <a:r>
              <a:rPr lang="zh-CN" altLang="en-US" sz="2000" dirty="0">
                <a:latin typeface="楷体" panose="02010609060101010101" pitchFamily="49" charset="-122"/>
                <a:ea typeface="楷体" panose="02010609060101010101" pitchFamily="49" charset="-122"/>
                <a:cs typeface="楷体" panose="02010609060101010101" pitchFamily="49" charset="-122"/>
              </a:rPr>
              <a:t>之感。“树栖鸦”，突出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寒鸦肃穆</a:t>
            </a:r>
            <a:r>
              <a:rPr lang="zh-CN" altLang="en-US"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反衬</a:t>
            </a:r>
            <a:r>
              <a:rPr lang="zh-CN" altLang="en-US" sz="2000" dirty="0">
                <a:latin typeface="楷体" panose="02010609060101010101" pitchFamily="49" charset="-122"/>
                <a:ea typeface="楷体" panose="02010609060101010101" pitchFamily="49" charset="-122"/>
                <a:cs typeface="楷体" panose="02010609060101010101" pitchFamily="49" charset="-122"/>
              </a:rPr>
              <a:t>出月夜的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冷清寂寥</a:t>
            </a:r>
            <a:r>
              <a:rPr lang="zh-CN" altLang="en-US" sz="2000" dirty="0">
                <a:latin typeface="楷体" panose="02010609060101010101" pitchFamily="49" charset="-122"/>
                <a:ea typeface="楷体" panose="02010609060101010101" pitchFamily="49" charset="-122"/>
                <a:cs typeface="楷体" panose="02010609060101010101" pitchFamily="49" charset="-122"/>
              </a:rPr>
              <a:t>。“桂花”点出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中秋</a:t>
            </a:r>
            <a:r>
              <a:rPr lang="zh-CN" altLang="en-US" sz="2000" dirty="0">
                <a:latin typeface="楷体" panose="02010609060101010101" pitchFamily="49" charset="-122"/>
                <a:ea typeface="楷体" panose="02010609060101010101" pitchFamily="49" charset="-122"/>
                <a:cs typeface="楷体" panose="02010609060101010101" pitchFamily="49" charset="-122"/>
              </a:rPr>
              <a:t>之夜，“冷露”“无声”，更显诗人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凝神良久</a:t>
            </a:r>
            <a:r>
              <a:rPr lang="zh-CN" altLang="en-US" sz="2000" dirty="0">
                <a:latin typeface="楷体" panose="02010609060101010101" pitchFamily="49" charset="-122"/>
                <a:ea typeface="楷体" panose="02010609060101010101" pitchFamily="49" charset="-122"/>
                <a:cs typeface="楷体" panose="02010609060101010101" pitchFamily="49" charset="-122"/>
              </a:rPr>
              <a:t>，这两句无“月”，却处处可见</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月夜之清幽冷寂</a:t>
            </a:r>
            <a:r>
              <a:rPr lang="zh-CN" altLang="en-US" sz="2000" dirty="0">
                <a:latin typeface="楷体" panose="02010609060101010101" pitchFamily="49" charset="-122"/>
                <a:ea typeface="楷体" panose="02010609060101010101" pitchFamily="49" charset="-122"/>
                <a:cs typeface="楷体" panose="02010609060101010101" pitchFamily="49" charset="-122"/>
              </a:rPr>
              <a:t>;无“人”，却处处可感</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人物之情态思绪</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十五夜望月</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王建</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中庭地白树栖鸦，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冷露无声湿桂花。</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今夜月明人尽望，</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不知秋思落谁家。</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420110" y="843280"/>
            <a:ext cx="5330825" cy="3171825"/>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后两句直接抒写</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望月怀人</a:t>
            </a:r>
            <a:r>
              <a:rPr lang="zh-CN" altLang="en-US" sz="2000" dirty="0">
                <a:latin typeface="楷体" panose="02010609060101010101" pitchFamily="49" charset="-122"/>
                <a:ea typeface="楷体" panose="02010609060101010101" pitchFamily="49" charset="-122"/>
                <a:cs typeface="楷体" panose="02010609060101010101" pitchFamily="49" charset="-122"/>
              </a:rPr>
              <a:t>的情思。“今夜月明人尽望”，诗人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直言望月，推已及人</a:t>
            </a:r>
            <a:r>
              <a:rPr lang="zh-CN" altLang="en-US" sz="2000" dirty="0">
                <a:latin typeface="楷体" panose="02010609060101010101" pitchFamily="49" charset="-122"/>
                <a:ea typeface="楷体" panose="02010609060101010101" pitchFamily="49" charset="-122"/>
                <a:cs typeface="楷体" panose="02010609060101010101" pitchFamily="49" charset="-122"/>
              </a:rPr>
              <a:t>，由自己的孤独想到了天下人的孤独，由自己的怀人之心想到了天下人的怀人之情，营造出一种</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深远、阔大</a:t>
            </a:r>
            <a:r>
              <a:rPr lang="zh-CN" altLang="en-US" sz="2000" dirty="0">
                <a:latin typeface="楷体" panose="02010609060101010101" pitchFamily="49" charset="-122"/>
                <a:ea typeface="楷体" panose="02010609060101010101" pitchFamily="49" charset="-122"/>
                <a:cs typeface="楷体" panose="02010609060101010101" pitchFamily="49" charset="-122"/>
              </a:rPr>
              <a:t>的意境。用“不知”起笔，委婉一问，强化了诗歌的感染力，不直写诗人的望月之情、怀人之心，而是</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反写秋思之“落”</a:t>
            </a:r>
            <a:r>
              <a:rPr lang="zh-CN" altLang="en-US" sz="2000" dirty="0">
                <a:latin typeface="楷体" panose="02010609060101010101" pitchFamily="49" charset="-122"/>
                <a:ea typeface="楷体" panose="02010609060101010101" pitchFamily="49" charset="-122"/>
                <a:cs typeface="楷体" panose="02010609060101010101" pitchFamily="49" charset="-122"/>
              </a:rPr>
              <a:t>，无形的秋思化作</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有形的重物</a:t>
            </a:r>
            <a:r>
              <a:rPr lang="zh-CN" altLang="en-US" sz="2000" dirty="0">
                <a:latin typeface="楷体" panose="02010609060101010101" pitchFamily="49" charset="-122"/>
                <a:ea typeface="楷体" panose="02010609060101010101" pitchFamily="49" charset="-122"/>
                <a:cs typeface="楷体" panose="02010609060101010101" pitchFamily="49" charset="-122"/>
              </a:rPr>
              <a:t>，凸显秋思的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深沉、凝重</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十五夜望月</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王建</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中庭地白树栖鸦，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冷露无声湿桂花。</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今夜月明人尽望，</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不知秋思落谁家。</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348355" y="1563370"/>
            <a:ext cx="5330825" cy="2449830"/>
          </a:xfrm>
          <a:prstGeom prst="rect">
            <a:avLst/>
          </a:prstGeom>
          <a:noFill/>
        </p:spPr>
        <p:txBody>
          <a:bodyPr wrap="square" rtlCol="0">
            <a:no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这首诗前两句写景，营造出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清冷幽寂</a:t>
            </a:r>
            <a:r>
              <a:rPr lang="zh-CN" altLang="en-US" sz="2000" dirty="0">
                <a:latin typeface="楷体" panose="02010609060101010101" pitchFamily="49" charset="-122"/>
                <a:ea typeface="楷体" panose="02010609060101010101" pitchFamily="49" charset="-122"/>
                <a:cs typeface="楷体" panose="02010609060101010101" pitchFamily="49" charset="-122"/>
              </a:rPr>
              <a:t>之境，为抒情蓄势；后两句</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抒情</a:t>
            </a:r>
            <a:r>
              <a:rPr lang="zh-CN" altLang="en-US" sz="2000" dirty="0">
                <a:latin typeface="楷体" panose="02010609060101010101" pitchFamily="49" charset="-122"/>
                <a:ea typeface="楷体" panose="02010609060101010101" pitchFamily="49" charset="-122"/>
                <a:cs typeface="楷体" panose="02010609060101010101" pitchFamily="49" charset="-122"/>
              </a:rPr>
              <a:t>，先</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由己及人，由自我推广到普天之下</a:t>
            </a:r>
            <a:r>
              <a:rPr lang="zh-CN" altLang="en-US" sz="2000" dirty="0">
                <a:latin typeface="楷体" panose="02010609060101010101" pitchFamily="49" charset="-122"/>
                <a:ea typeface="楷体" panose="02010609060101010101" pitchFamily="49" charset="-122"/>
                <a:cs typeface="楷体" panose="02010609060101010101" pitchFamily="49" charset="-122"/>
              </a:rPr>
              <a:t>，诗境开阔而悠远，又用一个</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疑问</a:t>
            </a:r>
            <a:r>
              <a:rPr lang="zh-CN" altLang="en-US" sz="2000" dirty="0">
                <a:latin typeface="楷体" panose="02010609060101010101" pitchFamily="49" charset="-122"/>
                <a:ea typeface="楷体" panose="02010609060101010101" pitchFamily="49" charset="-122"/>
                <a:cs typeface="楷体" panose="02010609060101010101" pitchFamily="49" charset="-122"/>
              </a:rPr>
              <a:t>，将情感推向高潮，</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深沉的秋思</a:t>
            </a:r>
            <a:r>
              <a:rPr lang="zh-CN" altLang="en-US" sz="2000" dirty="0">
                <a:latin typeface="楷体" panose="02010609060101010101" pitchFamily="49" charset="-122"/>
                <a:ea typeface="楷体" panose="02010609060101010101" pitchFamily="49" charset="-122"/>
                <a:cs typeface="楷体" panose="02010609060101010101" pitchFamily="49" charset="-122"/>
              </a:rPr>
              <a:t>铺天盖地而来，不知落入谁处，实则表现诗人的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秋思最为深沉、凝重</a:t>
            </a:r>
            <a:r>
              <a:rPr lang="zh-CN" altLang="en-US" sz="2000" dirty="0">
                <a:latin typeface="楷体" panose="02010609060101010101" pitchFamily="49" charset="-122"/>
                <a:ea typeface="楷体" panose="02010609060101010101" pitchFamily="49" charset="-122"/>
                <a:cs typeface="楷体" panose="02010609060101010101" pitchFamily="49" charset="-122"/>
              </a:rPr>
              <a:t>。这首诗</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景中含情, 情由景生</a:t>
            </a:r>
            <a:r>
              <a:rPr lang="zh-CN" altLang="en-US" sz="2000" dirty="0">
                <a:latin typeface="楷体" panose="02010609060101010101" pitchFamily="49" charset="-122"/>
                <a:ea typeface="楷体" panose="02010609060101010101" pitchFamily="49" charset="-122"/>
                <a:cs typeface="楷体" panose="02010609060101010101" pitchFamily="49" charset="-122"/>
              </a:rPr>
              <a:t>，含蓄蕴藉，韵味悠长。</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十五夜望月</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王建</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中庭地白树栖鸦，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冷露无声湿桂花。</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今夜月明人尽望，</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不知秋思落谁家。</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马诗</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李贺</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大漠沙如雪，</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燕山月似钩。</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何当金络脑，</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快走踏清秋。</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8" name="文本框 7"/>
          <p:cNvSpPr txBox="1"/>
          <p:nvPr/>
        </p:nvSpPr>
        <p:spPr>
          <a:xfrm>
            <a:off x="4139565" y="1275715"/>
            <a:ext cx="4768850" cy="2091690"/>
          </a:xfrm>
          <a:prstGeom prst="rect">
            <a:avLst/>
          </a:prstGeom>
          <a:noFill/>
        </p:spPr>
        <p:txBody>
          <a:bodyPr wrap="square" rtlCol="0">
            <a:spAutoFit/>
          </a:bodyPr>
          <a:lstStyle/>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燕山：指燕然山；这里借指边塞。</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钩：古代的一种兵器，形似月牙。</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何当：何日，何时。</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金络脑：用黄金装饰的马笼头。这里指戴上金络脑。</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10" name="文本框 9"/>
          <p:cNvSpPr txBox="1"/>
          <p:nvPr/>
        </p:nvSpPr>
        <p:spPr>
          <a:xfrm>
            <a:off x="3924300" y="195580"/>
            <a:ext cx="5008245" cy="902970"/>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solidFill>
                  <a:srgbClr val="FF0000"/>
                </a:solidFill>
                <a:latin typeface="华文新魏" panose="02010800040101010101" pitchFamily="2" charset="-122"/>
                <a:ea typeface="华文新魏" panose="02010800040101010101" pitchFamily="2" charset="-122"/>
              </a:rPr>
              <a:t>李贺</a:t>
            </a:r>
            <a:r>
              <a:rPr lang="zh-CN" altLang="en-US" sz="2200" dirty="0">
                <a:latin typeface="华文新魏" panose="02010800040101010101" pitchFamily="2" charset="-122"/>
                <a:ea typeface="华文新魏" panose="02010800040101010101" pitchFamily="2" charset="-122"/>
              </a:rPr>
              <a:t>，字</a:t>
            </a:r>
            <a:r>
              <a:rPr lang="zh-CN" altLang="en-US" sz="2200" dirty="0">
                <a:solidFill>
                  <a:srgbClr val="FF0000"/>
                </a:solidFill>
                <a:latin typeface="华文新魏" panose="02010800040101010101" pitchFamily="2" charset="-122"/>
                <a:ea typeface="华文新魏" panose="02010800040101010101" pitchFamily="2" charset="-122"/>
              </a:rPr>
              <a:t>长吉</a:t>
            </a:r>
            <a:r>
              <a:rPr lang="zh-CN" altLang="en-US" sz="2200" dirty="0">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唐代</a:t>
            </a:r>
            <a:r>
              <a:rPr lang="zh-CN" altLang="en-US" sz="2200" dirty="0">
                <a:latin typeface="华文新魏" panose="02010800040101010101" pitchFamily="2" charset="-122"/>
                <a:ea typeface="华文新魏" panose="02010800040101010101" pitchFamily="2" charset="-122"/>
              </a:rPr>
              <a:t>诗人。人称</a:t>
            </a:r>
            <a:r>
              <a:rPr lang="zh-CN" altLang="en-US" sz="2200" dirty="0">
                <a:solidFill>
                  <a:srgbClr val="FF0000"/>
                </a:solidFill>
                <a:latin typeface="华文新魏" panose="02010800040101010101" pitchFamily="2" charset="-122"/>
                <a:ea typeface="华文新魏" panose="02010800040101010101" pitchFamily="2" charset="-122"/>
              </a:rPr>
              <a:t>“诗鬼”</a:t>
            </a:r>
            <a:r>
              <a:rPr lang="zh-CN" altLang="en-US" sz="2200" dirty="0">
                <a:latin typeface="华文新魏" panose="02010800040101010101" pitchFamily="2" charset="-122"/>
                <a:ea typeface="华文新魏" panose="02010800040101010101" pitchFamily="2" charset="-122"/>
              </a:rPr>
              <a:t>。体裁为</a:t>
            </a:r>
            <a:r>
              <a:rPr lang="zh-CN" altLang="en-US" sz="2200" dirty="0">
                <a:solidFill>
                  <a:srgbClr val="FF0000"/>
                </a:solidFill>
                <a:latin typeface="华文新魏" panose="02010800040101010101" pitchFamily="2" charset="-122"/>
                <a:ea typeface="华文新魏" panose="02010800040101010101" pitchFamily="2" charset="-122"/>
              </a:rPr>
              <a:t>五言绝句</a:t>
            </a:r>
            <a:r>
              <a:rPr lang="zh-CN" altLang="en-US" sz="2200" dirty="0">
                <a:latin typeface="华文新魏" panose="02010800040101010101" pitchFamily="2" charset="-122"/>
                <a:ea typeface="华文新魏" panose="02010800040101010101" pitchFamily="2" charset="-122"/>
              </a:rPr>
              <a:t>。</a:t>
            </a:r>
            <a:endParaRPr lang="zh-CN" altLang="en-US" sz="2200" dirty="0">
              <a:latin typeface="华文新魏" panose="02010800040101010101" pitchFamily="2" charset="-122"/>
              <a:ea typeface="华文新魏" panose="02010800040101010101" pitchFamily="2" charset="-122"/>
            </a:endParaRPr>
          </a:p>
        </p:txBody>
      </p:sp>
      <p:sp>
        <p:nvSpPr>
          <p:cNvPr id="3" name="文本框 2"/>
          <p:cNvSpPr txBox="1"/>
          <p:nvPr/>
        </p:nvSpPr>
        <p:spPr>
          <a:xfrm>
            <a:off x="3900170" y="3429000"/>
            <a:ext cx="5008245" cy="1714500"/>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《马诗》名为</a:t>
            </a:r>
            <a:r>
              <a:rPr lang="zh-CN" altLang="en-US" sz="2200" dirty="0">
                <a:solidFill>
                  <a:srgbClr val="FF0000"/>
                </a:solidFill>
                <a:latin typeface="华文新魏" panose="02010800040101010101" pitchFamily="2" charset="-122"/>
                <a:ea typeface="华文新魏" panose="02010800040101010101" pitchFamily="2" charset="-122"/>
              </a:rPr>
              <a:t>咏马</a:t>
            </a:r>
            <a:r>
              <a:rPr lang="zh-CN" altLang="en-US" sz="2200" dirty="0">
                <a:latin typeface="华文新魏" panose="02010800040101010101" pitchFamily="2" charset="-122"/>
                <a:ea typeface="华文新魏" panose="02010800040101010101" pitchFamily="2" charset="-122"/>
              </a:rPr>
              <a:t>，实际上是</a:t>
            </a:r>
            <a:r>
              <a:rPr lang="zh-CN" altLang="en-US" sz="2200" dirty="0">
                <a:solidFill>
                  <a:srgbClr val="FF0000"/>
                </a:solidFill>
                <a:latin typeface="华文新魏" panose="02010800040101010101" pitchFamily="2" charset="-122"/>
                <a:ea typeface="华文新魏" panose="02010800040101010101" pitchFamily="2" charset="-122"/>
              </a:rPr>
              <a:t>借物抒怀</a:t>
            </a:r>
            <a:r>
              <a:rPr lang="zh-CN" altLang="en-US" sz="2200" dirty="0">
                <a:latin typeface="华文新魏" panose="02010800040101010101" pitchFamily="2" charset="-122"/>
                <a:ea typeface="华文新魏" panose="02010800040101010101" pitchFamily="2" charset="-122"/>
              </a:rPr>
              <a:t>，诗人在</a:t>
            </a:r>
            <a:r>
              <a:rPr lang="zh-CN" altLang="en-US" sz="2200" dirty="0">
                <a:solidFill>
                  <a:srgbClr val="FF0000"/>
                </a:solidFill>
                <a:latin typeface="华文新魏" panose="02010800040101010101" pitchFamily="2" charset="-122"/>
                <a:ea typeface="华文新魏" panose="02010800040101010101" pitchFamily="2" charset="-122"/>
              </a:rPr>
              <a:t>借助马抒发自己怀才不遇的感叹和愤慨，以及渴望得到重用，渴望建功立业的抱负和愿望</a:t>
            </a:r>
            <a:r>
              <a:rPr lang="zh-CN" altLang="en-US" sz="2200" dirty="0">
                <a:latin typeface="华文新魏" panose="02010800040101010101" pitchFamily="2" charset="-122"/>
                <a:ea typeface="华文新魏" panose="02010800040101010101" pitchFamily="2" charset="-122"/>
              </a:rPr>
              <a:t>。</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2527300" y="123825"/>
            <a:ext cx="6306820" cy="4838065"/>
          </a:xfrm>
          <a:prstGeom prst="rect">
            <a:avLst/>
          </a:prstGeom>
          <a:noFill/>
        </p:spPr>
        <p:txBody>
          <a:bodyPr wrap="square" rtlCol="0">
            <a:no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前两句描绘出一幅富有特色的边</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疆战场景色</a:t>
            </a:r>
            <a:r>
              <a:rPr lang="zh-CN" altLang="en-US" sz="2000" dirty="0">
                <a:latin typeface="楷体" panose="02010609060101010101" pitchFamily="49" charset="-122"/>
                <a:ea typeface="楷体" panose="02010609060101010101" pitchFamily="49" charset="-122"/>
                <a:cs typeface="楷体" panose="02010609060101010101" pitchFamily="49" charset="-122"/>
              </a:rPr>
              <a:t>，“大漠”与“燕山”，前者</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空旷荒凉</a:t>
            </a:r>
            <a:r>
              <a:rPr lang="zh-CN" altLang="en-US" sz="2000" dirty="0">
                <a:latin typeface="楷体" panose="02010609060101010101" pitchFamily="49" charset="-122"/>
                <a:ea typeface="楷体" panose="02010609060101010101" pitchFamily="49" charset="-122"/>
                <a:cs typeface="楷体" panose="02010609060101010101" pitchFamily="49" charset="-122"/>
              </a:rPr>
              <a:t>，后者</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高拔险峻</a:t>
            </a:r>
            <a:r>
              <a:rPr lang="zh-CN" altLang="en-US" sz="2000" dirty="0">
                <a:latin typeface="楷体" panose="02010609060101010101" pitchFamily="49" charset="-122"/>
                <a:ea typeface="楷体" panose="02010609060101010101" pitchFamily="49" charset="-122"/>
                <a:cs typeface="楷体" panose="02010609060101010101" pitchFamily="49" charset="-122"/>
              </a:rPr>
              <a:t>。“沙如雪”和</a:t>
            </a: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“月似钩”运用</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sym typeface="+mn-ea"/>
              </a:rPr>
              <a:t>比喻</a:t>
            </a: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a:t>
            </a:r>
            <a:r>
              <a:rPr lang="zh-CN" altLang="en-US" sz="2000" dirty="0">
                <a:latin typeface="楷体" panose="02010609060101010101" pitchFamily="49" charset="-122"/>
                <a:ea typeface="楷体" panose="02010609060101010101" pitchFamily="49" charset="-122"/>
                <a:cs typeface="楷体" panose="02010609060101010101" pitchFamily="49" charset="-122"/>
                <a:sym typeface="+mn-ea"/>
              </a:rPr>
              <a:t>沙如雪</a:t>
            </a:r>
            <a:r>
              <a:rPr lang="en-US" altLang="zh-CN" sz="2000" dirty="0">
                <a:latin typeface="楷体" panose="02010609060101010101" pitchFamily="49" charset="-122"/>
                <a:ea typeface="楷体" panose="02010609060101010101" pitchFamily="49" charset="-122"/>
                <a:cs typeface="楷体" panose="02010609060101010101" pitchFamily="49" charset="-122"/>
                <a:sym typeface="+mn-ea"/>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不仅从</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视觉</a:t>
            </a:r>
            <a:r>
              <a:rPr lang="zh-CN" altLang="en-US" sz="2000" dirty="0">
                <a:latin typeface="楷体" panose="02010609060101010101" pitchFamily="49" charset="-122"/>
                <a:ea typeface="楷体" panose="02010609060101010101" pitchFamily="49" charset="-122"/>
                <a:cs typeface="楷体" panose="02010609060101010101" pitchFamily="49" charset="-122"/>
              </a:rPr>
              <a:t>写出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颜色</a:t>
            </a:r>
            <a:r>
              <a:rPr lang="zh-CN" altLang="en-US" sz="2000" dirty="0">
                <a:latin typeface="楷体" panose="02010609060101010101" pitchFamily="49" charset="-122"/>
                <a:ea typeface="楷体" panose="02010609060101010101" pitchFamily="49" charset="-122"/>
                <a:cs typeface="楷体" panose="02010609060101010101" pitchFamily="49" charset="-122"/>
              </a:rPr>
              <a:t>，而且从  </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触觉</a:t>
            </a:r>
            <a:r>
              <a:rPr lang="zh-CN" altLang="en-US" sz="2000" dirty="0">
                <a:latin typeface="楷体" panose="02010609060101010101" pitchFamily="49" charset="-122"/>
                <a:ea typeface="楷体" panose="02010609060101010101" pitchFamily="49" charset="-122"/>
                <a:cs typeface="楷体" panose="02010609060101010101" pitchFamily="49" charset="-122"/>
              </a:rPr>
              <a:t>写出了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寒冷</a:t>
            </a:r>
            <a:r>
              <a:rPr lang="zh-CN" altLang="en-US" sz="2000" dirty="0">
                <a:latin typeface="楷体" panose="02010609060101010101" pitchFamily="49" charset="-122"/>
                <a:ea typeface="楷体" panose="02010609060101010101" pitchFamily="49" charset="-122"/>
                <a:cs typeface="楷体" panose="02010609060101010101" pitchFamily="49" charset="-122"/>
              </a:rPr>
              <a:t>的感觉，同时从</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侧面</a:t>
            </a:r>
            <a:r>
              <a:rPr lang="zh-CN" altLang="en-US" sz="2000" dirty="0">
                <a:latin typeface="楷体" panose="02010609060101010101" pitchFamily="49" charset="-122"/>
                <a:ea typeface="楷体" panose="02010609060101010101" pitchFamily="49" charset="-122"/>
                <a:cs typeface="楷体" panose="02010609060101010101" pitchFamily="49" charset="-122"/>
              </a:rPr>
              <a:t>写出了月光的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皎洁明亮</a:t>
            </a:r>
            <a:r>
              <a:rPr lang="zh-CN" altLang="en-US" sz="2000" dirty="0">
                <a:latin typeface="楷体" panose="02010609060101010101" pitchFamily="49" charset="-122"/>
                <a:ea typeface="楷体" panose="02010609060101010101" pitchFamily="49" charset="-122"/>
                <a:cs typeface="楷体" panose="02010609060101010101" pitchFamily="49" charset="-122"/>
              </a:rPr>
              <a:t>。“月似钩”不仅仅写出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月亮的形状</a:t>
            </a:r>
            <a:r>
              <a:rPr lang="zh-CN" altLang="en-US" sz="2000" dirty="0">
                <a:latin typeface="楷体" panose="02010609060101010101" pitchFamily="49" charset="-122"/>
                <a:ea typeface="楷体" panose="02010609060101010101" pitchFamily="49" charset="-122"/>
                <a:cs typeface="楷体" panose="02010609060101010101" pitchFamily="49" charset="-122"/>
              </a:rPr>
              <a:t>，也借“钩”表达出自己的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报国之志</a:t>
            </a:r>
            <a:r>
              <a:rPr lang="zh-CN" altLang="en-US" sz="2000" dirty="0">
                <a:latin typeface="楷体" panose="02010609060101010101" pitchFamily="49" charset="-122"/>
                <a:ea typeface="楷体" panose="02010609060101010101" pitchFamily="49" charset="-122"/>
                <a:cs typeface="楷体" panose="02010609060101010101" pitchFamily="49" charset="-122"/>
              </a:rPr>
              <a:t>。</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endParaRPr lang="en-US" altLang="zh-CN"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“何当金络脑，快走踏清秋”借马抒情，“金络脑”是贵重的鞍具，象征</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马受到主人的重视</a:t>
            </a:r>
            <a:r>
              <a:rPr lang="zh-CN" altLang="en-US" sz="2000" dirty="0">
                <a:latin typeface="楷体" panose="02010609060101010101" pitchFamily="49" charset="-122"/>
                <a:ea typeface="楷体" panose="02010609060101010101" pitchFamily="49" charset="-122"/>
                <a:cs typeface="楷体" panose="02010609060101010101" pitchFamily="49" charset="-122"/>
              </a:rPr>
              <a:t>。“清秋”之时草黄马肥，正好驱驰，冠以“快走”二字，形象暗示出骏马</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轻捷矫健</a:t>
            </a:r>
            <a:r>
              <a:rPr lang="zh-CN" altLang="en-US" sz="2000" dirty="0">
                <a:latin typeface="楷体" panose="02010609060101010101" pitchFamily="49" charset="-122"/>
                <a:ea typeface="楷体" panose="02010609060101010101" pitchFamily="49" charset="-122"/>
                <a:cs typeface="楷体" panose="02010609060101010101" pitchFamily="49" charset="-122"/>
              </a:rPr>
              <a:t>的风姿。但以“何当”引出，说明</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遥遥无期</a:t>
            </a:r>
            <a:r>
              <a:rPr lang="zh-CN" altLang="en-US" sz="2000" dirty="0">
                <a:latin typeface="楷体" panose="02010609060101010101" pitchFamily="49" charset="-122"/>
                <a:ea typeface="楷体" panose="02010609060101010101" pitchFamily="49" charset="-122"/>
                <a:cs typeface="楷体" panose="02010609060101010101" pitchFamily="49" charset="-122"/>
              </a:rPr>
              <a:t>，既含</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无限期盼</a:t>
            </a:r>
            <a:r>
              <a:rPr lang="zh-CN" altLang="en-US" sz="2000" dirty="0">
                <a:latin typeface="楷体" panose="02010609060101010101" pitchFamily="49" charset="-122"/>
                <a:ea typeface="楷体" panose="02010609060101010101" pitchFamily="49" charset="-122"/>
                <a:cs typeface="楷体" panose="02010609060101010101" pitchFamily="49" charset="-122"/>
              </a:rPr>
              <a:t>，又寓</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无尽无奈</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这首诗是作者望</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建功立业而又不被赏识</a:t>
            </a:r>
            <a:r>
              <a:rPr lang="zh-CN" altLang="en-US" sz="2000" dirty="0">
                <a:latin typeface="楷体" panose="02010609060101010101" pitchFamily="49" charset="-122"/>
                <a:ea typeface="楷体" panose="02010609060101010101" pitchFamily="49" charset="-122"/>
                <a:cs typeface="楷体" panose="02010609060101010101" pitchFamily="49" charset="-122"/>
              </a:rPr>
              <a:t>的悲叹。诗人在</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借助马表达自己渴望得到重用，渴望为国建功立业的志向。</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 </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540385" y="1059815"/>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马诗</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李贺</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大漠沙如雪，</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燕山月似钩。</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何当金络脑，</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快走踏清秋。</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石灰吟</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于谦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千锤万凿出深山，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烈火焚烧若等闲。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粉骨碎身浑不怕，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要留清白在人间。</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8" name="文本框 7"/>
          <p:cNvSpPr txBox="1"/>
          <p:nvPr/>
        </p:nvSpPr>
        <p:spPr>
          <a:xfrm>
            <a:off x="4163695" y="2640330"/>
            <a:ext cx="4768850" cy="1691640"/>
          </a:xfrm>
          <a:prstGeom prst="rect">
            <a:avLst/>
          </a:prstGeom>
          <a:noFill/>
        </p:spPr>
        <p:txBody>
          <a:bodyPr wrap="square" rtlCol="0">
            <a:spAutoFit/>
          </a:bodyPr>
          <a:lstStyle/>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锤：锤打。</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凿：开凿。</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等闲：平常。</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浑：全，全然。</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10" name="文本框 9"/>
          <p:cNvSpPr txBox="1"/>
          <p:nvPr/>
        </p:nvSpPr>
        <p:spPr>
          <a:xfrm>
            <a:off x="3924300" y="1271905"/>
            <a:ext cx="5008245" cy="1308735"/>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solidFill>
                  <a:srgbClr val="FF0000"/>
                </a:solidFill>
                <a:latin typeface="华文新魏" panose="02010800040101010101" pitchFamily="2" charset="-122"/>
                <a:ea typeface="华文新魏" panose="02010800040101010101" pitchFamily="2" charset="-122"/>
              </a:rPr>
              <a:t>于谦</a:t>
            </a:r>
            <a:r>
              <a:rPr lang="zh-CN" altLang="en-US" sz="2200" dirty="0">
                <a:latin typeface="华文新魏" panose="02010800040101010101" pitchFamily="2" charset="-122"/>
                <a:ea typeface="华文新魏" panose="02010800040101010101" pitchFamily="2" charset="-122"/>
              </a:rPr>
              <a:t>，字</a:t>
            </a:r>
            <a:r>
              <a:rPr lang="zh-CN" altLang="en-US" sz="2200" dirty="0">
                <a:solidFill>
                  <a:srgbClr val="FF0000"/>
                </a:solidFill>
                <a:latin typeface="华文新魏" panose="02010800040101010101" pitchFamily="2" charset="-122"/>
                <a:ea typeface="华文新魏" panose="02010800040101010101" pitchFamily="2" charset="-122"/>
              </a:rPr>
              <a:t>廷益</a:t>
            </a:r>
            <a:r>
              <a:rPr lang="zh-CN" altLang="en-US" sz="2200" dirty="0">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明代</a:t>
            </a:r>
            <a:r>
              <a:rPr lang="zh-CN" altLang="en-US" sz="2200" dirty="0">
                <a:latin typeface="华文新魏" panose="02010800040101010101" pitchFamily="2" charset="-122"/>
                <a:ea typeface="华文新魏" panose="02010800040101010101" pitchFamily="2" charset="-122"/>
              </a:rPr>
              <a:t>著名政治家，军事家，诗人。与岳飞、张煌言并称</a:t>
            </a:r>
            <a:r>
              <a:rPr lang="zh-CN" altLang="en-US" sz="2200" dirty="0">
                <a:solidFill>
                  <a:srgbClr val="FF0000"/>
                </a:solidFill>
                <a:latin typeface="华文新魏" panose="02010800040101010101" pitchFamily="2" charset="-122"/>
                <a:ea typeface="华文新魏" panose="02010800040101010101" pitchFamily="2" charset="-122"/>
              </a:rPr>
              <a:t>“西湖三杰”</a:t>
            </a:r>
            <a:r>
              <a:rPr lang="zh-CN" altLang="en-US" sz="2200" dirty="0">
                <a:latin typeface="华文新魏" panose="02010800040101010101" pitchFamily="2" charset="-122"/>
                <a:ea typeface="华文新魏" panose="02010800040101010101" pitchFamily="2" charset="-122"/>
              </a:rPr>
              <a:t>，体裁为</a:t>
            </a:r>
            <a:r>
              <a:rPr lang="zh-CN" altLang="en-US" sz="2200" dirty="0">
                <a:solidFill>
                  <a:srgbClr val="FF0000"/>
                </a:solidFill>
                <a:latin typeface="华文新魏" panose="02010800040101010101" pitchFamily="2" charset="-122"/>
                <a:ea typeface="华文新魏" panose="02010800040101010101" pitchFamily="2" charset="-122"/>
              </a:rPr>
              <a:t>七言绝句</a:t>
            </a:r>
            <a:r>
              <a:rPr lang="zh-CN" altLang="en-US" sz="2200" dirty="0">
                <a:latin typeface="华文新魏" panose="02010800040101010101" pitchFamily="2" charset="-122"/>
                <a:ea typeface="华文新魏" panose="02010800040101010101" pitchFamily="2" charset="-122"/>
              </a:rPr>
              <a:t>。</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石灰吟</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于谦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千锤万凿出深山，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烈火焚烧若等闲。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粉骨碎身浑不怕，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要留清白在人间。</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3" name="文本框 2"/>
          <p:cNvSpPr txBox="1"/>
          <p:nvPr/>
        </p:nvSpPr>
        <p:spPr>
          <a:xfrm>
            <a:off x="3491865" y="915670"/>
            <a:ext cx="5008245" cy="3743960"/>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《石灰吟》是一首</a:t>
            </a:r>
            <a:r>
              <a:rPr lang="zh-CN" altLang="en-US" sz="2200" dirty="0">
                <a:solidFill>
                  <a:srgbClr val="FF0000"/>
                </a:solidFill>
                <a:latin typeface="华文新魏" panose="02010800040101010101" pitchFamily="2" charset="-122"/>
                <a:ea typeface="华文新魏" panose="02010800040101010101" pitchFamily="2" charset="-122"/>
              </a:rPr>
              <a:t>托物言志</a:t>
            </a:r>
            <a:r>
              <a:rPr lang="zh-CN" altLang="en-US" sz="2200" dirty="0">
                <a:latin typeface="华文新魏" panose="02010800040101010101" pitchFamily="2" charset="-122"/>
                <a:ea typeface="华文新魏" panose="02010800040101010101" pitchFamily="2" charset="-122"/>
              </a:rPr>
              <a:t>诗。诗人以</a:t>
            </a:r>
            <a:r>
              <a:rPr lang="zh-CN" altLang="en-US" sz="2200" dirty="0">
                <a:solidFill>
                  <a:srgbClr val="FF0000"/>
                </a:solidFill>
                <a:latin typeface="华文新魏" panose="02010800040101010101" pitchFamily="2" charset="-122"/>
                <a:ea typeface="华文新魏" panose="02010800040101010101" pitchFamily="2" charset="-122"/>
              </a:rPr>
              <a:t>石灰自喻</a:t>
            </a:r>
            <a:r>
              <a:rPr lang="zh-CN" altLang="en-US" sz="2200" dirty="0">
                <a:latin typeface="华文新魏" panose="02010800040101010101" pitchFamily="2" charset="-122"/>
                <a:ea typeface="华文新魏" panose="02010800040101010101" pitchFamily="2" charset="-122"/>
              </a:rPr>
              <a:t>，抒发自身</a:t>
            </a:r>
            <a:r>
              <a:rPr lang="zh-CN" altLang="en-US" sz="2200" dirty="0">
                <a:solidFill>
                  <a:srgbClr val="FF0000"/>
                </a:solidFill>
                <a:latin typeface="华文新魏" panose="02010800040101010101" pitchFamily="2" charset="-122"/>
                <a:ea typeface="华文新魏" panose="02010800040101010101" pitchFamily="2" charset="-122"/>
              </a:rPr>
              <a:t>坚贞不屈的精神和清白正直的崇高气节</a:t>
            </a:r>
            <a:r>
              <a:rPr lang="zh-CN" altLang="en-US" sz="2200" dirty="0">
                <a:latin typeface="华文新魏" panose="02010800040101010101" pitchFamily="2" charset="-122"/>
                <a:ea typeface="华文新魏" panose="02010800040101010101" pitchFamily="2" charset="-122"/>
              </a:rPr>
              <a:t>。诗句</a:t>
            </a:r>
            <a:r>
              <a:rPr lang="zh-CN" altLang="en-US" sz="2200" dirty="0">
                <a:solidFill>
                  <a:srgbClr val="FF0000"/>
                </a:solidFill>
                <a:latin typeface="华文新魏" panose="02010800040101010101" pitchFamily="2" charset="-122"/>
                <a:ea typeface="华文新魏" panose="02010800040101010101" pitchFamily="2" charset="-122"/>
              </a:rPr>
              <a:t>语意双关</a:t>
            </a:r>
            <a:r>
              <a:rPr lang="zh-CN" altLang="en-US" sz="2200" dirty="0">
                <a:latin typeface="华文新魏" panose="02010800040101010101" pitchFamily="2" charset="-122"/>
                <a:ea typeface="华文新魏" panose="02010800040101010101" pitchFamily="2" charset="-122"/>
              </a:rPr>
              <a:t>，不仅写出</a:t>
            </a:r>
            <a:r>
              <a:rPr lang="zh-CN" altLang="en-US" sz="2200" dirty="0">
                <a:solidFill>
                  <a:srgbClr val="FF0000"/>
                </a:solidFill>
                <a:latin typeface="华文新魏" panose="02010800040101010101" pitchFamily="2" charset="-122"/>
                <a:ea typeface="华文新魏" panose="02010800040101010101" pitchFamily="2" charset="-122"/>
              </a:rPr>
              <a:t>石灰甘受烈火炼制的过程和坚韧清白的特性</a:t>
            </a:r>
            <a:r>
              <a:rPr lang="zh-CN" altLang="en-US" sz="2200" dirty="0">
                <a:latin typeface="华文新魏" panose="02010800040101010101" pitchFamily="2" charset="-122"/>
                <a:ea typeface="华文新魏" panose="02010800040101010101" pitchFamily="2" charset="-122"/>
              </a:rPr>
              <a:t>，还象征着</a:t>
            </a:r>
            <a:r>
              <a:rPr lang="zh-CN" altLang="en-US" sz="2200" dirty="0">
                <a:solidFill>
                  <a:srgbClr val="FF0000"/>
                </a:solidFill>
                <a:latin typeface="华文新魏" panose="02010800040101010101" pitchFamily="2" charset="-122"/>
                <a:ea typeface="华文新魏" panose="02010800040101010101" pitchFamily="2" charset="-122"/>
              </a:rPr>
              <a:t>有志之士无论面对怎样严峻的考验都能从容不迫、坚守高洁的品格</a:t>
            </a:r>
            <a:r>
              <a:rPr lang="zh-CN" altLang="en-US" sz="2200" dirty="0">
                <a:latin typeface="华文新魏" panose="02010800040101010101" pitchFamily="2" charset="-122"/>
                <a:ea typeface="华文新魏" panose="02010800040101010101" pitchFamily="2" charset="-122"/>
              </a:rPr>
              <a:t>，表达了诗人</a:t>
            </a:r>
            <a:r>
              <a:rPr lang="zh-CN" altLang="en-US" sz="2200" dirty="0">
                <a:solidFill>
                  <a:srgbClr val="FF0000"/>
                </a:solidFill>
                <a:latin typeface="华文新魏" panose="02010800040101010101" pitchFamily="2" charset="-122"/>
                <a:ea typeface="华文新魏" panose="02010800040101010101" pitchFamily="2" charset="-122"/>
              </a:rPr>
              <a:t>以身报国的宏伟抱负和绝不向世俗低头、不与世俗同流合污的坚贞品质</a:t>
            </a:r>
            <a:r>
              <a:rPr lang="zh-CN" altLang="en-US" sz="2200" dirty="0">
                <a:latin typeface="华文新魏" panose="02010800040101010101" pitchFamily="2" charset="-122"/>
                <a:ea typeface="华文新魏" panose="02010800040101010101" pitchFamily="2" charset="-122"/>
              </a:rPr>
              <a:t>。</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420110" y="1059180"/>
            <a:ext cx="5330825" cy="3171825"/>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前两句诗写的是石灰从</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开采</a:t>
            </a:r>
            <a:r>
              <a:rPr lang="zh-CN" altLang="en-US" sz="2000" dirty="0">
                <a:latin typeface="楷体" panose="02010609060101010101" pitchFamily="49" charset="-122"/>
                <a:ea typeface="楷体" panose="02010609060101010101" pitchFamily="49" charset="-122"/>
                <a:cs typeface="楷体" panose="02010609060101010101" pitchFamily="49" charset="-122"/>
              </a:rPr>
              <a:t>到</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炼制</a:t>
            </a:r>
            <a:r>
              <a:rPr lang="zh-CN" altLang="en-US" sz="2000" dirty="0">
                <a:latin typeface="楷体" panose="02010609060101010101" pitchFamily="49" charset="-122"/>
                <a:ea typeface="楷体" panose="02010609060101010101" pitchFamily="49" charset="-122"/>
                <a:cs typeface="楷体" panose="02010609060101010101" pitchFamily="49" charset="-122"/>
              </a:rPr>
              <a:t>的过程，歌颂了一种</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视死如归、从容不迫</a:t>
            </a:r>
            <a:r>
              <a:rPr lang="zh-CN" altLang="en-US" sz="2000" dirty="0">
                <a:latin typeface="楷体" panose="02010609060101010101" pitchFamily="49" charset="-122"/>
                <a:ea typeface="楷体" panose="02010609060101010101" pitchFamily="49" charset="-122"/>
                <a:cs typeface="楷体" panose="02010609060101010101" pitchFamily="49" charset="-122"/>
              </a:rPr>
              <a:t>的精神。“千锤万凿出深山”形容开采石灰石很不容易，</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千</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万</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是</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虚写</a:t>
            </a:r>
            <a:r>
              <a:rPr lang="zh-CN" altLang="en-US" sz="2000" dirty="0">
                <a:latin typeface="楷体" panose="02010609060101010101" pitchFamily="49" charset="-122"/>
                <a:ea typeface="楷体" panose="02010609060101010101" pitchFamily="49" charset="-122"/>
                <a:cs typeface="楷体" panose="02010609060101010101" pitchFamily="49" charset="-122"/>
              </a:rPr>
              <a:t>，表示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锤打的次数很多</a:t>
            </a:r>
            <a:r>
              <a:rPr lang="zh-CN" altLang="en-US" sz="2000" dirty="0">
                <a:latin typeface="楷体" panose="02010609060101010101" pitchFamily="49" charset="-122"/>
                <a:ea typeface="楷体" panose="02010609060101010101" pitchFamily="49" charset="-122"/>
                <a:cs typeface="楷体" panose="02010609060101010101" pitchFamily="49" charset="-122"/>
              </a:rPr>
              <a:t>，刻画了石灰</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坚韧</a:t>
            </a:r>
            <a:r>
              <a:rPr lang="zh-CN" altLang="en-US" sz="2000" dirty="0">
                <a:latin typeface="楷体" panose="02010609060101010101" pitchFamily="49" charset="-122"/>
                <a:ea typeface="楷体" panose="02010609060101010101" pitchFamily="49" charset="-122"/>
                <a:cs typeface="楷体" panose="02010609060101010101" pitchFamily="49" charset="-122"/>
              </a:rPr>
              <a:t>的品格。“烈火焚烧若等闲”写的是石灰石被开采出来之后，还要经受</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烈火高温煅烧</a:t>
            </a:r>
            <a:r>
              <a:rPr lang="zh-CN" altLang="en-US" sz="2000" dirty="0">
                <a:latin typeface="楷体" panose="02010609060101010101" pitchFamily="49" charset="-122"/>
                <a:ea typeface="楷体" panose="02010609060101010101" pitchFamily="49" charset="-122"/>
                <a:cs typeface="楷体" panose="02010609060101010101" pitchFamily="49" charset="-122"/>
              </a:rPr>
              <a:t>。“若等闲”三字，写出石灰的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态度</a:t>
            </a:r>
            <a:r>
              <a:rPr lang="zh-CN" altLang="en-US" sz="2000" dirty="0">
                <a:latin typeface="楷体" panose="02010609060101010101" pitchFamily="49" charset="-122"/>
                <a:ea typeface="楷体" panose="02010609060101010101" pitchFamily="49" charset="-122"/>
                <a:cs typeface="楷体" panose="02010609060101010101" pitchFamily="49" charset="-122"/>
              </a:rPr>
              <a:t>，将烈火焚烧看成</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稀松平常</a:t>
            </a:r>
            <a:r>
              <a:rPr lang="zh-CN" altLang="en-US" sz="2000" dirty="0">
                <a:latin typeface="楷体" panose="02010609060101010101" pitchFamily="49" charset="-122"/>
                <a:ea typeface="楷体" panose="02010609060101010101" pitchFamily="49" charset="-122"/>
                <a:cs typeface="楷体" panose="02010609060101010101" pitchFamily="49" charset="-122"/>
              </a:rPr>
              <a:t>的事，甘愿“千锤万凿</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烈火焚烧”，</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从容不迫</a:t>
            </a:r>
            <a:r>
              <a:rPr lang="zh-CN" altLang="en-US"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淡然处之</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石灰吟</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于谦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千锤万凿出深山，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烈火焚烧若等闲。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粉骨碎身浑不怕，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要留清白在人间。</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275965" y="483870"/>
            <a:ext cx="5330825" cy="4187190"/>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后两句诗写的是石灰</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炼制的结果</a:t>
            </a:r>
            <a:r>
              <a:rPr lang="zh-CN" altLang="en-US" sz="2000" dirty="0">
                <a:latin typeface="楷体" panose="02010609060101010101" pitchFamily="49" charset="-122"/>
                <a:ea typeface="楷体" panose="02010609060101010101" pitchFamily="49" charset="-122"/>
                <a:cs typeface="楷体" panose="02010609060101010101" pitchFamily="49" charset="-122"/>
              </a:rPr>
              <a:t>，表达一种</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不怕牺牲、坚守高洁品格</a:t>
            </a:r>
            <a:r>
              <a:rPr lang="zh-CN" altLang="en-US" sz="2000" dirty="0">
                <a:latin typeface="楷体" panose="02010609060101010101" pitchFamily="49" charset="-122"/>
                <a:ea typeface="楷体" panose="02010609060101010101" pitchFamily="49" charset="-122"/>
                <a:cs typeface="楷体" panose="02010609060101010101" pitchFamily="49" charset="-122"/>
              </a:rPr>
              <a:t>的决心。“粉骨碎身”是“烈火焚烧”的必然结果，极形象地写出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石灰石烧成石灰粉的蜕变过程</a:t>
            </a:r>
            <a:r>
              <a:rPr lang="zh-CN" altLang="en-US" sz="2000" dirty="0">
                <a:latin typeface="楷体" panose="02010609060101010101" pitchFamily="49" charset="-122"/>
                <a:ea typeface="楷体" panose="02010609060101010101" pitchFamily="49" charset="-122"/>
                <a:cs typeface="楷体" panose="02010609060101010101" pitchFamily="49" charset="-122"/>
              </a:rPr>
              <a:t>;“浑不怕”和“若等闲”颂扬石灰</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无畏无惧，不怕牺牲</a:t>
            </a:r>
            <a:r>
              <a:rPr lang="zh-CN" altLang="en-US" sz="2000" dirty="0">
                <a:latin typeface="楷体" panose="02010609060101010101" pitchFamily="49" charset="-122"/>
                <a:ea typeface="楷体" panose="02010609060101010101" pitchFamily="49" charset="-122"/>
                <a:cs typeface="楷体" panose="02010609060101010101" pitchFamily="49" charset="-122"/>
              </a:rPr>
              <a:t>的精神。最后一句“要留清白在人间”是前三句的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归因</a:t>
            </a:r>
            <a:r>
              <a:rPr lang="zh-CN" altLang="en-US" sz="2000" dirty="0">
                <a:latin typeface="楷体" panose="02010609060101010101" pitchFamily="49" charset="-122"/>
                <a:ea typeface="楷体" panose="02010609060101010101" pitchFamily="49" charset="-122"/>
                <a:cs typeface="楷体" panose="02010609060101010101" pitchFamily="49" charset="-122"/>
              </a:rPr>
              <a:t>。“要留”二字，</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点出目的</a:t>
            </a:r>
            <a:r>
              <a:rPr lang="zh-CN" altLang="en-US" sz="2000" dirty="0">
                <a:latin typeface="楷体" panose="02010609060101010101" pitchFamily="49" charset="-122"/>
                <a:ea typeface="楷体" panose="02010609060101010101" pitchFamily="49" charset="-122"/>
                <a:cs typeface="楷体" panose="02010609060101010101" pitchFamily="49" charset="-122"/>
              </a:rPr>
              <a:t>,即点明“清白在人间”是石灰“千锤万凿”而“出深山”,“烈火焚烧”而“若等闲”,“粉骨碎身”而“浑不怕”的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根本原因</a:t>
            </a:r>
            <a:r>
              <a:rPr lang="zh-CN" altLang="en-US" sz="2000" dirty="0">
                <a:latin typeface="楷体" panose="02010609060101010101" pitchFamily="49" charset="-122"/>
                <a:ea typeface="楷体" panose="02010609060101010101" pitchFamily="49" charset="-122"/>
                <a:cs typeface="楷体" panose="02010609060101010101" pitchFamily="49" charset="-122"/>
              </a:rPr>
              <a:t>，也是石灰内心的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热切追求</a:t>
            </a:r>
            <a:r>
              <a:rPr lang="zh-CN" altLang="en-US" sz="2000" dirty="0">
                <a:latin typeface="楷体" panose="02010609060101010101" pitchFamily="49" charset="-122"/>
                <a:ea typeface="楷体" panose="02010609060101010101" pitchFamily="49" charset="-122"/>
                <a:cs typeface="楷体" panose="02010609060101010101" pitchFamily="49" charset="-122"/>
              </a:rPr>
              <a:t>。“清白”两字</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一语双关</a:t>
            </a:r>
            <a:r>
              <a:rPr lang="zh-CN" altLang="en-US" sz="2000" dirty="0">
                <a:latin typeface="楷体" panose="02010609060101010101" pitchFamily="49" charset="-122"/>
                <a:ea typeface="楷体" panose="02010609060101010101" pitchFamily="49" charset="-122"/>
                <a:cs typeface="楷体" panose="02010609060101010101" pitchFamily="49" charset="-122"/>
              </a:rPr>
              <a:t>，既指石灰</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洁白的本色</a:t>
            </a:r>
            <a:r>
              <a:rPr lang="zh-CN" altLang="en-US" sz="2000" dirty="0">
                <a:latin typeface="楷体" panose="02010609060101010101" pitchFamily="49" charset="-122"/>
                <a:ea typeface="楷体" panose="02010609060101010101" pitchFamily="49" charset="-122"/>
                <a:cs typeface="楷体" panose="02010609060101010101" pitchFamily="49" charset="-122"/>
              </a:rPr>
              <a:t>，又喻指</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人的高尚节操</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石灰吟</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于谦</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千锤万凿出深山，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烈火焚烧若等闲。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粉骨碎身浑不怕， </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要留清白在人间。</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竹石</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清郑燮</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咬定青山不放松，</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立根原在破岩中。</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千磨万击还坚劲，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任尔东西南北风。</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8" name="文本框 7"/>
          <p:cNvSpPr txBox="1"/>
          <p:nvPr/>
        </p:nvSpPr>
        <p:spPr>
          <a:xfrm>
            <a:off x="4163695" y="2640330"/>
            <a:ext cx="4768850" cy="1691640"/>
          </a:xfrm>
          <a:prstGeom prst="rect">
            <a:avLst/>
          </a:prstGeom>
          <a:noFill/>
        </p:spPr>
        <p:txBody>
          <a:bodyPr wrap="square" rtlCol="0">
            <a:spAutoFit/>
          </a:bodyPr>
          <a:lstStyle/>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立根：扎根，生根。</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原：原来。</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任：任凭。</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尔：你。</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10" name="文本框 9"/>
          <p:cNvSpPr txBox="1"/>
          <p:nvPr/>
        </p:nvSpPr>
        <p:spPr>
          <a:xfrm>
            <a:off x="3790950" y="925830"/>
            <a:ext cx="5140960" cy="1308735"/>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solidFill>
                  <a:srgbClr val="FF0000"/>
                </a:solidFill>
                <a:latin typeface="华文新魏" panose="02010800040101010101" pitchFamily="2" charset="-122"/>
                <a:ea typeface="华文新魏" panose="02010800040101010101" pitchFamily="2" charset="-122"/>
              </a:rPr>
              <a:t>郑燮</a:t>
            </a:r>
            <a:r>
              <a:rPr lang="zh-CN" altLang="en-US" sz="2200" dirty="0">
                <a:latin typeface="华文新魏" panose="02010800040101010101" pitchFamily="2" charset="-122"/>
                <a:ea typeface="华文新魏" panose="02010800040101010101" pitchFamily="2" charset="-122"/>
              </a:rPr>
              <a:t>，字</a:t>
            </a:r>
            <a:r>
              <a:rPr lang="zh-CN" altLang="en-US" sz="2200" dirty="0">
                <a:solidFill>
                  <a:srgbClr val="FF0000"/>
                </a:solidFill>
                <a:latin typeface="华文新魏" panose="02010800040101010101" pitchFamily="2" charset="-122"/>
                <a:ea typeface="华文新魏" panose="02010800040101010101" pitchFamily="2" charset="-122"/>
              </a:rPr>
              <a:t>克柔</a:t>
            </a:r>
            <a:r>
              <a:rPr lang="zh-CN" altLang="en-US" sz="2200" dirty="0">
                <a:latin typeface="华文新魏" panose="02010800040101010101" pitchFamily="2" charset="-122"/>
                <a:ea typeface="华文新魏" panose="02010800040101010101" pitchFamily="2" charset="-122"/>
              </a:rPr>
              <a:t>，号</a:t>
            </a:r>
            <a:r>
              <a:rPr lang="zh-CN" altLang="en-US" sz="2200" dirty="0">
                <a:solidFill>
                  <a:srgbClr val="FF0000"/>
                </a:solidFill>
                <a:latin typeface="华文新魏" panose="02010800040101010101" pitchFamily="2" charset="-122"/>
                <a:ea typeface="华文新魏" panose="02010800040101010101" pitchFamily="2" charset="-122"/>
              </a:rPr>
              <a:t>板桥</a:t>
            </a:r>
            <a:r>
              <a:rPr lang="zh-CN" altLang="en-US" sz="2200" dirty="0">
                <a:latin typeface="华文新魏" panose="02010800040101010101" pitchFamily="2" charset="-122"/>
                <a:ea typeface="华文新魏" panose="02010800040101010101" pitchFamily="2" charset="-122"/>
              </a:rPr>
              <a:t>，人称“</a:t>
            </a:r>
            <a:r>
              <a:rPr lang="zh-CN" altLang="en-US" sz="2200" dirty="0">
                <a:solidFill>
                  <a:srgbClr val="FF0000"/>
                </a:solidFill>
                <a:latin typeface="华文新魏" panose="02010800040101010101" pitchFamily="2" charset="-122"/>
                <a:ea typeface="华文新魏" panose="02010800040101010101" pitchFamily="2" charset="-122"/>
              </a:rPr>
              <a:t>板桥先生”</a:t>
            </a:r>
            <a:r>
              <a:rPr lang="zh-CN" altLang="en-US" sz="2200" dirty="0">
                <a:latin typeface="华文新魏" panose="02010800040101010101" pitchFamily="2" charset="-122"/>
                <a:ea typeface="华文新魏" panose="02010800040101010101" pitchFamily="2" charset="-122"/>
              </a:rPr>
              <a:t>，</a:t>
            </a:r>
            <a:r>
              <a:rPr lang="zh-CN" altLang="en-US" sz="2200" dirty="0">
                <a:solidFill>
                  <a:srgbClr val="FF0000"/>
                </a:solidFill>
                <a:latin typeface="华文新魏" panose="02010800040101010101" pitchFamily="2" charset="-122"/>
                <a:ea typeface="华文新魏" panose="02010800040101010101" pitchFamily="2" charset="-122"/>
              </a:rPr>
              <a:t>清代</a:t>
            </a:r>
            <a:r>
              <a:rPr lang="zh-CN" altLang="en-US" sz="2200" dirty="0">
                <a:latin typeface="华文新魏" panose="02010800040101010101" pitchFamily="2" charset="-122"/>
                <a:ea typeface="华文新魏" panose="02010800040101010101" pitchFamily="2" charset="-122"/>
              </a:rPr>
              <a:t>书画家、文学家。</a:t>
            </a:r>
            <a:r>
              <a:rPr lang="zh-CN" altLang="en-US" sz="2200" dirty="0">
                <a:solidFill>
                  <a:srgbClr val="FF0000"/>
                </a:solidFill>
                <a:latin typeface="华文新魏" panose="02010800040101010101" pitchFamily="2" charset="-122"/>
                <a:ea typeface="华文新魏" panose="02010800040101010101" pitchFamily="2" charset="-122"/>
              </a:rPr>
              <a:t>“扬州八怪”</a:t>
            </a:r>
            <a:r>
              <a:rPr lang="zh-CN" altLang="en-US" sz="2200" dirty="0">
                <a:latin typeface="华文新魏" panose="02010800040101010101" pitchFamily="2" charset="-122"/>
                <a:ea typeface="华文新魏" panose="02010800040101010101" pitchFamily="2" charset="-122"/>
              </a:rPr>
              <a:t>重要代表人物，体裁为</a:t>
            </a:r>
            <a:r>
              <a:rPr lang="zh-CN" altLang="en-US" sz="2200" dirty="0">
                <a:solidFill>
                  <a:srgbClr val="FF0000"/>
                </a:solidFill>
                <a:latin typeface="华文新魏" panose="02010800040101010101" pitchFamily="2" charset="-122"/>
                <a:ea typeface="华文新魏" panose="02010800040101010101" pitchFamily="2" charset="-122"/>
              </a:rPr>
              <a:t>七言绝句</a:t>
            </a:r>
            <a:r>
              <a:rPr lang="zh-CN" altLang="en-US" sz="2200" dirty="0">
                <a:latin typeface="华文新魏" panose="02010800040101010101" pitchFamily="2" charset="-122"/>
                <a:ea typeface="华文新魏" panose="02010800040101010101" pitchFamily="2" charset="-122"/>
              </a:rPr>
              <a:t>。</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p:cNvSpPr>
            <a:spLocks noChangeArrowheads="1"/>
          </p:cNvSpPr>
          <p:nvPr/>
        </p:nvSpPr>
        <p:spPr bwMode="auto">
          <a:xfrm>
            <a:off x="35560"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竹石</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清郑燮</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咬定青山不放松，</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立根原在破岩中。</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千磨万击还坚劲，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spcBef>
                <a:spcPct val="0"/>
              </a:spcBef>
              <a:spcAft>
                <a:spcPct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     任尔东西南北风。</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
        <p:nvSpPr>
          <p:cNvPr id="10" name="文本框 9"/>
          <p:cNvSpPr txBox="1"/>
          <p:nvPr/>
        </p:nvSpPr>
        <p:spPr>
          <a:xfrm>
            <a:off x="3851910" y="2067560"/>
            <a:ext cx="5140960" cy="2120900"/>
          </a:xfrm>
          <a:prstGeom prst="rect">
            <a:avLst/>
          </a:prstGeom>
          <a:noFill/>
        </p:spPr>
        <p:txBody>
          <a:bodyPr wrap="square" rtlCol="0">
            <a:spAutoFit/>
          </a:bodyPr>
          <a:lstStyle/>
          <a:p>
            <a:pPr algn="l">
              <a:lnSpc>
                <a:spcPct val="120000"/>
              </a:lnSpc>
            </a:pPr>
            <a:r>
              <a:rPr lang="en-US" altLang="zh-CN" sz="2200" dirty="0">
                <a:latin typeface="华文新魏" panose="02010800040101010101" pitchFamily="2" charset="-122"/>
                <a:ea typeface="华文新魏" panose="02010800040101010101" pitchFamily="2" charset="-122"/>
              </a:rPr>
              <a:t>       </a:t>
            </a:r>
            <a:r>
              <a:rPr lang="zh-CN" altLang="en-US" sz="2200" dirty="0">
                <a:latin typeface="华文新魏" panose="02010800040101010101" pitchFamily="2" charset="-122"/>
                <a:ea typeface="华文新魏" panose="02010800040101010101" pitchFamily="2" charset="-122"/>
              </a:rPr>
              <a:t>《竹石》这是诗人为自己的画作《竹石图》题写的一首诗。本诗</a:t>
            </a:r>
            <a:r>
              <a:rPr lang="zh-CN" altLang="en-US" sz="2200" dirty="0">
                <a:solidFill>
                  <a:srgbClr val="FF0000"/>
                </a:solidFill>
                <a:latin typeface="华文新魏" panose="02010800040101010101" pitchFamily="2" charset="-122"/>
                <a:ea typeface="华文新魏" panose="02010800040101010101" pitchFamily="2" charset="-122"/>
              </a:rPr>
              <a:t>借物喻人</a:t>
            </a:r>
            <a:r>
              <a:rPr lang="zh-CN" altLang="en-US" sz="2200" dirty="0">
                <a:latin typeface="华文新魏" panose="02010800040101010101" pitchFamily="2" charset="-122"/>
                <a:ea typeface="华文新魏" panose="02010800040101010101" pitchFamily="2" charset="-122"/>
              </a:rPr>
              <a:t>，通过</a:t>
            </a:r>
            <a:r>
              <a:rPr lang="zh-CN" altLang="en-US" sz="2200" dirty="0">
                <a:solidFill>
                  <a:srgbClr val="FF0000"/>
                </a:solidFill>
                <a:latin typeface="华文新魏" panose="02010800040101010101" pitchFamily="2" charset="-122"/>
                <a:ea typeface="华文新魏" panose="02010800040101010101" pitchFamily="2" charset="-122"/>
              </a:rPr>
              <a:t>咏颂立根破岩中的劲竹</a:t>
            </a:r>
            <a:r>
              <a:rPr lang="zh-CN" altLang="en-US" sz="2200" dirty="0">
                <a:latin typeface="华文新魏" panose="02010800040101010101" pitchFamily="2" charset="-122"/>
                <a:ea typeface="华文新魏" panose="02010800040101010101" pitchFamily="2" charset="-122"/>
              </a:rPr>
              <a:t>，表现自己的</a:t>
            </a:r>
            <a:r>
              <a:rPr lang="zh-CN" altLang="en-US" sz="2200" dirty="0">
                <a:solidFill>
                  <a:srgbClr val="FF0000"/>
                </a:solidFill>
                <a:latin typeface="华文新魏" panose="02010800040101010101" pitchFamily="2" charset="-122"/>
                <a:ea typeface="华文新魏" panose="02010800040101010101" pitchFamily="2" charset="-122"/>
              </a:rPr>
              <a:t>刚正不阿、铁骨铮铮，绝不随波逐流的高尚情操</a:t>
            </a:r>
            <a:r>
              <a:rPr lang="zh-CN" altLang="en-US" sz="2200" dirty="0">
                <a:latin typeface="华文新魏" panose="02010800040101010101" pitchFamily="2" charset="-122"/>
                <a:ea typeface="华文新魏" panose="02010800040101010101" pitchFamily="2" charset="-122"/>
              </a:rPr>
              <a:t>。</a:t>
            </a:r>
            <a:endParaRPr lang="zh-CN" altLang="en-US" sz="2200" dirty="0">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419475" y="496570"/>
            <a:ext cx="5330825" cy="4187190"/>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前两句诗赞美</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立根于破岩中的劲竹的内在精神</a:t>
            </a:r>
            <a:r>
              <a:rPr lang="zh-CN" altLang="en-US" sz="2000" dirty="0">
                <a:latin typeface="楷体" panose="02010609060101010101" pitchFamily="49" charset="-122"/>
                <a:ea typeface="楷体" panose="02010609060101010101" pitchFamily="49" charset="-122"/>
                <a:cs typeface="楷体" panose="02010609060101010101" pitchFamily="49" charset="-122"/>
              </a:rPr>
              <a:t>。第一句中“青山”“破岩”，点出竹长于青山之上碎裂的岩石之中，这是使植</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物立根艰难</a:t>
            </a:r>
            <a:r>
              <a:rPr lang="zh-CN" altLang="en-US" sz="2000" dirty="0">
                <a:latin typeface="楷体" panose="02010609060101010101" pitchFamily="49" charset="-122"/>
                <a:ea typeface="楷体" panose="02010609060101010101" pitchFamily="49" charset="-122"/>
                <a:cs typeface="楷体" panose="02010609060101010101" pitchFamily="49" charset="-122"/>
              </a:rPr>
              <a:t>的地方，突出环境的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艰难</a:t>
            </a:r>
            <a:r>
              <a:rPr lang="zh-CN" altLang="en-US" sz="2000" dirty="0">
                <a:latin typeface="楷体" panose="02010609060101010101" pitchFamily="49" charset="-122"/>
                <a:ea typeface="楷体" panose="02010609060101010101" pitchFamily="49" charset="-122"/>
                <a:cs typeface="楷体" panose="02010609060101010101" pitchFamily="49" charset="-122"/>
              </a:rPr>
              <a:t>，而竹子是</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咬定</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立根</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，顽强地生长。其中“咬”字使竹</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拟人化</a:t>
            </a:r>
            <a:r>
              <a:rPr lang="zh-CN" altLang="en-US" sz="2000" dirty="0">
                <a:latin typeface="楷体" panose="02010609060101010101" pitchFamily="49" charset="-122"/>
                <a:ea typeface="楷体" panose="02010609060101010101" pitchFamily="49" charset="-122"/>
                <a:cs typeface="楷体" panose="02010609060101010101" pitchFamily="49" charset="-122"/>
              </a:rPr>
              <a:t>，写出竹</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顽强的生命力和坚定的信念</a:t>
            </a:r>
            <a:r>
              <a:rPr lang="zh-CN" altLang="en-US" sz="2000" dirty="0">
                <a:latin typeface="楷体" panose="02010609060101010101" pitchFamily="49" charset="-122"/>
                <a:ea typeface="楷体" panose="02010609060101010101" pitchFamily="49" charset="-122"/>
                <a:cs typeface="楷体" panose="02010609060101010101" pitchFamily="49" charset="-122"/>
              </a:rPr>
              <a:t>，“定”字写出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竹目标之明确</a:t>
            </a:r>
            <a:r>
              <a:rPr lang="zh-CN" altLang="en-US" sz="2000" dirty="0">
                <a:latin typeface="楷体" panose="02010609060101010101" pitchFamily="49" charset="-122"/>
                <a:ea typeface="楷体" panose="02010609060101010101" pitchFamily="49" charset="-122"/>
                <a:cs typeface="楷体" panose="02010609060101010101" pitchFamily="49" charset="-122"/>
              </a:rPr>
              <a:t>，这两个字充分表达了劲竹的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刚毅性格。</a:t>
            </a:r>
            <a:r>
              <a:rPr lang="zh-CN" altLang="en-US" sz="2000" dirty="0">
                <a:latin typeface="楷体" panose="02010609060101010101" pitchFamily="49" charset="-122"/>
                <a:ea typeface="楷体" panose="02010609060101010101" pitchFamily="49" charset="-122"/>
                <a:cs typeface="楷体" panose="02010609060101010101" pitchFamily="49" charset="-122"/>
              </a:rPr>
              <a:t>再补以“不放松”，更是使劲竹之</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坚定意志</a:t>
            </a:r>
            <a:r>
              <a:rPr lang="zh-CN" altLang="en-US" sz="2000" dirty="0">
                <a:latin typeface="楷体" panose="02010609060101010101" pitchFamily="49" charset="-122"/>
                <a:ea typeface="楷体" panose="02010609060101010101" pitchFamily="49" charset="-122"/>
                <a:cs typeface="楷体" panose="02010609060101010101" pitchFamily="49" charset="-122"/>
              </a:rPr>
              <a:t>表露无遗。第二句道出了翠竹能傲然挺拔于青山之上，</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根基就在于它深深扎根在破裂的岩石之中</a:t>
            </a:r>
            <a:r>
              <a:rPr lang="zh-CN" altLang="en-US" sz="2000" dirty="0">
                <a:latin typeface="楷体" panose="02010609060101010101" pitchFamily="49" charset="-122"/>
                <a:ea typeface="楷体" panose="02010609060101010101" pitchFamily="49" charset="-122"/>
                <a:cs typeface="楷体" panose="02010609060101010101" pitchFamily="49" charset="-122"/>
              </a:rPr>
              <a:t>。“岩”之前加“破”字，更</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衬托</a:t>
            </a:r>
            <a:r>
              <a:rPr lang="zh-CN" altLang="en-US" sz="2000" dirty="0">
                <a:latin typeface="楷体" panose="02010609060101010101" pitchFamily="49" charset="-122"/>
                <a:ea typeface="楷体" panose="02010609060101010101" pitchFamily="49" charset="-122"/>
                <a:cs typeface="楷体" panose="02010609060101010101" pitchFamily="49" charset="-122"/>
              </a:rPr>
              <a:t>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劲竹生命力的顽强</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108585"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竹石</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清郑燮</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咬定青山不放松，</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en-US" altLang="zh-CN"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立根原在破岩中。</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千磨万击还坚劲，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en-US" altLang="zh-CN"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任尔东西南北风。</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5844" name="图片 5"/>
          <p:cNvPicPr>
            <a:picLocks noChangeArrowheads="1"/>
          </p:cNvPicPr>
          <p:nvPr/>
        </p:nvPicPr>
        <p:blipFill>
          <a:blip r:embed="rId1" cstate="email"/>
          <a:srcRect/>
          <a:stretch>
            <a:fillRect/>
          </a:stretch>
        </p:blipFill>
        <p:spPr bwMode="auto">
          <a:xfrm>
            <a:off x="981075" y="496570"/>
            <a:ext cx="1042035"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p:cNvSpPr txBox="1"/>
          <p:nvPr/>
        </p:nvSpPr>
        <p:spPr>
          <a:xfrm>
            <a:off x="3275965" y="483870"/>
            <a:ext cx="5330825" cy="4525645"/>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后两句诗</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进一层写恶劣的客观环境对劲竹的磨练与考验</a:t>
            </a:r>
            <a:r>
              <a:rPr lang="zh-CN" altLang="en-US" sz="2000" dirty="0">
                <a:latin typeface="楷体" panose="02010609060101010101" pitchFamily="49" charset="-122"/>
                <a:ea typeface="楷体" panose="02010609060101010101" pitchFamily="49" charset="-122"/>
                <a:cs typeface="楷体" panose="02010609060101010101" pitchFamily="49" charset="-122"/>
              </a:rPr>
              <a:t>。不管风吹雨打，任凭霜寒雪冻，苍翠的劲竹仍然傲然挺立。“千磨万击”“东西南北风”，极言</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考验之严酷</a:t>
            </a:r>
            <a:r>
              <a:rPr lang="zh-CN" altLang="en-US" sz="2000" dirty="0">
                <a:latin typeface="楷体" panose="02010609060101010101" pitchFamily="49" charset="-122"/>
                <a:ea typeface="楷体" panose="02010609060101010101" pitchFamily="49" charset="-122"/>
                <a:cs typeface="楷体" panose="02010609060101010101" pitchFamily="49" charset="-122"/>
              </a:rPr>
              <a:t>。“磨”和“击”写出外界磨难打击的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深重</a:t>
            </a:r>
            <a:r>
              <a:rPr lang="zh-CN" altLang="en-US" sz="2000" dirty="0">
                <a:latin typeface="楷体" panose="02010609060101010101" pitchFamily="49" charset="-122"/>
                <a:ea typeface="楷体" panose="02010609060101010101" pitchFamily="49" charset="-122"/>
                <a:cs typeface="楷体" panose="02010609060101010101" pitchFamily="49" charset="-122"/>
              </a:rPr>
              <a:t>，“千”和“万”极写磨难的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繁多严酷</a:t>
            </a:r>
            <a:r>
              <a:rPr lang="zh-CN" altLang="en-US" sz="2000" dirty="0">
                <a:latin typeface="楷体" panose="02010609060101010101" pitchFamily="49" charset="-122"/>
                <a:ea typeface="楷体" panose="02010609060101010101" pitchFamily="49" charset="-122"/>
                <a:cs typeface="楷体" panose="02010609060101010101" pitchFamily="49" charset="-122"/>
              </a:rPr>
              <a:t>。但在“千磨万击”之下，竹“还坚劲”，一个“还”字，赞美了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竹坚韧</a:t>
            </a:r>
            <a:r>
              <a:rPr lang="zh-CN" altLang="en-US" sz="2000" dirty="0">
                <a:latin typeface="楷体" panose="02010609060101010101" pitchFamily="49" charset="-122"/>
                <a:ea typeface="楷体" panose="02010609060101010101" pitchFamily="49" charset="-122"/>
                <a:cs typeface="楷体" panose="02010609060101010101" pitchFamily="49" charset="-122"/>
              </a:rPr>
              <a:t>的品性。一个“任”字，写出了竹</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豪迈、乐观</a:t>
            </a:r>
            <a:r>
              <a:rPr lang="zh-CN" altLang="en-US" sz="2000" dirty="0">
                <a:latin typeface="楷体" panose="02010609060101010101" pitchFamily="49" charset="-122"/>
                <a:ea typeface="楷体" panose="02010609060101010101" pitchFamily="49" charset="-122"/>
                <a:cs typeface="楷体" panose="02010609060101010101" pitchFamily="49" charset="-122"/>
              </a:rPr>
              <a:t>的精神风貌。</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 </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这首诗</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借物喻人</a:t>
            </a:r>
            <a:r>
              <a:rPr lang="zh-CN" altLang="en-US" sz="2000" dirty="0">
                <a:latin typeface="楷体" panose="02010609060101010101" pitchFamily="49" charset="-122"/>
                <a:ea typeface="楷体" panose="02010609060101010101" pitchFamily="49" charset="-122"/>
                <a:cs typeface="楷体" panose="02010609060101010101" pitchFamily="49" charset="-122"/>
              </a:rPr>
              <a:t>，通过</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咏颂立根破岩中的劲竹</a:t>
            </a:r>
            <a:r>
              <a:rPr lang="zh-CN" altLang="en-US" sz="2000" dirty="0">
                <a:latin typeface="楷体" panose="02010609060101010101" pitchFamily="49" charset="-122"/>
                <a:ea typeface="楷体" panose="02010609060101010101" pitchFamily="49" charset="-122"/>
                <a:cs typeface="楷体" panose="02010609060101010101" pitchFamily="49" charset="-122"/>
              </a:rPr>
              <a:t>，含蓄地表达了自己</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绝不随波逐流的高尚情操</a:t>
            </a:r>
            <a:r>
              <a:rPr lang="zh-CN" altLang="en-US" sz="2000" dirty="0">
                <a:latin typeface="楷体" panose="02010609060101010101" pitchFamily="49" charset="-122"/>
                <a:ea typeface="楷体" panose="02010609060101010101" pitchFamily="49" charset="-122"/>
                <a:cs typeface="楷体" panose="02010609060101010101" pitchFamily="49" charset="-122"/>
              </a:rPr>
              <a:t>，竹就是</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作者高尚人格的写照</a:t>
            </a:r>
            <a:r>
              <a:rPr lang="zh-CN" altLang="en-US" sz="2000" dirty="0">
                <a:latin typeface="楷体" panose="02010609060101010101" pitchFamily="49" charset="-122"/>
                <a:ea typeface="楷体" panose="02010609060101010101" pitchFamily="49" charset="-122"/>
                <a:cs typeface="楷体" panose="02010609060101010101" pitchFamily="49" charset="-122"/>
              </a:rPr>
              <a:t>。全诗语言质朴，寓意深刻。</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
          <p:cNvSpPr>
            <a:spLocks noChangeArrowheads="1"/>
          </p:cNvSpPr>
          <p:nvPr/>
        </p:nvSpPr>
        <p:spPr bwMode="auto">
          <a:xfrm>
            <a:off x="-108585" y="1059180"/>
            <a:ext cx="3957320" cy="3712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o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竹石</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清郑燮</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咬定青山不放松，</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en-US" altLang="zh-CN"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立根原在破岩中。</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千磨万击还坚劲，</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a:p>
            <a:pPr marL="0" marR="0" lvl="0" indent="0" algn="ctr" defTabSz="914400" rtl="0" eaLnBrk="0" fontAlgn="base" latinLnBrk="0" hangingPunct="0">
              <a:lnSpc>
                <a:spcPct val="150000"/>
              </a:lnSpc>
              <a:buClrTx/>
              <a:buSzTx/>
              <a:buFontTx/>
              <a:buNone/>
              <a:defRPr/>
            </a:pP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en-US" altLang="zh-CN"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 </a:t>
            </a:r>
            <a:r>
              <a:rPr lang="zh-CN" altLang="en-US" sz="2400" b="1"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sym typeface="+mn-ea"/>
              </a:rPr>
              <a:t>任尔东西南北风。</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3851910" y="144145"/>
            <a:ext cx="975995" cy="521970"/>
          </a:xfrm>
          <a:prstGeom prst="rect">
            <a:avLst/>
          </a:prstGeom>
          <a:noFill/>
        </p:spPr>
        <p:txBody>
          <a:bodyPr wrap="square" rtlCol="0">
            <a:spAutoFit/>
          </a:bodyPr>
          <a:lstStyle/>
          <a:p>
            <a:r>
              <a:rPr lang="zh-CN" altLang="en-US" sz="2800">
                <a:latin typeface="黑体" panose="02010609060101010101" pitchFamily="49" charset="-122"/>
                <a:ea typeface="黑体" panose="02010609060101010101" pitchFamily="49" charset="-122"/>
              </a:rPr>
              <a:t>学弈</a:t>
            </a:r>
            <a:endParaRPr lang="zh-CN" altLang="en-US" sz="2800">
              <a:latin typeface="黑体" panose="02010609060101010101" pitchFamily="49" charset="-122"/>
              <a:ea typeface="黑体" panose="02010609060101010101" pitchFamily="49" charset="-122"/>
            </a:endParaRPr>
          </a:p>
        </p:txBody>
      </p:sp>
      <p:sp>
        <p:nvSpPr>
          <p:cNvPr id="39" name="文本框 38"/>
          <p:cNvSpPr txBox="1">
            <a:spLocks noChangeArrowheads="1"/>
          </p:cNvSpPr>
          <p:nvPr/>
        </p:nvSpPr>
        <p:spPr bwMode="auto">
          <a:xfrm>
            <a:off x="496362" y="706599"/>
            <a:ext cx="7895259" cy="2399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250000"/>
              </a:lnSpc>
            </a:pPr>
            <a:r>
              <a:rPr lang="en-US" altLang="zh-CN" sz="2000" dirty="0">
                <a:latin typeface="黑体" panose="02010609060101010101" pitchFamily="49" charset="-122"/>
                <a:ea typeface="黑体" panose="02010609060101010101" pitchFamily="49" charset="-122"/>
                <a:sym typeface="宋体" panose="02010600030101010101" pitchFamily="2" charset="-122"/>
              </a:rPr>
              <a:t>  </a:t>
            </a: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弈秋，</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通国</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之</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善</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弈者也。</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使</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弈秋</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诲</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二人弈，</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其</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一人专心致志，</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惟</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弈秋</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之</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为听；</a:t>
            </a: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一人虽听之，一心</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以为</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有</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鸿鹄</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将</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至</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思援</a:t>
            </a:r>
            <a:r>
              <a:rPr lang="en-US" altLang="zh-CN"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弓缴</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而射之。虽与之</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俱</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学，</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弗若</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之矣。</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为</a:t>
            </a:r>
            <a:r>
              <a:rPr lang="en-US" altLang="zh-CN"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是</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其智弗若与？曰：非</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然</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也。</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p:txBody>
      </p:sp>
      <p:sp>
        <p:nvSpPr>
          <p:cNvPr id="40" name="文本框 39"/>
          <p:cNvSpPr txBox="1">
            <a:spLocks noChangeArrowheads="1"/>
          </p:cNvSpPr>
          <p:nvPr/>
        </p:nvSpPr>
        <p:spPr bwMode="auto">
          <a:xfrm>
            <a:off x="3707765" y="843280"/>
            <a:ext cx="47244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让</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1" name="文本框 40"/>
          <p:cNvSpPr txBox="1">
            <a:spLocks noChangeArrowheads="1"/>
          </p:cNvSpPr>
          <p:nvPr/>
        </p:nvSpPr>
        <p:spPr bwMode="auto">
          <a:xfrm>
            <a:off x="1764030" y="771525"/>
            <a:ext cx="61341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全国</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2" name="文本框 41"/>
          <p:cNvSpPr txBox="1">
            <a:spLocks noChangeArrowheads="1"/>
          </p:cNvSpPr>
          <p:nvPr/>
        </p:nvSpPr>
        <p:spPr bwMode="auto">
          <a:xfrm>
            <a:off x="4427813" y="915763"/>
            <a:ext cx="701096"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教</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3" name="文本框 42"/>
          <p:cNvSpPr txBox="1">
            <a:spLocks noChangeArrowheads="1"/>
          </p:cNvSpPr>
          <p:nvPr/>
        </p:nvSpPr>
        <p:spPr bwMode="auto">
          <a:xfrm>
            <a:off x="755650" y="1419860"/>
            <a:ext cx="94361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宾语前置的标志</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4" name="文本框 43"/>
          <p:cNvSpPr txBox="1">
            <a:spLocks noChangeArrowheads="1"/>
          </p:cNvSpPr>
          <p:nvPr/>
        </p:nvSpPr>
        <p:spPr bwMode="auto">
          <a:xfrm>
            <a:off x="4139565" y="1635760"/>
            <a:ext cx="728345" cy="250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认为</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5" name="文本框 44"/>
          <p:cNvSpPr txBox="1">
            <a:spLocks noChangeArrowheads="1"/>
          </p:cNvSpPr>
          <p:nvPr/>
        </p:nvSpPr>
        <p:spPr bwMode="auto">
          <a:xfrm>
            <a:off x="6245860" y="1707515"/>
            <a:ext cx="3625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想</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文本框 15"/>
          <p:cNvSpPr txBox="1"/>
          <p:nvPr/>
        </p:nvSpPr>
        <p:spPr>
          <a:xfrm>
            <a:off x="320675" y="3147695"/>
            <a:ext cx="8551545" cy="1804670"/>
          </a:xfrm>
          <a:prstGeom prst="rect">
            <a:avLst/>
          </a:prstGeom>
          <a:noFill/>
          <a:ln w="9525">
            <a:noFill/>
          </a:ln>
        </p:spPr>
        <p:txBody>
          <a:bodyPr wrap="square">
            <a:noAutofit/>
          </a:bodyPr>
          <a:lstStyle/>
          <a:p>
            <a:pPr>
              <a:lnSpc>
                <a:spcPct val="120000"/>
              </a:lnSpc>
            </a:pPr>
            <a:r>
              <a:rPr lang="zh-CN" altLang="en-US" sz="1800" b="1" dirty="0">
                <a:latin typeface="楷体" panose="02010609060101010101" pitchFamily="49" charset="-122"/>
                <a:ea typeface="楷体" panose="02010609060101010101" pitchFamily="49" charset="-122"/>
              </a:rPr>
              <a:t>　　弈秋，（是）全国最擅长下棋的人。让弈秋同时教导两个学生下棋，其中一个学生专心致志，只听弈秋的教导；另一个学生虽然也在听弈秋讲课，却一心以为有天鹅要飞过来，想要拉弓搭箭把它射下来。虽然他和前一个人一起学习下棋，但棋艺不如人家了啊。难道这是因为他的智力不如前一个人吗？答案是：当然不是这样的。</a:t>
            </a: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p:txBody>
      </p:sp>
      <p:sp>
        <p:nvSpPr>
          <p:cNvPr id="2" name="矩形 1"/>
          <p:cNvSpPr/>
          <p:nvPr/>
        </p:nvSpPr>
        <p:spPr>
          <a:xfrm>
            <a:off x="739700" y="2139868"/>
            <a:ext cx="1203960" cy="398780"/>
          </a:xfrm>
          <a:prstGeom prst="rect">
            <a:avLst/>
          </a:prstGeom>
          <a:noFill/>
          <a:ln>
            <a:noFill/>
          </a:ln>
        </p:spPr>
        <p:txBody>
          <a:bodyPr wrap="none" rtlCol="0" anchor="t">
            <a:spAutoFit/>
          </a:bodyPr>
          <a:p>
            <a:pPr algn="ctr"/>
            <a:r>
              <a:rPr lang="zh-CN" altLang="en-US" sz="20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宾语前置</a:t>
            </a:r>
            <a:endParaRPr lang="zh-CN" altLang="en-US" sz="20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endParaRPr>
          </a:p>
        </p:txBody>
      </p:sp>
      <p:sp>
        <p:nvSpPr>
          <p:cNvPr id="4" name="文本框 3"/>
          <p:cNvSpPr txBox="1">
            <a:spLocks noChangeArrowheads="1"/>
          </p:cNvSpPr>
          <p:nvPr/>
        </p:nvSpPr>
        <p:spPr bwMode="auto">
          <a:xfrm>
            <a:off x="1763395" y="2428240"/>
            <a:ext cx="80264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一起</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7" name="文本框 7"/>
          <p:cNvSpPr txBox="1">
            <a:spLocks noChangeArrowheads="1"/>
          </p:cNvSpPr>
          <p:nvPr/>
        </p:nvSpPr>
        <p:spPr bwMode="auto">
          <a:xfrm>
            <a:off x="2627630" y="2355850"/>
            <a:ext cx="58356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不如</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9" name="文本框 7"/>
          <p:cNvSpPr txBox="1">
            <a:spLocks noChangeArrowheads="1"/>
          </p:cNvSpPr>
          <p:nvPr/>
        </p:nvSpPr>
        <p:spPr bwMode="auto">
          <a:xfrm>
            <a:off x="3636010" y="2283460"/>
            <a:ext cx="54356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因为</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3" name="文本框 2"/>
          <p:cNvSpPr txBox="1">
            <a:spLocks noChangeArrowheads="1"/>
          </p:cNvSpPr>
          <p:nvPr/>
        </p:nvSpPr>
        <p:spPr bwMode="auto">
          <a:xfrm>
            <a:off x="2411730" y="771525"/>
            <a:ext cx="118935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善于，擅长</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5" name="文本框 4"/>
          <p:cNvSpPr txBox="1">
            <a:spLocks noChangeArrowheads="1"/>
          </p:cNvSpPr>
          <p:nvPr/>
        </p:nvSpPr>
        <p:spPr bwMode="auto">
          <a:xfrm>
            <a:off x="5652135" y="843280"/>
            <a:ext cx="58293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其中</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6" name="文本框 5"/>
          <p:cNvSpPr txBox="1">
            <a:spLocks noChangeArrowheads="1"/>
          </p:cNvSpPr>
          <p:nvPr/>
        </p:nvSpPr>
        <p:spPr bwMode="auto">
          <a:xfrm>
            <a:off x="7668260" y="843280"/>
            <a:ext cx="38862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只</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7" name="文本框 6"/>
          <p:cNvSpPr txBox="1">
            <a:spLocks noChangeArrowheads="1"/>
          </p:cNvSpPr>
          <p:nvPr/>
        </p:nvSpPr>
        <p:spPr bwMode="auto">
          <a:xfrm>
            <a:off x="4728845" y="1471930"/>
            <a:ext cx="1193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天鹅、大雁一类的鸟</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8" name="文本框 7"/>
          <p:cNvSpPr txBox="1">
            <a:spLocks noChangeArrowheads="1"/>
          </p:cNvSpPr>
          <p:nvPr/>
        </p:nvSpPr>
        <p:spPr bwMode="auto">
          <a:xfrm>
            <a:off x="5755005" y="1635760"/>
            <a:ext cx="44958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到</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9" name="文本框 8"/>
          <p:cNvSpPr txBox="1">
            <a:spLocks noChangeArrowheads="1"/>
          </p:cNvSpPr>
          <p:nvPr/>
        </p:nvSpPr>
        <p:spPr bwMode="auto">
          <a:xfrm>
            <a:off x="6589395" y="1459230"/>
            <a:ext cx="47815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引，拉</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0" name="文本框 9"/>
          <p:cNvSpPr txBox="1">
            <a:spLocks noChangeArrowheads="1"/>
          </p:cNvSpPr>
          <p:nvPr/>
        </p:nvSpPr>
        <p:spPr bwMode="auto">
          <a:xfrm>
            <a:off x="7091680" y="1707515"/>
            <a:ext cx="58293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弓箭</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1" name="文本框 7"/>
          <p:cNvSpPr txBox="1">
            <a:spLocks noChangeArrowheads="1"/>
          </p:cNvSpPr>
          <p:nvPr/>
        </p:nvSpPr>
        <p:spPr bwMode="auto">
          <a:xfrm>
            <a:off x="4324350" y="2315845"/>
            <a:ext cx="54356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这</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2" name="文本框 7"/>
          <p:cNvSpPr txBox="1">
            <a:spLocks noChangeArrowheads="1"/>
          </p:cNvSpPr>
          <p:nvPr/>
        </p:nvSpPr>
        <p:spPr bwMode="auto">
          <a:xfrm>
            <a:off x="6876415" y="2355850"/>
            <a:ext cx="54356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这样</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1000"/>
                                        <p:tgtEl>
                                          <p:spTgt spid="40"/>
                                        </p:tgtEl>
                                      </p:cBhvr>
                                    </p:animEffect>
                                    <p:anim calcmode="lin" valueType="num">
                                      <p:cBhvr>
                                        <p:cTn id="22" dur="1000" fill="hold"/>
                                        <p:tgtEl>
                                          <p:spTgt spid="40"/>
                                        </p:tgtEl>
                                        <p:attrNameLst>
                                          <p:attrName>ppt_x</p:attrName>
                                        </p:attrNameLst>
                                      </p:cBhvr>
                                      <p:tavLst>
                                        <p:tav tm="0">
                                          <p:val>
                                            <p:strVal val="#ppt_x"/>
                                          </p:val>
                                        </p:tav>
                                        <p:tav tm="100000">
                                          <p:val>
                                            <p:strVal val="#ppt_x"/>
                                          </p:val>
                                        </p:tav>
                                      </p:tavLst>
                                    </p:anim>
                                    <p:anim calcmode="lin" valueType="num">
                                      <p:cBhvr>
                                        <p:cTn id="2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1000"/>
                                        <p:tgtEl>
                                          <p:spTgt spid="42"/>
                                        </p:tgtEl>
                                      </p:cBhvr>
                                    </p:animEffect>
                                    <p:anim calcmode="lin" valueType="num">
                                      <p:cBhvr>
                                        <p:cTn id="29" dur="1000" fill="hold"/>
                                        <p:tgtEl>
                                          <p:spTgt spid="42"/>
                                        </p:tgtEl>
                                        <p:attrNameLst>
                                          <p:attrName>ppt_x</p:attrName>
                                        </p:attrNameLst>
                                      </p:cBhvr>
                                      <p:tavLst>
                                        <p:tav tm="0">
                                          <p:val>
                                            <p:strVal val="#ppt_x"/>
                                          </p:val>
                                        </p:tav>
                                        <p:tav tm="100000">
                                          <p:val>
                                            <p:strVal val="#ppt_x"/>
                                          </p:val>
                                        </p:tav>
                                      </p:tavLst>
                                    </p:anim>
                                    <p:anim calcmode="lin" valueType="num">
                                      <p:cBhvr>
                                        <p:cTn id="30"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1000"/>
                                        <p:tgtEl>
                                          <p:spTgt spid="43"/>
                                        </p:tgtEl>
                                      </p:cBhvr>
                                    </p:animEffect>
                                    <p:anim calcmode="lin" valueType="num">
                                      <p:cBhvr>
                                        <p:cTn id="50" dur="1000" fill="hold"/>
                                        <p:tgtEl>
                                          <p:spTgt spid="43"/>
                                        </p:tgtEl>
                                        <p:attrNameLst>
                                          <p:attrName>ppt_x</p:attrName>
                                        </p:attrNameLst>
                                      </p:cBhvr>
                                      <p:tavLst>
                                        <p:tav tm="0">
                                          <p:val>
                                            <p:strVal val="#ppt_x"/>
                                          </p:val>
                                        </p:tav>
                                        <p:tav tm="100000">
                                          <p:val>
                                            <p:strVal val="#ppt_x"/>
                                          </p:val>
                                        </p:tav>
                                      </p:tavLst>
                                    </p:anim>
                                    <p:anim calcmode="lin" valueType="num">
                                      <p:cBhvr>
                                        <p:cTn id="51"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44"/>
                                        </p:tgtEl>
                                        <p:attrNameLst>
                                          <p:attrName>style.visibility</p:attrName>
                                        </p:attrNameLst>
                                      </p:cBhvr>
                                      <p:to>
                                        <p:strVal val="visible"/>
                                      </p:to>
                                    </p:set>
                                    <p:animEffect transition="in" filter="fade">
                                      <p:cBhvr>
                                        <p:cTn id="60" dur="1000"/>
                                        <p:tgtEl>
                                          <p:spTgt spid="44"/>
                                        </p:tgtEl>
                                      </p:cBhvr>
                                    </p:animEffect>
                                    <p:anim calcmode="lin" valueType="num">
                                      <p:cBhvr>
                                        <p:cTn id="61" dur="1000" fill="hold"/>
                                        <p:tgtEl>
                                          <p:spTgt spid="44"/>
                                        </p:tgtEl>
                                        <p:attrNameLst>
                                          <p:attrName>ppt_x</p:attrName>
                                        </p:attrNameLst>
                                      </p:cBhvr>
                                      <p:tavLst>
                                        <p:tav tm="0">
                                          <p:val>
                                            <p:strVal val="#ppt_x"/>
                                          </p:val>
                                        </p:tav>
                                        <p:tav tm="100000">
                                          <p:val>
                                            <p:strVal val="#ppt_x"/>
                                          </p:val>
                                        </p:tav>
                                      </p:tavLst>
                                    </p:anim>
                                    <p:anim calcmode="lin" valueType="num">
                                      <p:cBhvr>
                                        <p:cTn id="6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7"/>
                                        </p:tgtEl>
                                        <p:attrNameLst>
                                          <p:attrName>style.visibility</p:attrName>
                                        </p:attrNameLst>
                                      </p:cBhvr>
                                      <p:to>
                                        <p:strVal val="visible"/>
                                      </p:to>
                                    </p:set>
                                    <p:animEffect transition="in" filter="fade">
                                      <p:cBhvr>
                                        <p:cTn id="67" dur="1000"/>
                                        <p:tgtEl>
                                          <p:spTgt spid="7"/>
                                        </p:tgtEl>
                                      </p:cBhvr>
                                    </p:animEffect>
                                    <p:anim calcmode="lin" valueType="num">
                                      <p:cBhvr>
                                        <p:cTn id="68" dur="1000" fill="hold"/>
                                        <p:tgtEl>
                                          <p:spTgt spid="7"/>
                                        </p:tgtEl>
                                        <p:attrNameLst>
                                          <p:attrName>ppt_x</p:attrName>
                                        </p:attrNameLst>
                                      </p:cBhvr>
                                      <p:tavLst>
                                        <p:tav tm="0">
                                          <p:val>
                                            <p:strVal val="#ppt_x"/>
                                          </p:val>
                                        </p:tav>
                                        <p:tav tm="100000">
                                          <p:val>
                                            <p:strVal val="#ppt_x"/>
                                          </p:val>
                                        </p:tav>
                                      </p:tavLst>
                                    </p:anim>
                                    <p:anim calcmode="lin" valueType="num">
                                      <p:cBhvr>
                                        <p:cTn id="6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fade">
                                      <p:cBhvr>
                                        <p:cTn id="74" dur="1000"/>
                                        <p:tgtEl>
                                          <p:spTgt spid="8"/>
                                        </p:tgtEl>
                                      </p:cBhvr>
                                    </p:animEffect>
                                    <p:anim calcmode="lin" valueType="num">
                                      <p:cBhvr>
                                        <p:cTn id="75" dur="1000" fill="hold"/>
                                        <p:tgtEl>
                                          <p:spTgt spid="8"/>
                                        </p:tgtEl>
                                        <p:attrNameLst>
                                          <p:attrName>ppt_x</p:attrName>
                                        </p:attrNameLst>
                                      </p:cBhvr>
                                      <p:tavLst>
                                        <p:tav tm="0">
                                          <p:val>
                                            <p:strVal val="#ppt_x"/>
                                          </p:val>
                                        </p:tav>
                                        <p:tav tm="100000">
                                          <p:val>
                                            <p:strVal val="#ppt_x"/>
                                          </p:val>
                                        </p:tav>
                                      </p:tavLst>
                                    </p:anim>
                                    <p:anim calcmode="lin" valueType="num">
                                      <p:cBhvr>
                                        <p:cTn id="7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45"/>
                                        </p:tgtEl>
                                        <p:attrNameLst>
                                          <p:attrName>style.visibility</p:attrName>
                                        </p:attrNameLst>
                                      </p:cBhvr>
                                      <p:to>
                                        <p:strVal val="visible"/>
                                      </p:to>
                                    </p:set>
                                    <p:animEffect transition="in" filter="fade">
                                      <p:cBhvr>
                                        <p:cTn id="81" dur="1000"/>
                                        <p:tgtEl>
                                          <p:spTgt spid="45"/>
                                        </p:tgtEl>
                                      </p:cBhvr>
                                    </p:animEffect>
                                    <p:anim calcmode="lin" valueType="num">
                                      <p:cBhvr>
                                        <p:cTn id="82" dur="1000" fill="hold"/>
                                        <p:tgtEl>
                                          <p:spTgt spid="45"/>
                                        </p:tgtEl>
                                        <p:attrNameLst>
                                          <p:attrName>ppt_x</p:attrName>
                                        </p:attrNameLst>
                                      </p:cBhvr>
                                      <p:tavLst>
                                        <p:tav tm="0">
                                          <p:val>
                                            <p:strVal val="#ppt_x"/>
                                          </p:val>
                                        </p:tav>
                                        <p:tav tm="100000">
                                          <p:val>
                                            <p:strVal val="#ppt_x"/>
                                          </p:val>
                                        </p:tav>
                                      </p:tavLst>
                                    </p:anim>
                                    <p:anim calcmode="lin" valueType="num">
                                      <p:cBhvr>
                                        <p:cTn id="83"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9"/>
                                        </p:tgtEl>
                                        <p:attrNameLst>
                                          <p:attrName>style.visibility</p:attrName>
                                        </p:attrNameLst>
                                      </p:cBhvr>
                                      <p:to>
                                        <p:strVal val="visible"/>
                                      </p:to>
                                    </p:set>
                                    <p:animEffect transition="in" filter="fade">
                                      <p:cBhvr>
                                        <p:cTn id="88" dur="1000"/>
                                        <p:tgtEl>
                                          <p:spTgt spid="9"/>
                                        </p:tgtEl>
                                      </p:cBhvr>
                                    </p:animEffect>
                                    <p:anim calcmode="lin" valueType="num">
                                      <p:cBhvr>
                                        <p:cTn id="89" dur="1000" fill="hold"/>
                                        <p:tgtEl>
                                          <p:spTgt spid="9"/>
                                        </p:tgtEl>
                                        <p:attrNameLst>
                                          <p:attrName>ppt_x</p:attrName>
                                        </p:attrNameLst>
                                      </p:cBhvr>
                                      <p:tavLst>
                                        <p:tav tm="0">
                                          <p:val>
                                            <p:strVal val="#ppt_x"/>
                                          </p:val>
                                        </p:tav>
                                        <p:tav tm="100000">
                                          <p:val>
                                            <p:strVal val="#ppt_x"/>
                                          </p:val>
                                        </p:tav>
                                      </p:tavLst>
                                    </p:anim>
                                    <p:anim calcmode="lin" valueType="num">
                                      <p:cBhvr>
                                        <p:cTn id="9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10"/>
                                        </p:tgtEl>
                                        <p:attrNameLst>
                                          <p:attrName>style.visibility</p:attrName>
                                        </p:attrNameLst>
                                      </p:cBhvr>
                                      <p:to>
                                        <p:strVal val="visible"/>
                                      </p:to>
                                    </p:set>
                                    <p:animEffect transition="in" filter="fade">
                                      <p:cBhvr>
                                        <p:cTn id="95" dur="1000"/>
                                        <p:tgtEl>
                                          <p:spTgt spid="10"/>
                                        </p:tgtEl>
                                      </p:cBhvr>
                                    </p:animEffect>
                                    <p:anim calcmode="lin" valueType="num">
                                      <p:cBhvr>
                                        <p:cTn id="96" dur="1000" fill="hold"/>
                                        <p:tgtEl>
                                          <p:spTgt spid="10"/>
                                        </p:tgtEl>
                                        <p:attrNameLst>
                                          <p:attrName>ppt_x</p:attrName>
                                        </p:attrNameLst>
                                      </p:cBhvr>
                                      <p:tavLst>
                                        <p:tav tm="0">
                                          <p:val>
                                            <p:strVal val="#ppt_x"/>
                                          </p:val>
                                        </p:tav>
                                        <p:tav tm="100000">
                                          <p:val>
                                            <p:strVal val="#ppt_x"/>
                                          </p:val>
                                        </p:tav>
                                      </p:tavLst>
                                    </p:anim>
                                    <p:anim calcmode="lin" valueType="num">
                                      <p:cBhvr>
                                        <p:cTn id="9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2" presetClass="entr" presetSubtype="0" fill="hold" grpId="0" nodeType="clickEffect">
                                  <p:stCondLst>
                                    <p:cond delay="0"/>
                                  </p:stCondLst>
                                  <p:childTnLst>
                                    <p:set>
                                      <p:cBhvr>
                                        <p:cTn id="101" dur="1" fill="hold">
                                          <p:stCondLst>
                                            <p:cond delay="0"/>
                                          </p:stCondLst>
                                        </p:cTn>
                                        <p:tgtEl>
                                          <p:spTgt spid="4"/>
                                        </p:tgtEl>
                                        <p:attrNameLst>
                                          <p:attrName>style.visibility</p:attrName>
                                        </p:attrNameLst>
                                      </p:cBhvr>
                                      <p:to>
                                        <p:strVal val="visible"/>
                                      </p:to>
                                    </p:set>
                                    <p:animEffect transition="in" filter="fade">
                                      <p:cBhvr>
                                        <p:cTn id="102" dur="1000"/>
                                        <p:tgtEl>
                                          <p:spTgt spid="4"/>
                                        </p:tgtEl>
                                      </p:cBhvr>
                                    </p:animEffect>
                                    <p:anim calcmode="lin" valueType="num">
                                      <p:cBhvr>
                                        <p:cTn id="103" dur="1000" fill="hold"/>
                                        <p:tgtEl>
                                          <p:spTgt spid="4"/>
                                        </p:tgtEl>
                                        <p:attrNameLst>
                                          <p:attrName>ppt_x</p:attrName>
                                        </p:attrNameLst>
                                      </p:cBhvr>
                                      <p:tavLst>
                                        <p:tav tm="0">
                                          <p:val>
                                            <p:strVal val="#ppt_x"/>
                                          </p:val>
                                        </p:tav>
                                        <p:tav tm="100000">
                                          <p:val>
                                            <p:strVal val="#ppt_x"/>
                                          </p:val>
                                        </p:tav>
                                      </p:tavLst>
                                    </p:anim>
                                    <p:anim calcmode="lin" valueType="num">
                                      <p:cBhvr>
                                        <p:cTn id="10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fade">
                                      <p:cBhvr>
                                        <p:cTn id="109" dur="1000"/>
                                        <p:tgtEl>
                                          <p:spTgt spid="47"/>
                                        </p:tgtEl>
                                      </p:cBhvr>
                                    </p:animEffect>
                                    <p:anim calcmode="lin" valueType="num">
                                      <p:cBhvr>
                                        <p:cTn id="110" dur="1000" fill="hold"/>
                                        <p:tgtEl>
                                          <p:spTgt spid="47"/>
                                        </p:tgtEl>
                                        <p:attrNameLst>
                                          <p:attrName>ppt_x</p:attrName>
                                        </p:attrNameLst>
                                      </p:cBhvr>
                                      <p:tavLst>
                                        <p:tav tm="0">
                                          <p:val>
                                            <p:strVal val="#ppt_x"/>
                                          </p:val>
                                        </p:tav>
                                        <p:tav tm="100000">
                                          <p:val>
                                            <p:strVal val="#ppt_x"/>
                                          </p:val>
                                        </p:tav>
                                      </p:tavLst>
                                    </p:anim>
                                    <p:anim calcmode="lin" valueType="num">
                                      <p:cBhvr>
                                        <p:cTn id="111"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49"/>
                                        </p:tgtEl>
                                        <p:attrNameLst>
                                          <p:attrName>style.visibility</p:attrName>
                                        </p:attrNameLst>
                                      </p:cBhvr>
                                      <p:to>
                                        <p:strVal val="visible"/>
                                      </p:to>
                                    </p:set>
                                    <p:animEffect transition="in" filter="fade">
                                      <p:cBhvr>
                                        <p:cTn id="116" dur="1000"/>
                                        <p:tgtEl>
                                          <p:spTgt spid="49"/>
                                        </p:tgtEl>
                                      </p:cBhvr>
                                    </p:animEffect>
                                    <p:anim calcmode="lin" valueType="num">
                                      <p:cBhvr>
                                        <p:cTn id="117" dur="1000" fill="hold"/>
                                        <p:tgtEl>
                                          <p:spTgt spid="49"/>
                                        </p:tgtEl>
                                        <p:attrNameLst>
                                          <p:attrName>ppt_x</p:attrName>
                                        </p:attrNameLst>
                                      </p:cBhvr>
                                      <p:tavLst>
                                        <p:tav tm="0">
                                          <p:val>
                                            <p:strVal val="#ppt_x"/>
                                          </p:val>
                                        </p:tav>
                                        <p:tav tm="100000">
                                          <p:val>
                                            <p:strVal val="#ppt_x"/>
                                          </p:val>
                                        </p:tav>
                                      </p:tavLst>
                                    </p:anim>
                                    <p:anim calcmode="lin" valueType="num">
                                      <p:cBhvr>
                                        <p:cTn id="118"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11"/>
                                        </p:tgtEl>
                                        <p:attrNameLst>
                                          <p:attrName>style.visibility</p:attrName>
                                        </p:attrNameLst>
                                      </p:cBhvr>
                                      <p:to>
                                        <p:strVal val="visible"/>
                                      </p:to>
                                    </p:set>
                                    <p:animEffect transition="in" filter="fade">
                                      <p:cBhvr>
                                        <p:cTn id="123" dur="1000"/>
                                        <p:tgtEl>
                                          <p:spTgt spid="11"/>
                                        </p:tgtEl>
                                      </p:cBhvr>
                                    </p:animEffect>
                                    <p:anim calcmode="lin" valueType="num">
                                      <p:cBhvr>
                                        <p:cTn id="124" dur="1000" fill="hold"/>
                                        <p:tgtEl>
                                          <p:spTgt spid="11"/>
                                        </p:tgtEl>
                                        <p:attrNameLst>
                                          <p:attrName>ppt_x</p:attrName>
                                        </p:attrNameLst>
                                      </p:cBhvr>
                                      <p:tavLst>
                                        <p:tav tm="0">
                                          <p:val>
                                            <p:strVal val="#ppt_x"/>
                                          </p:val>
                                        </p:tav>
                                        <p:tav tm="100000">
                                          <p:val>
                                            <p:strVal val="#ppt_x"/>
                                          </p:val>
                                        </p:tav>
                                      </p:tavLst>
                                    </p:anim>
                                    <p:anim calcmode="lin" valueType="num">
                                      <p:cBhvr>
                                        <p:cTn id="12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42" presetClass="entr" presetSubtype="0" fill="hold" grpId="0" nodeType="clickEffect">
                                  <p:stCondLst>
                                    <p:cond delay="0"/>
                                  </p:stCondLst>
                                  <p:childTnLst>
                                    <p:set>
                                      <p:cBhvr>
                                        <p:cTn id="129" dur="1" fill="hold">
                                          <p:stCondLst>
                                            <p:cond delay="0"/>
                                          </p:stCondLst>
                                        </p:cTn>
                                        <p:tgtEl>
                                          <p:spTgt spid="12"/>
                                        </p:tgtEl>
                                        <p:attrNameLst>
                                          <p:attrName>style.visibility</p:attrName>
                                        </p:attrNameLst>
                                      </p:cBhvr>
                                      <p:to>
                                        <p:strVal val="visible"/>
                                      </p:to>
                                    </p:set>
                                    <p:animEffect transition="in" filter="fade">
                                      <p:cBhvr>
                                        <p:cTn id="130" dur="1000"/>
                                        <p:tgtEl>
                                          <p:spTgt spid="12"/>
                                        </p:tgtEl>
                                      </p:cBhvr>
                                    </p:animEffect>
                                    <p:anim calcmode="lin" valueType="num">
                                      <p:cBhvr>
                                        <p:cTn id="131" dur="1000" fill="hold"/>
                                        <p:tgtEl>
                                          <p:spTgt spid="12"/>
                                        </p:tgtEl>
                                        <p:attrNameLst>
                                          <p:attrName>ppt_x</p:attrName>
                                        </p:attrNameLst>
                                      </p:cBhvr>
                                      <p:tavLst>
                                        <p:tav tm="0">
                                          <p:val>
                                            <p:strVal val="#ppt_x"/>
                                          </p:val>
                                        </p:tav>
                                        <p:tav tm="100000">
                                          <p:val>
                                            <p:strVal val="#ppt_x"/>
                                          </p:val>
                                        </p:tav>
                                      </p:tavLst>
                                    </p:anim>
                                    <p:anim calcmode="lin" valueType="num">
                                      <p:cBhvr>
                                        <p:cTn id="13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42" presetClass="entr" presetSubtype="0" fill="hold" grpId="0" nodeType="clickEffect">
                                  <p:stCondLst>
                                    <p:cond delay="0"/>
                                  </p:stCondLst>
                                  <p:childTnLst>
                                    <p:set>
                                      <p:cBhvr>
                                        <p:cTn id="136" dur="1" fill="hold">
                                          <p:stCondLst>
                                            <p:cond delay="0"/>
                                          </p:stCondLst>
                                        </p:cTn>
                                        <p:tgtEl>
                                          <p:spTgt spid="16"/>
                                        </p:tgtEl>
                                        <p:attrNameLst>
                                          <p:attrName>style.visibility</p:attrName>
                                        </p:attrNameLst>
                                      </p:cBhvr>
                                      <p:to>
                                        <p:strVal val="visible"/>
                                      </p:to>
                                    </p:set>
                                    <p:animEffect transition="in" filter="fade">
                                      <p:cBhvr>
                                        <p:cTn id="137" dur="1000"/>
                                        <p:tgtEl>
                                          <p:spTgt spid="16"/>
                                        </p:tgtEl>
                                      </p:cBhvr>
                                    </p:animEffect>
                                    <p:anim calcmode="lin" valueType="num">
                                      <p:cBhvr>
                                        <p:cTn id="138" dur="1000" fill="hold"/>
                                        <p:tgtEl>
                                          <p:spTgt spid="16"/>
                                        </p:tgtEl>
                                        <p:attrNameLst>
                                          <p:attrName>ppt_x</p:attrName>
                                        </p:attrNameLst>
                                      </p:cBhvr>
                                      <p:tavLst>
                                        <p:tav tm="0">
                                          <p:val>
                                            <p:strVal val="#ppt_x"/>
                                          </p:val>
                                        </p:tav>
                                        <p:tav tm="100000">
                                          <p:val>
                                            <p:strVal val="#ppt_x"/>
                                          </p:val>
                                        </p:tav>
                                      </p:tavLst>
                                    </p:anim>
                                    <p:anim calcmode="lin" valueType="num">
                                      <p:cBhvr>
                                        <p:cTn id="13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p:bldP spid="16" grpId="0"/>
      <p:bldP spid="4" grpId="0"/>
      <p:bldP spid="47" grpId="0"/>
      <p:bldP spid="49" grpId="0"/>
      <p:bldP spid="3" grpId="0"/>
      <p:bldP spid="5" grpId="0"/>
      <p:bldP spid="6" grpId="0"/>
      <p:bldP spid="7" grpId="0"/>
      <p:bldP spid="8" grpId="0"/>
      <p:bldP spid="9" grpId="0"/>
      <p:bldP spid="10" grpId="0"/>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8"/>
          <p:cNvSpPr txBox="1"/>
          <p:nvPr/>
        </p:nvSpPr>
        <p:spPr>
          <a:xfrm>
            <a:off x="861695" y="1207770"/>
            <a:ext cx="4533900" cy="3418205"/>
          </a:xfrm>
          <a:prstGeom prst="rect">
            <a:avLst/>
          </a:prstGeom>
          <a:noFill/>
          <a:ln w="19050">
            <a:noFill/>
          </a:ln>
        </p:spPr>
        <p:txBody>
          <a:bodyPr wrap="square" lIns="61217" tIns="30608" rIns="61217" bIns="30608" anchor="t">
            <a:spAutoFit/>
          </a:bodyPr>
          <a:lstStyle/>
          <a:p>
            <a:pPr algn="just" defTabSz="685800" fontAlgn="base">
              <a:lnSpc>
                <a:spcPct val="130000"/>
              </a:lnSpc>
              <a:spcBef>
                <a:spcPct val="0"/>
              </a:spcBef>
              <a:spcAft>
                <a:spcPct val="0"/>
              </a:spcAft>
            </a:pPr>
            <a:r>
              <a:rPr lang="en-US" altLang="zh-CN" sz="2400" b="1" dirty="0">
                <a:solidFill>
                  <a:srgbClr val="000000"/>
                </a:solidFill>
                <a:latin typeface="楷体" panose="02010609060101010101" pitchFamily="49" charset="-122"/>
                <a:ea typeface="楷体" panose="02010609060101010101" pitchFamily="49" charset="-122"/>
              </a:rPr>
              <a:t>    </a:t>
            </a:r>
            <a:r>
              <a:rPr lang="zh-CN" altLang="zh-CN" sz="2400" b="1" dirty="0">
                <a:solidFill>
                  <a:srgbClr val="000000"/>
                </a:solidFill>
                <a:latin typeface="楷体" panose="02010609060101010101" pitchFamily="49" charset="-122"/>
                <a:ea typeface="楷体" panose="02010609060101010101" pitchFamily="49" charset="-122"/>
              </a:rPr>
              <a:t>孟子(约公元前372年—公元前289年) 名轲，字子舆，邹国(现山东邹县)人，战国时期</a:t>
            </a:r>
            <a:r>
              <a:rPr lang="zh-CN" altLang="zh-CN" sz="2400" b="1" dirty="0">
                <a:solidFill>
                  <a:srgbClr val="FF0000"/>
                </a:solidFill>
                <a:latin typeface="楷体" panose="02010609060101010101" pitchFamily="49" charset="-122"/>
                <a:ea typeface="楷体" panose="02010609060101010101" pitchFamily="49" charset="-122"/>
              </a:rPr>
              <a:t>思想家、教育家，儒学学派代表人物之一</a:t>
            </a:r>
            <a:r>
              <a:rPr lang="zh-CN" altLang="zh-CN" sz="2400" b="1" dirty="0">
                <a:solidFill>
                  <a:srgbClr val="000000"/>
                </a:solidFill>
                <a:latin typeface="楷体" panose="02010609060101010101" pitchFamily="49" charset="-122"/>
                <a:ea typeface="楷体" panose="02010609060101010101" pitchFamily="49" charset="-122"/>
              </a:rPr>
              <a:t>。是孔子之后的儒学大师，被尊称为</a:t>
            </a:r>
            <a:r>
              <a:rPr lang="zh-CN" altLang="zh-CN" sz="2400" b="1" dirty="0">
                <a:solidFill>
                  <a:srgbClr val="FF0000"/>
                </a:solidFill>
                <a:latin typeface="楷体" panose="02010609060101010101" pitchFamily="49" charset="-122"/>
                <a:ea typeface="楷体" panose="02010609060101010101" pitchFamily="49" charset="-122"/>
              </a:rPr>
              <a:t>“亚圣”</a:t>
            </a:r>
            <a:r>
              <a:rPr lang="zh-CN" altLang="zh-CN" sz="2400" b="1" dirty="0">
                <a:solidFill>
                  <a:srgbClr val="000000"/>
                </a:solidFill>
                <a:latin typeface="楷体" panose="02010609060101010101" pitchFamily="49" charset="-122"/>
                <a:ea typeface="楷体" panose="02010609060101010101" pitchFamily="49" charset="-122"/>
              </a:rPr>
              <a:t>，后世将</a:t>
            </a:r>
            <a:r>
              <a:rPr lang="zh-CN" altLang="zh-CN" sz="2400" b="1" dirty="0">
                <a:solidFill>
                  <a:srgbClr val="FF0000"/>
                </a:solidFill>
                <a:latin typeface="楷体" panose="02010609060101010101" pitchFamily="49" charset="-122"/>
                <a:ea typeface="楷体" panose="02010609060101010101" pitchFamily="49" charset="-122"/>
              </a:rPr>
              <a:t>他与孔子合称为“孔孟”</a:t>
            </a:r>
            <a:r>
              <a:rPr lang="zh-CN" altLang="zh-CN" sz="2400" b="1" dirty="0">
                <a:solidFill>
                  <a:srgbClr val="000000"/>
                </a:solidFill>
                <a:latin typeface="楷体" panose="02010609060101010101" pitchFamily="49" charset="-122"/>
                <a:ea typeface="楷体" panose="02010609060101010101" pitchFamily="49" charset="-122"/>
              </a:rPr>
              <a:t>。</a:t>
            </a:r>
            <a:endParaRPr lang="zh-CN" altLang="zh-CN" sz="2400" b="1" dirty="0">
              <a:solidFill>
                <a:srgbClr val="000000"/>
              </a:solidFill>
              <a:latin typeface="楷体" panose="02010609060101010101" pitchFamily="49" charset="-122"/>
              <a:ea typeface="楷体" panose="02010609060101010101" pitchFamily="49" charset="-122"/>
            </a:endParaRPr>
          </a:p>
        </p:txBody>
      </p:sp>
      <p:pic>
        <p:nvPicPr>
          <p:cNvPr id="4100" name="Picture 4" descr="2"/>
          <p:cNvPicPr>
            <a:picLocks noChangeAspect="1"/>
          </p:cNvPicPr>
          <p:nvPr/>
        </p:nvPicPr>
        <p:blipFill>
          <a:blip r:embed="rId1"/>
          <a:stretch>
            <a:fillRect/>
          </a:stretch>
        </p:blipFill>
        <p:spPr>
          <a:xfrm>
            <a:off x="5711669" y="1257300"/>
            <a:ext cx="2574131" cy="3368516"/>
          </a:xfrm>
          <a:prstGeom prst="rect">
            <a:avLst/>
          </a:prstGeom>
          <a:noFill/>
          <a:ln w="9525">
            <a:noFill/>
          </a:ln>
        </p:spPr>
      </p:pic>
      <p:sp>
        <p:nvSpPr>
          <p:cNvPr id="3" name="文本框 2"/>
          <p:cNvSpPr txBox="1"/>
          <p:nvPr/>
        </p:nvSpPr>
        <p:spPr>
          <a:xfrm>
            <a:off x="947738" y="651510"/>
            <a:ext cx="1783080" cy="483870"/>
          </a:xfrm>
          <a:prstGeom prst="rect">
            <a:avLst/>
          </a:prstGeom>
          <a:noFill/>
        </p:spPr>
        <p:txBody>
          <a:bodyPr wrap="square" lIns="68577" tIns="34289" rIns="68577" bIns="34289" rtlCol="0">
            <a:spAutoFit/>
          </a:bodyPr>
          <a:lstStyle/>
          <a:p>
            <a:pPr defTabSz="685800" fontAlgn="base">
              <a:spcBef>
                <a:spcPct val="0"/>
              </a:spcBef>
              <a:spcAft>
                <a:spcPct val="0"/>
              </a:spcAft>
            </a:pPr>
            <a:r>
              <a:rPr lang="zh-CN" altLang="en-US" sz="2700" b="1" spc="300" dirty="0">
                <a:solidFill>
                  <a:srgbClr val="787878"/>
                </a:solidFill>
                <a:latin typeface="微软雅黑" panose="020B0503020204020204" charset="-122"/>
              </a:rPr>
              <a:t>了解作者</a:t>
            </a:r>
            <a:endParaRPr lang="zh-CN" altLang="en-US" sz="2700" b="1" spc="300" dirty="0">
              <a:solidFill>
                <a:srgbClr val="787878"/>
              </a:solidFill>
              <a:latin typeface="微软雅黑" panose="020B0503020204020204" charset="-122"/>
            </a:endParaRPr>
          </a:p>
        </p:txBody>
      </p:sp>
    </p:spTree>
  </p:cSld>
  <p:clrMapOvr>
    <a:masterClrMapping/>
  </p:clrMapOvr>
  <p:transition>
    <p:strips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fade">
                                      <p:cBhvr>
                                        <p:cTn id="7" dur="1000"/>
                                        <p:tgtEl>
                                          <p:spTgt spid="4100"/>
                                        </p:tgtEl>
                                      </p:cBhvr>
                                    </p:animEffect>
                                    <p:anim calcmode="lin" valueType="num">
                                      <p:cBhvr>
                                        <p:cTn id="8" dur="1000" fill="hold"/>
                                        <p:tgtEl>
                                          <p:spTgt spid="4100"/>
                                        </p:tgtEl>
                                        <p:attrNameLst>
                                          <p:attrName>ppt_x</p:attrName>
                                        </p:attrNameLst>
                                      </p:cBhvr>
                                      <p:tavLst>
                                        <p:tav tm="0">
                                          <p:val>
                                            <p:strVal val="#ppt_x"/>
                                          </p:val>
                                        </p:tav>
                                        <p:tav tm="100000">
                                          <p:val>
                                            <p:strVal val="#ppt_x"/>
                                          </p:val>
                                        </p:tav>
                                      </p:tavLst>
                                    </p:anim>
                                    <p:anim calcmode="lin" valueType="num">
                                      <p:cBhvr>
                                        <p:cTn id="9" dur="1000" fill="hold"/>
                                        <p:tgtEl>
                                          <p:spTgt spid="410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8"/>
          <p:cNvSpPr txBox="1"/>
          <p:nvPr/>
        </p:nvSpPr>
        <p:spPr>
          <a:xfrm>
            <a:off x="683260" y="1275715"/>
            <a:ext cx="5483860" cy="3418205"/>
          </a:xfrm>
          <a:prstGeom prst="rect">
            <a:avLst/>
          </a:prstGeom>
          <a:noFill/>
          <a:ln w="19050">
            <a:noFill/>
          </a:ln>
        </p:spPr>
        <p:txBody>
          <a:bodyPr wrap="square" lIns="61217" tIns="30608" rIns="61217" bIns="30608" anchor="t">
            <a:spAutoFit/>
          </a:bodyPr>
          <a:lstStyle/>
          <a:p>
            <a:pPr algn="just" defTabSz="685800" fontAlgn="base">
              <a:lnSpc>
                <a:spcPct val="130000"/>
              </a:lnSpc>
              <a:spcBef>
                <a:spcPct val="0"/>
              </a:spcBef>
              <a:spcAft>
                <a:spcPct val="0"/>
              </a:spcAft>
            </a:pPr>
            <a:r>
              <a:rPr lang="en-US" altLang="zh-CN" sz="2400" b="1" dirty="0">
                <a:solidFill>
                  <a:srgbClr val="000000"/>
                </a:solidFill>
                <a:latin typeface="楷体" panose="02010609060101010101" pitchFamily="49" charset="-122"/>
                <a:ea typeface="楷体" panose="02010609060101010101" pitchFamily="49" charset="-122"/>
              </a:rPr>
              <a:t>    </a:t>
            </a:r>
            <a:r>
              <a:rPr lang="zh-CN" altLang="en-US" sz="2400" b="1" dirty="0">
                <a:solidFill>
                  <a:srgbClr val="000000"/>
                </a:solidFill>
                <a:latin typeface="楷体" panose="02010609060101010101" pitchFamily="49" charset="-122"/>
                <a:ea typeface="楷体" panose="02010609060101010101" pitchFamily="49" charset="-122"/>
              </a:rPr>
              <a:t>《学弈》节选自</a:t>
            </a:r>
            <a:r>
              <a:rPr lang="zh-CN" altLang="en-US" sz="2400" b="1" dirty="0">
                <a:solidFill>
                  <a:srgbClr val="FF0000"/>
                </a:solidFill>
                <a:latin typeface="楷体" panose="02010609060101010101" pitchFamily="49" charset="-122"/>
                <a:ea typeface="楷体" panose="02010609060101010101" pitchFamily="49" charset="-122"/>
              </a:rPr>
              <a:t>《孟子</a:t>
            </a:r>
            <a:r>
              <a:rPr lang="en-US" altLang="zh-CN" sz="2400" b="1" dirty="0">
                <a:solidFill>
                  <a:srgbClr val="FF0000"/>
                </a:solidFill>
                <a:latin typeface="楷体" panose="02010609060101010101" pitchFamily="49" charset="-122"/>
                <a:ea typeface="楷体" panose="02010609060101010101" pitchFamily="49" charset="-122"/>
              </a:rPr>
              <a:t>·</a:t>
            </a:r>
            <a:r>
              <a:rPr lang="zh-CN" altLang="en-US" sz="2400" b="1" dirty="0">
                <a:solidFill>
                  <a:srgbClr val="FF0000"/>
                </a:solidFill>
                <a:latin typeface="楷体" panose="02010609060101010101" pitchFamily="49" charset="-122"/>
                <a:ea typeface="楷体" panose="02010609060101010101" pitchFamily="49" charset="-122"/>
              </a:rPr>
              <a:t>告子上》</a:t>
            </a:r>
            <a:r>
              <a:rPr lang="zh-CN" altLang="en-US" sz="2400" b="1" dirty="0">
                <a:solidFill>
                  <a:srgbClr val="000000"/>
                </a:solidFill>
                <a:latin typeface="楷体" panose="02010609060101010101" pitchFamily="49" charset="-122"/>
                <a:ea typeface="楷体" panose="02010609060101010101" pitchFamily="49" charset="-122"/>
              </a:rPr>
              <a:t>。《孟子》，中国儒家经典典籍，</a:t>
            </a:r>
            <a:r>
              <a:rPr lang="en-US" altLang="zh-CN" sz="2400" b="1" dirty="0">
                <a:solidFill>
                  <a:srgbClr val="FF0000"/>
                </a:solidFill>
                <a:latin typeface="楷体" panose="02010609060101010101" pitchFamily="49" charset="-122"/>
                <a:ea typeface="楷体" panose="02010609060101010101" pitchFamily="49" charset="-122"/>
              </a:rPr>
              <a:t>“</a:t>
            </a:r>
            <a:r>
              <a:rPr lang="zh-CN" altLang="en-US" sz="2400" b="1" dirty="0">
                <a:solidFill>
                  <a:srgbClr val="FF0000"/>
                </a:solidFill>
                <a:latin typeface="楷体" panose="02010609060101010101" pitchFamily="49" charset="-122"/>
                <a:ea typeface="楷体" panose="02010609060101010101" pitchFamily="49" charset="-122"/>
              </a:rPr>
              <a:t>四书</a:t>
            </a:r>
            <a:r>
              <a:rPr lang="en-US" altLang="zh-CN" sz="2400" b="1" dirty="0">
                <a:solidFill>
                  <a:srgbClr val="FF0000"/>
                </a:solidFill>
                <a:latin typeface="楷体" panose="02010609060101010101" pitchFamily="49" charset="-122"/>
                <a:ea typeface="楷体" panose="02010609060101010101" pitchFamily="49" charset="-122"/>
              </a:rPr>
              <a:t>”</a:t>
            </a:r>
            <a:r>
              <a:rPr lang="zh-CN" altLang="en-US" sz="2400" b="1" dirty="0">
                <a:solidFill>
                  <a:srgbClr val="FF0000"/>
                </a:solidFill>
                <a:latin typeface="楷体" panose="02010609060101010101" pitchFamily="49" charset="-122"/>
                <a:ea typeface="楷体" panose="02010609060101010101" pitchFamily="49" charset="-122"/>
              </a:rPr>
              <a:t>之一</a:t>
            </a:r>
            <a:r>
              <a:rPr lang="zh-CN" altLang="en-US" sz="2400" b="1" dirty="0">
                <a:solidFill>
                  <a:srgbClr val="000000"/>
                </a:solidFill>
                <a:latin typeface="楷体" panose="02010609060101010101" pitchFamily="49" charset="-122"/>
                <a:ea typeface="楷体" panose="02010609060101010101" pitchFamily="49" charset="-122"/>
              </a:rPr>
              <a:t>，是</a:t>
            </a:r>
            <a:r>
              <a:rPr lang="zh-CN" altLang="en-US" sz="2400" b="1" dirty="0">
                <a:solidFill>
                  <a:srgbClr val="FF0000"/>
                </a:solidFill>
                <a:latin typeface="楷体" panose="02010609060101010101" pitchFamily="49" charset="-122"/>
                <a:ea typeface="楷体" panose="02010609060101010101" pitchFamily="49" charset="-122"/>
              </a:rPr>
              <a:t>记录孟子言行的著作，</a:t>
            </a:r>
            <a:r>
              <a:rPr lang="zh-CN" altLang="en-US" sz="2400" b="1" dirty="0">
                <a:solidFill>
                  <a:srgbClr val="000000"/>
                </a:solidFill>
                <a:latin typeface="楷体" panose="02010609060101010101" pitchFamily="49" charset="-122"/>
                <a:ea typeface="楷体" panose="02010609060101010101" pitchFamily="49" charset="-122"/>
              </a:rPr>
              <a:t>共七篇，有关孟子的治国思想、政治策略和政治行动等，一般认为是</a:t>
            </a:r>
            <a:r>
              <a:rPr lang="zh-CN" altLang="en-US" sz="2400" b="1" dirty="0">
                <a:solidFill>
                  <a:srgbClr val="FF0000"/>
                </a:solidFill>
                <a:latin typeface="楷体" panose="02010609060101010101" pitchFamily="49" charset="-122"/>
                <a:ea typeface="楷体" panose="02010609060101010101" pitchFamily="49" charset="-122"/>
              </a:rPr>
              <a:t>孟子及其弟子万章、公孙丑等人共同编著而成，</a:t>
            </a:r>
            <a:r>
              <a:rPr lang="zh-CN" altLang="en-US" sz="2400" b="1" dirty="0">
                <a:solidFill>
                  <a:schemeClr val="tx1"/>
                </a:solidFill>
                <a:latin typeface="楷体" panose="02010609060101010101" pitchFamily="49" charset="-122"/>
                <a:ea typeface="楷体" panose="02010609060101010101" pitchFamily="49" charset="-122"/>
              </a:rPr>
              <a:t>体现了孟子长于</a:t>
            </a:r>
            <a:r>
              <a:rPr lang="zh-CN" altLang="en-US" sz="2400" b="1" dirty="0">
                <a:solidFill>
                  <a:srgbClr val="FF0000"/>
                </a:solidFill>
                <a:latin typeface="楷体" panose="02010609060101010101" pitchFamily="49" charset="-122"/>
                <a:ea typeface="楷体" panose="02010609060101010101" pitchFamily="49" charset="-122"/>
              </a:rPr>
              <a:t>以喻说理</a:t>
            </a:r>
            <a:r>
              <a:rPr lang="zh-CN" altLang="en-US" sz="2400" b="1" dirty="0">
                <a:solidFill>
                  <a:schemeClr val="tx1"/>
                </a:solidFill>
                <a:latin typeface="楷体" panose="02010609060101010101" pitchFamily="49" charset="-122"/>
                <a:ea typeface="楷体" panose="02010609060101010101" pitchFamily="49" charset="-122"/>
              </a:rPr>
              <a:t>的特点</a:t>
            </a:r>
            <a:r>
              <a:rPr lang="zh-CN" altLang="en-US" sz="2400" b="1" dirty="0">
                <a:solidFill>
                  <a:srgbClr val="FF0000"/>
                </a:solidFill>
                <a:latin typeface="楷体" panose="02010609060101010101" pitchFamily="49" charset="-122"/>
                <a:ea typeface="楷体" panose="02010609060101010101" pitchFamily="49" charset="-122"/>
              </a:rPr>
              <a:t>。</a:t>
            </a:r>
            <a:endParaRPr lang="zh-CN" altLang="en-US" sz="2400" b="1" dirty="0">
              <a:solidFill>
                <a:srgbClr val="FF0000"/>
              </a:solidFill>
              <a:latin typeface="楷体" panose="02010609060101010101" pitchFamily="49" charset="-122"/>
              <a:ea typeface="楷体" panose="02010609060101010101" pitchFamily="49" charset="-122"/>
            </a:endParaRPr>
          </a:p>
        </p:txBody>
      </p:sp>
      <p:sp>
        <p:nvSpPr>
          <p:cNvPr id="3" name="文本框 2"/>
          <p:cNvSpPr txBox="1"/>
          <p:nvPr/>
        </p:nvSpPr>
        <p:spPr>
          <a:xfrm>
            <a:off x="947738" y="651510"/>
            <a:ext cx="1783080" cy="482600"/>
          </a:xfrm>
          <a:prstGeom prst="rect">
            <a:avLst/>
          </a:prstGeom>
          <a:noFill/>
        </p:spPr>
        <p:txBody>
          <a:bodyPr wrap="square" lIns="68577" tIns="34289" rIns="68577" bIns="34289" rtlCol="0">
            <a:spAutoFit/>
          </a:bodyPr>
          <a:lstStyle/>
          <a:p>
            <a:pPr defTabSz="685800" fontAlgn="base">
              <a:spcBef>
                <a:spcPct val="0"/>
              </a:spcBef>
              <a:spcAft>
                <a:spcPct val="0"/>
              </a:spcAft>
            </a:pPr>
            <a:r>
              <a:rPr lang="zh-CN" altLang="en-US" sz="2700" b="1" spc="300" dirty="0">
                <a:solidFill>
                  <a:srgbClr val="787878"/>
                </a:solidFill>
                <a:latin typeface="微软雅黑" panose="020B0503020204020204" charset="-122"/>
              </a:rPr>
              <a:t>了解著作</a:t>
            </a:r>
            <a:endParaRPr lang="zh-CN" altLang="en-US" sz="2700" b="1" spc="300" dirty="0">
              <a:solidFill>
                <a:srgbClr val="787878"/>
              </a:solidFill>
              <a:latin typeface="微软雅黑" panose="020B0503020204020204" charset="-122"/>
            </a:endParaRPr>
          </a:p>
        </p:txBody>
      </p:sp>
      <p:pic>
        <p:nvPicPr>
          <p:cNvPr id="4" name="图片 3" descr="01527a8c36857d6ed6_s"/>
          <p:cNvPicPr>
            <a:picLocks noChangeAspect="1"/>
          </p:cNvPicPr>
          <p:nvPr>
            <p:custDataLst>
              <p:tags r:id="rId1"/>
            </p:custDataLst>
          </p:nvPr>
        </p:nvPicPr>
        <p:blipFill>
          <a:blip r:embed="rId2"/>
          <a:stretch>
            <a:fillRect/>
          </a:stretch>
        </p:blipFill>
        <p:spPr>
          <a:xfrm>
            <a:off x="6372225" y="1022350"/>
            <a:ext cx="2368550" cy="3099435"/>
          </a:xfrm>
          <a:prstGeom prst="rect">
            <a:avLst/>
          </a:prstGeom>
        </p:spPr>
      </p:pic>
    </p:spTree>
  </p:cSld>
  <p:clrMapOvr>
    <a:masterClrMapping/>
  </p:clrMapOvr>
  <p:transition>
    <p:strips dir="l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448945" y="51435"/>
            <a:ext cx="8455025" cy="4864100"/>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本文讲述</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两个人跟随弈秋学棋，但效果截然不同</a:t>
            </a:r>
            <a:r>
              <a:rPr lang="zh-CN" altLang="en-US" sz="2000" dirty="0">
                <a:latin typeface="楷体" panose="02010609060101010101" pitchFamily="49" charset="-122"/>
                <a:ea typeface="楷体" panose="02010609060101010101" pitchFamily="49" charset="-122"/>
                <a:cs typeface="楷体" panose="02010609060101010101" pitchFamily="49" charset="-122"/>
              </a:rPr>
              <a:t>的故事,说明在同等条件下，不同的态度一定会得到不同的结果，阐释了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学习要专心致志的道理</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 </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全文分为三个层次:第一层次(第一句)，指出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弈秋是全国最擅长下围棋的人</a:t>
            </a:r>
            <a:r>
              <a:rPr lang="zh-CN" altLang="en-US" sz="2000" dirty="0">
                <a:latin typeface="楷体" panose="02010609060101010101" pitchFamily="49" charset="-122"/>
                <a:ea typeface="楷体" panose="02010609060101010101" pitchFamily="49" charset="-122"/>
                <a:cs typeface="楷体" panose="02010609060101010101" pitchFamily="49" charset="-122"/>
              </a:rPr>
              <a:t>。弈秋棋术高明，按“名师出高徒”的常理，他的学生也应该成为高手，因此可以</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引起下文</a:t>
            </a:r>
            <a:r>
              <a:rPr lang="zh-CN" altLang="en-US" sz="2000" dirty="0">
                <a:latin typeface="楷体" panose="02010609060101010101" pitchFamily="49" charset="-122"/>
                <a:ea typeface="楷体" panose="02010609060101010101" pitchFamily="49" charset="-122"/>
                <a:cs typeface="楷体" panose="02010609060101010101" pitchFamily="49" charset="-122"/>
              </a:rPr>
              <a:t>弈秋的两个学生的不同表现、不同结果的思考。</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zh-CN" altLang="en-US" sz="2000" dirty="0">
                <a:latin typeface="楷体" panose="02010609060101010101" pitchFamily="49" charset="-122"/>
                <a:ea typeface="楷体" panose="02010609060101010101" pitchFamily="49" charset="-122"/>
                <a:cs typeface="楷体" panose="02010609060101010101" pitchFamily="49" charset="-122"/>
              </a:rPr>
              <a:t> </a:t>
            </a: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第二层次(第二、三句)，写两个人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同时学围棋，表现截然不同，结果也自然不同。</a:t>
            </a:r>
            <a:r>
              <a:rPr lang="zh-CN" altLang="en-US" sz="2000" dirty="0">
                <a:latin typeface="楷体" panose="02010609060101010101" pitchFamily="49" charset="-122"/>
                <a:ea typeface="楷体" panose="02010609060101010101" pitchFamily="49" charset="-122"/>
                <a:cs typeface="楷体" panose="02010609060101010101" pitchFamily="49" charset="-122"/>
              </a:rPr>
              <a:t>前一句讲述两人的迥异表现，“惟</a:t>
            </a:r>
            <a:r>
              <a:rPr lang="en-US" altLang="zh-CN" sz="2000" dirty="0">
                <a:latin typeface="楷体" panose="02010609060101010101" pitchFamily="49" charset="-122"/>
                <a:ea typeface="楷体" panose="02010609060101010101" pitchFamily="49" charset="-122"/>
                <a:cs typeface="楷体" panose="02010609060101010101" pitchFamily="49" charset="-122"/>
              </a:rPr>
              <a:t>”</a:t>
            </a:r>
            <a:r>
              <a:rPr lang="zh-CN" altLang="en-US" sz="2000" dirty="0">
                <a:latin typeface="楷体" panose="02010609060101010101" pitchFamily="49" charset="-122"/>
                <a:ea typeface="楷体" panose="02010609060101010101" pitchFamily="49" charset="-122"/>
                <a:cs typeface="楷体" panose="02010609060101010101" pitchFamily="49" charset="-122"/>
              </a:rPr>
              <a:t>“一心”，暗含了作者对两个人的不同态度;后一句交代了表现迥乎不同的结果:虽然一同学习，后一个却远远比不上前一个。差异巨大，</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对比</a:t>
            </a:r>
            <a:r>
              <a:rPr lang="zh-CN" altLang="en-US" sz="2000" dirty="0">
                <a:latin typeface="楷体" panose="02010609060101010101" pitchFamily="49" charset="-122"/>
                <a:ea typeface="楷体" panose="02010609060101010101" pitchFamily="49" charset="-122"/>
                <a:cs typeface="楷体" panose="02010609060101010101" pitchFamily="49" charset="-122"/>
              </a:rPr>
              <a:t>鲜明，不禁让人想一探究竟。</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第三层次(第四、五句)，自问自答，答疑解惑:造成两人产生巨大差异的原因，不是智力水平的高低，</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而是学习态度的不同</a:t>
            </a:r>
            <a:r>
              <a:rPr lang="zh-CN" altLang="en-US" sz="2000" dirty="0">
                <a:latin typeface="楷体" panose="02010609060101010101" pitchFamily="49" charset="-122"/>
                <a:ea typeface="楷体" panose="02010609060101010101" pitchFamily="49" charset="-122"/>
                <a:cs typeface="楷体" panose="02010609060101010101" pitchFamily="49" charset="-122"/>
              </a:rPr>
              <a:t>。通过</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设问</a:t>
            </a:r>
            <a:r>
              <a:rPr lang="zh-CN" altLang="en-US" sz="2000" dirty="0">
                <a:latin typeface="楷体" panose="02010609060101010101" pitchFamily="49" charset="-122"/>
                <a:ea typeface="楷体" panose="02010609060101010101" pitchFamily="49" charset="-122"/>
                <a:cs typeface="楷体" panose="02010609060101010101" pitchFamily="49" charset="-122"/>
              </a:rPr>
              <a:t>的形式，态度鲜明地表达后一个人</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只因为不肯专心致志地学习才落后</a:t>
            </a:r>
            <a:r>
              <a:rPr lang="zh-CN" altLang="en-US" sz="2000" dirty="0">
                <a:latin typeface="楷体" panose="02010609060101010101" pitchFamily="49" charset="-122"/>
                <a:ea typeface="楷体" panose="02010609060101010101" pitchFamily="49" charset="-122"/>
                <a:cs typeface="楷体" panose="02010609060101010101" pitchFamily="49" charset="-122"/>
              </a:rPr>
              <a:t>的观点。</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本文言简意丰，事中见智，运用</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对比</a:t>
            </a:r>
            <a:r>
              <a:rPr lang="zh-CN" altLang="en-US" sz="2000" dirty="0">
                <a:latin typeface="楷体" panose="02010609060101010101" pitchFamily="49" charset="-122"/>
                <a:ea typeface="楷体" panose="02010609060101010101" pitchFamily="49" charset="-122"/>
                <a:cs typeface="楷体" panose="02010609060101010101" pitchFamily="49" charset="-122"/>
              </a:rPr>
              <a:t>手法，层次分明地讲明了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不专心致志便学不好本领</a:t>
            </a:r>
            <a:r>
              <a:rPr lang="zh-CN" altLang="en-US" sz="2000" dirty="0">
                <a:latin typeface="楷体" panose="02010609060101010101" pitchFamily="49" charset="-122"/>
                <a:ea typeface="楷体" panose="02010609060101010101" pitchFamily="49" charset="-122"/>
                <a:cs typeface="楷体" panose="02010609060101010101" pitchFamily="49" charset="-122"/>
              </a:rPr>
              <a:t>的道理。</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框 21"/>
          <p:cNvSpPr txBox="1"/>
          <p:nvPr/>
        </p:nvSpPr>
        <p:spPr>
          <a:xfrm>
            <a:off x="3369945" y="144145"/>
            <a:ext cx="2281555" cy="521970"/>
          </a:xfrm>
          <a:prstGeom prst="rect">
            <a:avLst/>
          </a:prstGeom>
          <a:noFill/>
        </p:spPr>
        <p:txBody>
          <a:bodyPr wrap="square" rtlCol="0">
            <a:spAutoFit/>
          </a:bodyPr>
          <a:lstStyle/>
          <a:p>
            <a:r>
              <a:rPr lang="zh-CN" altLang="en-US" sz="2800">
                <a:latin typeface="黑体" panose="02010609060101010101" pitchFamily="49" charset="-122"/>
                <a:ea typeface="黑体" panose="02010609060101010101" pitchFamily="49" charset="-122"/>
              </a:rPr>
              <a:t>两小儿辩日</a:t>
            </a:r>
            <a:endParaRPr lang="zh-CN" altLang="en-US" sz="2800">
              <a:latin typeface="黑体" panose="02010609060101010101" pitchFamily="49" charset="-122"/>
              <a:ea typeface="黑体" panose="02010609060101010101" pitchFamily="49" charset="-122"/>
            </a:endParaRPr>
          </a:p>
        </p:txBody>
      </p:sp>
      <p:sp>
        <p:nvSpPr>
          <p:cNvPr id="39" name="文本框 38"/>
          <p:cNvSpPr txBox="1">
            <a:spLocks noChangeArrowheads="1"/>
          </p:cNvSpPr>
          <p:nvPr/>
        </p:nvSpPr>
        <p:spPr bwMode="auto">
          <a:xfrm>
            <a:off x="201295" y="563245"/>
            <a:ext cx="8794115" cy="415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220000"/>
              </a:lnSpc>
            </a:pPr>
            <a:r>
              <a:rPr lang="en-US" altLang="zh-CN" sz="2000" dirty="0">
                <a:latin typeface="黑体" panose="02010609060101010101" pitchFamily="49" charset="-122"/>
                <a:ea typeface="黑体" panose="02010609060101010101" pitchFamily="49" charset="-122"/>
                <a:sym typeface="宋体" panose="02010600030101010101" pitchFamily="2" charset="-122"/>
              </a:rPr>
              <a:t>  </a:t>
            </a: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孔子</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东游</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，见两小儿</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辩斗</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，问其</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故</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一儿曰：“我</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以</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日始出时</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去</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人近，而</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日中</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时远也。”</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一儿曰：“我以日初出远，而日中时近也。”</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一儿曰:“日初出大如</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车盖</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及</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日中则如</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盘盂</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此</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不</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为</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远者小而近者大乎?”</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p:txBody>
      </p:sp>
      <p:sp>
        <p:nvSpPr>
          <p:cNvPr id="41" name="文本框 40"/>
          <p:cNvSpPr txBox="1">
            <a:spLocks noChangeArrowheads="1"/>
          </p:cNvSpPr>
          <p:nvPr/>
        </p:nvSpPr>
        <p:spPr bwMode="auto">
          <a:xfrm>
            <a:off x="1043940" y="699770"/>
            <a:ext cx="120015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到东方游历</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2" name="文本框 41"/>
          <p:cNvSpPr txBox="1">
            <a:spLocks noChangeArrowheads="1"/>
          </p:cNvSpPr>
          <p:nvPr/>
        </p:nvSpPr>
        <p:spPr bwMode="auto">
          <a:xfrm>
            <a:off x="4427813" y="700498"/>
            <a:ext cx="701096"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原因</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4" name="文本框 43"/>
          <p:cNvSpPr txBox="1">
            <a:spLocks noChangeArrowheads="1"/>
          </p:cNvSpPr>
          <p:nvPr/>
        </p:nvSpPr>
        <p:spPr bwMode="auto">
          <a:xfrm>
            <a:off x="3314065" y="1385570"/>
            <a:ext cx="728345" cy="250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距离</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文本框 15"/>
          <p:cNvSpPr txBox="1"/>
          <p:nvPr/>
        </p:nvSpPr>
        <p:spPr>
          <a:xfrm>
            <a:off x="201295" y="3291840"/>
            <a:ext cx="8816340" cy="1804670"/>
          </a:xfrm>
          <a:prstGeom prst="rect">
            <a:avLst/>
          </a:prstGeom>
          <a:noFill/>
          <a:ln w="9525">
            <a:noFill/>
          </a:ln>
        </p:spPr>
        <p:txBody>
          <a:bodyPr wrap="square">
            <a:noAutofit/>
          </a:bodyPr>
          <a:lstStyle/>
          <a:p>
            <a:pPr>
              <a:lnSpc>
                <a:spcPct val="120000"/>
              </a:lnSpc>
            </a:pPr>
            <a:r>
              <a:rPr lang="zh-CN" altLang="en-US" sz="1800" b="1" dirty="0">
                <a:latin typeface="楷体" panose="02010609060101010101" pitchFamily="49" charset="-122"/>
                <a:ea typeface="楷体" panose="02010609060101010101" pitchFamily="49" charset="-122"/>
              </a:rPr>
              <a:t>　　（一天）孔子到东方游历，看见两个小孩争辩，（于是）问他们（争斗）的原因。一个小孩说：“我认为太阳刚出来时距离人近，但到了正午时就距离人远。”（另）一个小孩说：“我认为太阳刚出来时距离人远，但是到了正午时距离人近。”前一个小孩说：“太阳刚出来的时候像车盖那样，到了正午时却（小的）像盘盂，这难道不是远的东西看起来小，而近的东西看起来大吗?”</a:t>
            </a: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p:txBody>
      </p:sp>
      <p:sp>
        <p:nvSpPr>
          <p:cNvPr id="2" name="矩形 1"/>
          <p:cNvSpPr/>
          <p:nvPr/>
        </p:nvSpPr>
        <p:spPr>
          <a:xfrm>
            <a:off x="444425" y="444418"/>
            <a:ext cx="1969770" cy="398780"/>
          </a:xfrm>
          <a:prstGeom prst="rect">
            <a:avLst/>
          </a:prstGeom>
          <a:noFill/>
          <a:ln>
            <a:noFill/>
          </a:ln>
        </p:spPr>
        <p:txBody>
          <a:bodyPr wrap="none" rtlCol="0" anchor="t">
            <a:spAutoFit/>
          </a:bodyPr>
          <a:p>
            <a:pPr algn="ctr"/>
            <a:r>
              <a:rPr lang="zh-CN" altLang="en-US" sz="20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rPr>
              <a:t>名词活用为状语</a:t>
            </a:r>
            <a:endParaRPr lang="zh-CN" altLang="en-US" sz="2000" b="1" dirty="0">
              <a:solidFill>
                <a:schemeClr val="accent1"/>
              </a:solidFill>
              <a:effectLst>
                <a:outerShdw blurRad="38100" dist="25400" dir="5400000" algn="ctr" rotWithShape="0">
                  <a:srgbClr val="6E747A">
                    <a:alpha val="43000"/>
                  </a:srgbClr>
                </a:outerShdw>
              </a:effectLst>
              <a:latin typeface="楷体" panose="02010609060101010101" pitchFamily="49" charset="-122"/>
              <a:ea typeface="楷体" panose="02010609060101010101" pitchFamily="49" charset="-122"/>
            </a:endParaRPr>
          </a:p>
        </p:txBody>
      </p:sp>
      <p:sp>
        <p:nvSpPr>
          <p:cNvPr id="4" name="文本框 3"/>
          <p:cNvSpPr txBox="1">
            <a:spLocks noChangeArrowheads="1"/>
          </p:cNvSpPr>
          <p:nvPr/>
        </p:nvSpPr>
        <p:spPr bwMode="auto">
          <a:xfrm>
            <a:off x="1548130" y="2499995"/>
            <a:ext cx="242760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古时车上遮雨蔽日的篷盖，多为圆形，像雨伞一样。</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7" name="文本框 7"/>
          <p:cNvSpPr txBox="1">
            <a:spLocks noChangeArrowheads="1"/>
          </p:cNvSpPr>
          <p:nvPr/>
        </p:nvSpPr>
        <p:spPr bwMode="auto">
          <a:xfrm>
            <a:off x="5076190" y="2571750"/>
            <a:ext cx="7867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盛物的器皿</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3" name="文本框 2"/>
          <p:cNvSpPr txBox="1">
            <a:spLocks noChangeArrowheads="1"/>
          </p:cNvSpPr>
          <p:nvPr/>
        </p:nvSpPr>
        <p:spPr bwMode="auto">
          <a:xfrm>
            <a:off x="2741295" y="699770"/>
            <a:ext cx="118935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辩论，争论</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5" name="文本框 4"/>
          <p:cNvSpPr txBox="1">
            <a:spLocks noChangeArrowheads="1"/>
          </p:cNvSpPr>
          <p:nvPr/>
        </p:nvSpPr>
        <p:spPr bwMode="auto">
          <a:xfrm>
            <a:off x="2044700" y="1348105"/>
            <a:ext cx="58293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认为</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7" name="文本框 6"/>
          <p:cNvSpPr txBox="1">
            <a:spLocks noChangeArrowheads="1"/>
          </p:cNvSpPr>
          <p:nvPr/>
        </p:nvSpPr>
        <p:spPr bwMode="auto">
          <a:xfrm>
            <a:off x="4716145" y="1275715"/>
            <a:ext cx="671830" cy="255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正午</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8" name="文本框 7"/>
          <p:cNvSpPr txBox="1">
            <a:spLocks noChangeArrowheads="1"/>
          </p:cNvSpPr>
          <p:nvPr/>
        </p:nvSpPr>
        <p:spPr bwMode="auto">
          <a:xfrm>
            <a:off x="3780155" y="2662555"/>
            <a:ext cx="93091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到，到了</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1" name="文本框 7"/>
          <p:cNvSpPr txBox="1">
            <a:spLocks noChangeArrowheads="1"/>
          </p:cNvSpPr>
          <p:nvPr/>
        </p:nvSpPr>
        <p:spPr bwMode="auto">
          <a:xfrm>
            <a:off x="5796280" y="2644140"/>
            <a:ext cx="54356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这</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2" name="文本框 7"/>
          <p:cNvSpPr txBox="1">
            <a:spLocks noChangeArrowheads="1"/>
          </p:cNvSpPr>
          <p:nvPr/>
        </p:nvSpPr>
        <p:spPr bwMode="auto">
          <a:xfrm>
            <a:off x="6245860" y="2590165"/>
            <a:ext cx="543560"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因为</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animEffect transition="in" filter="fade">
                                      <p:cBhvr>
                                        <p:cTn id="25" dur="1000"/>
                                        <p:tgtEl>
                                          <p:spTgt spid="42"/>
                                        </p:tgtEl>
                                      </p:cBhvr>
                                    </p:animEffect>
                                    <p:anim calcmode="lin" valueType="num">
                                      <p:cBhvr>
                                        <p:cTn id="26" dur="1000" fill="hold"/>
                                        <p:tgtEl>
                                          <p:spTgt spid="42"/>
                                        </p:tgtEl>
                                        <p:attrNameLst>
                                          <p:attrName>ppt_x</p:attrName>
                                        </p:attrNameLst>
                                      </p:cBhvr>
                                      <p:tavLst>
                                        <p:tav tm="0">
                                          <p:val>
                                            <p:strVal val="#ppt_x"/>
                                          </p:val>
                                        </p:tav>
                                        <p:tav tm="100000">
                                          <p:val>
                                            <p:strVal val="#ppt_x"/>
                                          </p:val>
                                        </p:tav>
                                      </p:tavLst>
                                    </p:anim>
                                    <p:anim calcmode="lin" valueType="num">
                                      <p:cBhvr>
                                        <p:cTn id="27"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1000"/>
                                        <p:tgtEl>
                                          <p:spTgt spid="5"/>
                                        </p:tgtEl>
                                      </p:cBhvr>
                                    </p:animEffect>
                                    <p:anim calcmode="lin" valueType="num">
                                      <p:cBhvr>
                                        <p:cTn id="33" dur="1000" fill="hold"/>
                                        <p:tgtEl>
                                          <p:spTgt spid="5"/>
                                        </p:tgtEl>
                                        <p:attrNameLst>
                                          <p:attrName>ppt_x</p:attrName>
                                        </p:attrNameLst>
                                      </p:cBhvr>
                                      <p:tavLst>
                                        <p:tav tm="0">
                                          <p:val>
                                            <p:strVal val="#ppt_x"/>
                                          </p:val>
                                        </p:tav>
                                        <p:tav tm="100000">
                                          <p:val>
                                            <p:strVal val="#ppt_x"/>
                                          </p:val>
                                        </p:tav>
                                      </p:tavLst>
                                    </p:anim>
                                    <p:anim calcmode="lin" valueType="num">
                                      <p:cBhvr>
                                        <p:cTn id="3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1000"/>
                                        <p:tgtEl>
                                          <p:spTgt spid="44"/>
                                        </p:tgtEl>
                                      </p:cBhvr>
                                    </p:animEffect>
                                    <p:anim calcmode="lin" valueType="num">
                                      <p:cBhvr>
                                        <p:cTn id="40" dur="1000" fill="hold"/>
                                        <p:tgtEl>
                                          <p:spTgt spid="44"/>
                                        </p:tgtEl>
                                        <p:attrNameLst>
                                          <p:attrName>ppt_x</p:attrName>
                                        </p:attrNameLst>
                                      </p:cBhvr>
                                      <p:tavLst>
                                        <p:tav tm="0">
                                          <p:val>
                                            <p:strVal val="#ppt_x"/>
                                          </p:val>
                                        </p:tav>
                                        <p:tav tm="100000">
                                          <p:val>
                                            <p:strVal val="#ppt_x"/>
                                          </p:val>
                                        </p:tav>
                                      </p:tavLst>
                                    </p:anim>
                                    <p:anim calcmode="lin" valueType="num">
                                      <p:cBhvr>
                                        <p:cTn id="41"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1000"/>
                                        <p:tgtEl>
                                          <p:spTgt spid="7"/>
                                        </p:tgtEl>
                                      </p:cBhvr>
                                    </p:animEffect>
                                    <p:anim calcmode="lin" valueType="num">
                                      <p:cBhvr>
                                        <p:cTn id="47" dur="1000" fill="hold"/>
                                        <p:tgtEl>
                                          <p:spTgt spid="7"/>
                                        </p:tgtEl>
                                        <p:attrNameLst>
                                          <p:attrName>ppt_x</p:attrName>
                                        </p:attrNameLst>
                                      </p:cBhvr>
                                      <p:tavLst>
                                        <p:tav tm="0">
                                          <p:val>
                                            <p:strVal val="#ppt_x"/>
                                          </p:val>
                                        </p:tav>
                                        <p:tav tm="100000">
                                          <p:val>
                                            <p:strVal val="#ppt_x"/>
                                          </p:val>
                                        </p:tav>
                                      </p:tavLst>
                                    </p:anim>
                                    <p:anim calcmode="lin" valueType="num">
                                      <p:cBhvr>
                                        <p:cTn id="4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grpId="0" nodeType="click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1000"/>
                                        <p:tgtEl>
                                          <p:spTgt spid="4"/>
                                        </p:tgtEl>
                                      </p:cBhvr>
                                    </p:animEffect>
                                    <p:anim calcmode="lin" valueType="num">
                                      <p:cBhvr>
                                        <p:cTn id="54" dur="1000" fill="hold"/>
                                        <p:tgtEl>
                                          <p:spTgt spid="4"/>
                                        </p:tgtEl>
                                        <p:attrNameLst>
                                          <p:attrName>ppt_x</p:attrName>
                                        </p:attrNameLst>
                                      </p:cBhvr>
                                      <p:tavLst>
                                        <p:tav tm="0">
                                          <p:val>
                                            <p:strVal val="#ppt_x"/>
                                          </p:val>
                                        </p:tav>
                                        <p:tav tm="100000">
                                          <p:val>
                                            <p:strVal val="#ppt_x"/>
                                          </p:val>
                                        </p:tav>
                                      </p:tavLst>
                                    </p:anim>
                                    <p:anim calcmode="lin" valueType="num">
                                      <p:cBhvr>
                                        <p:cTn id="5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1000"/>
                                        <p:tgtEl>
                                          <p:spTgt spid="8"/>
                                        </p:tgtEl>
                                      </p:cBhvr>
                                    </p:animEffect>
                                    <p:anim calcmode="lin" valueType="num">
                                      <p:cBhvr>
                                        <p:cTn id="61" dur="1000" fill="hold"/>
                                        <p:tgtEl>
                                          <p:spTgt spid="8"/>
                                        </p:tgtEl>
                                        <p:attrNameLst>
                                          <p:attrName>ppt_x</p:attrName>
                                        </p:attrNameLst>
                                      </p:cBhvr>
                                      <p:tavLst>
                                        <p:tav tm="0">
                                          <p:val>
                                            <p:strVal val="#ppt_x"/>
                                          </p:val>
                                        </p:tav>
                                        <p:tav tm="100000">
                                          <p:val>
                                            <p:strVal val="#ppt_x"/>
                                          </p:val>
                                        </p:tav>
                                      </p:tavLst>
                                    </p:anim>
                                    <p:anim calcmode="lin" valueType="num">
                                      <p:cBhvr>
                                        <p:cTn id="6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1000"/>
                                        <p:tgtEl>
                                          <p:spTgt spid="47"/>
                                        </p:tgtEl>
                                      </p:cBhvr>
                                    </p:animEffect>
                                    <p:anim calcmode="lin" valueType="num">
                                      <p:cBhvr>
                                        <p:cTn id="68" dur="1000" fill="hold"/>
                                        <p:tgtEl>
                                          <p:spTgt spid="47"/>
                                        </p:tgtEl>
                                        <p:attrNameLst>
                                          <p:attrName>ppt_x</p:attrName>
                                        </p:attrNameLst>
                                      </p:cBhvr>
                                      <p:tavLst>
                                        <p:tav tm="0">
                                          <p:val>
                                            <p:strVal val="#ppt_x"/>
                                          </p:val>
                                        </p:tav>
                                        <p:tav tm="100000">
                                          <p:val>
                                            <p:strVal val="#ppt_x"/>
                                          </p:val>
                                        </p:tav>
                                      </p:tavLst>
                                    </p:anim>
                                    <p:anim calcmode="lin" valueType="num">
                                      <p:cBhvr>
                                        <p:cTn id="69"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1000"/>
                                        <p:tgtEl>
                                          <p:spTgt spid="11"/>
                                        </p:tgtEl>
                                      </p:cBhvr>
                                    </p:animEffect>
                                    <p:anim calcmode="lin" valueType="num">
                                      <p:cBhvr>
                                        <p:cTn id="75" dur="1000" fill="hold"/>
                                        <p:tgtEl>
                                          <p:spTgt spid="11"/>
                                        </p:tgtEl>
                                        <p:attrNameLst>
                                          <p:attrName>ppt_x</p:attrName>
                                        </p:attrNameLst>
                                      </p:cBhvr>
                                      <p:tavLst>
                                        <p:tav tm="0">
                                          <p:val>
                                            <p:strVal val="#ppt_x"/>
                                          </p:val>
                                        </p:tav>
                                        <p:tav tm="100000">
                                          <p:val>
                                            <p:strVal val="#ppt_x"/>
                                          </p:val>
                                        </p:tav>
                                      </p:tavLst>
                                    </p:anim>
                                    <p:anim calcmode="lin" valueType="num">
                                      <p:cBhvr>
                                        <p:cTn id="7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1000"/>
                                        <p:tgtEl>
                                          <p:spTgt spid="12"/>
                                        </p:tgtEl>
                                      </p:cBhvr>
                                    </p:animEffect>
                                    <p:anim calcmode="lin" valueType="num">
                                      <p:cBhvr>
                                        <p:cTn id="82" dur="1000" fill="hold"/>
                                        <p:tgtEl>
                                          <p:spTgt spid="12"/>
                                        </p:tgtEl>
                                        <p:attrNameLst>
                                          <p:attrName>ppt_x</p:attrName>
                                        </p:attrNameLst>
                                      </p:cBhvr>
                                      <p:tavLst>
                                        <p:tav tm="0">
                                          <p:val>
                                            <p:strVal val="#ppt_x"/>
                                          </p:val>
                                        </p:tav>
                                        <p:tav tm="100000">
                                          <p:val>
                                            <p:strVal val="#ppt_x"/>
                                          </p:val>
                                        </p:tav>
                                      </p:tavLst>
                                    </p:anim>
                                    <p:anim calcmode="lin" valueType="num">
                                      <p:cBhvr>
                                        <p:cTn id="8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1000"/>
                                        <p:tgtEl>
                                          <p:spTgt spid="16"/>
                                        </p:tgtEl>
                                      </p:cBhvr>
                                    </p:animEffect>
                                    <p:anim calcmode="lin" valueType="num">
                                      <p:cBhvr>
                                        <p:cTn id="89" dur="1000" fill="hold"/>
                                        <p:tgtEl>
                                          <p:spTgt spid="16"/>
                                        </p:tgtEl>
                                        <p:attrNameLst>
                                          <p:attrName>ppt_x</p:attrName>
                                        </p:attrNameLst>
                                      </p:cBhvr>
                                      <p:tavLst>
                                        <p:tav tm="0">
                                          <p:val>
                                            <p:strVal val="#ppt_x"/>
                                          </p:val>
                                        </p:tav>
                                        <p:tav tm="100000">
                                          <p:val>
                                            <p:strVal val="#ppt_x"/>
                                          </p:val>
                                        </p:tav>
                                      </p:tavLst>
                                    </p:anim>
                                    <p:anim calcmode="lin" valueType="num">
                                      <p:cBhvr>
                                        <p:cTn id="9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44" grpId="0"/>
      <p:bldP spid="16" grpId="0"/>
      <p:bldP spid="4" grpId="0"/>
      <p:bldP spid="47" grpId="0"/>
      <p:bldP spid="3" grpId="0"/>
      <p:bldP spid="5" grpId="0"/>
      <p:bldP spid="7" grpId="0"/>
      <p:bldP spid="8" grpId="0"/>
      <p:bldP spid="11" grpId="0"/>
      <p:bldP spid="1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p:cNvSpPr txBox="1">
            <a:spLocks noChangeArrowheads="1"/>
          </p:cNvSpPr>
          <p:nvPr/>
        </p:nvSpPr>
        <p:spPr bwMode="auto">
          <a:xfrm>
            <a:off x="201295" y="563245"/>
            <a:ext cx="8794115" cy="2799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220000"/>
              </a:lnSpc>
            </a:pPr>
            <a:r>
              <a:rPr lang="en-US" altLang="zh-CN" sz="2000" dirty="0">
                <a:latin typeface="黑体" panose="02010609060101010101" pitchFamily="49" charset="-122"/>
                <a:ea typeface="黑体" panose="02010609060101010101" pitchFamily="49" charset="-122"/>
                <a:sym typeface="宋体" panose="02010600030101010101" pitchFamily="2" charset="-122"/>
              </a:rPr>
              <a:t>  </a:t>
            </a: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一儿曰:“日初出</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沧沧凉凉</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，及其日中如</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探汤</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，此不为近者热而远者凉乎?”</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孔子不能</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决</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也。</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en-US" altLang="zh-CN"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两小儿笑曰：“</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孰</a:t>
            </a:r>
            <a:r>
              <a:rPr lang="en-US" altLang="zh-CN"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为</a:t>
            </a:r>
            <a:r>
              <a:rPr lang="en-US" altLang="zh-CN"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    </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汝</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多</a:t>
            </a:r>
            <a:r>
              <a:rPr lang="zh-CN" altLang="en-US" sz="2000" b="1" dirty="0">
                <a:solidFill>
                  <a:srgbClr val="2E89CE"/>
                </a:solidFill>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知</a:t>
            </a:r>
            <a:r>
              <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乎?”</a:t>
            </a: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a:p>
            <a:pPr eaLnBrk="1" hangingPunct="1">
              <a:lnSpc>
                <a:spcPct val="220000"/>
              </a:lnSpc>
            </a:pPr>
            <a:endParaRPr lang="zh-CN" altLang="en-US" sz="2000" b="1" dirty="0">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p:txBody>
      </p:sp>
      <p:sp>
        <p:nvSpPr>
          <p:cNvPr id="41" name="文本框 40"/>
          <p:cNvSpPr txBox="1">
            <a:spLocks noChangeArrowheads="1"/>
          </p:cNvSpPr>
          <p:nvPr/>
        </p:nvSpPr>
        <p:spPr bwMode="auto">
          <a:xfrm>
            <a:off x="2580005" y="483870"/>
            <a:ext cx="120015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清凉的感觉</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沧沧：寒冷。</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2" name="文本框 41"/>
          <p:cNvSpPr txBox="1">
            <a:spLocks noChangeArrowheads="1"/>
          </p:cNvSpPr>
          <p:nvPr/>
        </p:nvSpPr>
        <p:spPr bwMode="auto">
          <a:xfrm>
            <a:off x="1259840" y="1348105"/>
            <a:ext cx="1340485" cy="306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分辨，判断</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6" name="文本框 15"/>
          <p:cNvSpPr txBox="1"/>
          <p:nvPr/>
        </p:nvSpPr>
        <p:spPr>
          <a:xfrm>
            <a:off x="201295" y="3291840"/>
            <a:ext cx="8816340" cy="1425575"/>
          </a:xfrm>
          <a:prstGeom prst="rect">
            <a:avLst/>
          </a:prstGeom>
          <a:noFill/>
          <a:ln w="9525">
            <a:noFill/>
          </a:ln>
        </p:spPr>
        <p:txBody>
          <a:bodyPr wrap="square">
            <a:noAutofit/>
          </a:bodyPr>
          <a:lstStyle/>
          <a:p>
            <a:pPr>
              <a:lnSpc>
                <a:spcPct val="120000"/>
              </a:lnSpc>
            </a:pPr>
            <a:r>
              <a:rPr lang="zh-CN" altLang="en-US" sz="1800" b="1" dirty="0">
                <a:latin typeface="楷体" panose="02010609060101010101" pitchFamily="49" charset="-122"/>
                <a:ea typeface="楷体" panose="02010609060101010101" pitchFamily="49" charset="-122"/>
              </a:rPr>
              <a:t>　　后一个小孩说：“太阳刚出来的时候（天气）清凉，到了正午的时候（天气）（就热得）像把手伸进热水里面一样烫，这不是近的东西（让人感觉）热，而远的东西（让人感觉）凉吗？”孔子不能判断（谁是谁非）。两个小孩儿笑着说： “谁说你多智慧呢？”</a:t>
            </a: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a:p>
            <a:pPr>
              <a:lnSpc>
                <a:spcPct val="120000"/>
              </a:lnSpc>
            </a:pPr>
            <a:endParaRPr lang="zh-CN" altLang="en-US" sz="1800" b="1" dirty="0">
              <a:latin typeface="楷体" panose="02010609060101010101" pitchFamily="49" charset="-122"/>
              <a:ea typeface="楷体" panose="02010609060101010101" pitchFamily="49" charset="-122"/>
            </a:endParaRPr>
          </a:p>
        </p:txBody>
      </p:sp>
      <p:sp>
        <p:nvSpPr>
          <p:cNvPr id="4" name="文本框 3"/>
          <p:cNvSpPr txBox="1">
            <a:spLocks noChangeArrowheads="1"/>
          </p:cNvSpPr>
          <p:nvPr/>
        </p:nvSpPr>
        <p:spPr bwMode="auto">
          <a:xfrm>
            <a:off x="2195830" y="1997075"/>
            <a:ext cx="464820" cy="3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谁</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47" name="文本框 7"/>
          <p:cNvSpPr txBox="1">
            <a:spLocks noChangeArrowheads="1"/>
          </p:cNvSpPr>
          <p:nvPr/>
        </p:nvSpPr>
        <p:spPr bwMode="auto">
          <a:xfrm>
            <a:off x="3636010" y="1924050"/>
            <a:ext cx="572135" cy="231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你</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3" name="文本框 2"/>
          <p:cNvSpPr txBox="1">
            <a:spLocks noChangeArrowheads="1"/>
          </p:cNvSpPr>
          <p:nvPr/>
        </p:nvSpPr>
        <p:spPr bwMode="auto">
          <a:xfrm>
            <a:off x="4500245" y="412115"/>
            <a:ext cx="24257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把手伸到热水里去。这里指天气很热。汤：热水，开水。</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8" name="文本框 7"/>
          <p:cNvSpPr txBox="1">
            <a:spLocks noChangeArrowheads="1"/>
          </p:cNvSpPr>
          <p:nvPr/>
        </p:nvSpPr>
        <p:spPr bwMode="auto">
          <a:xfrm>
            <a:off x="2600325" y="1781175"/>
            <a:ext cx="93091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同“谓”，认为。</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
        <p:nvSpPr>
          <p:cNvPr id="11" name="文本框 7"/>
          <p:cNvSpPr txBox="1">
            <a:spLocks noChangeArrowheads="1"/>
          </p:cNvSpPr>
          <p:nvPr/>
        </p:nvSpPr>
        <p:spPr bwMode="auto">
          <a:xfrm>
            <a:off x="3996055" y="1781175"/>
            <a:ext cx="93027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rPr>
              <a:t>同“智”，智慧。</a:t>
            </a:r>
            <a:endParaRPr lang="zh-CN" altLang="en-US" sz="1400" b="1">
              <a:solidFill>
                <a:srgbClr val="FF0000"/>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anim calcmode="lin" valueType="num">
                                      <p:cBhvr>
                                        <p:cTn id="8" dur="1000" fill="hold"/>
                                        <p:tgtEl>
                                          <p:spTgt spid="41"/>
                                        </p:tgtEl>
                                        <p:attrNameLst>
                                          <p:attrName>ppt_x</p:attrName>
                                        </p:attrNameLst>
                                      </p:cBhvr>
                                      <p:tavLst>
                                        <p:tav tm="0">
                                          <p:val>
                                            <p:strVal val="#ppt_x"/>
                                          </p:val>
                                        </p:tav>
                                        <p:tav tm="100000">
                                          <p:val>
                                            <p:strVal val="#ppt_x"/>
                                          </p:val>
                                        </p:tav>
                                      </p:tavLst>
                                    </p:anim>
                                    <p:anim calcmode="lin" valueType="num">
                                      <p:cBhvr>
                                        <p:cTn id="9"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animEffect transition="in" filter="fade">
                                      <p:cBhvr>
                                        <p:cTn id="21" dur="1000"/>
                                        <p:tgtEl>
                                          <p:spTgt spid="42"/>
                                        </p:tgtEl>
                                      </p:cBhvr>
                                    </p:animEffect>
                                    <p:anim calcmode="lin" valueType="num">
                                      <p:cBhvr>
                                        <p:cTn id="22" dur="1000" fill="hold"/>
                                        <p:tgtEl>
                                          <p:spTgt spid="42"/>
                                        </p:tgtEl>
                                        <p:attrNameLst>
                                          <p:attrName>ppt_x</p:attrName>
                                        </p:attrNameLst>
                                      </p:cBhvr>
                                      <p:tavLst>
                                        <p:tav tm="0">
                                          <p:val>
                                            <p:strVal val="#ppt_x"/>
                                          </p:val>
                                        </p:tav>
                                        <p:tav tm="100000">
                                          <p:val>
                                            <p:strVal val="#ppt_x"/>
                                          </p:val>
                                        </p:tav>
                                      </p:tavLst>
                                    </p:anim>
                                    <p:anim calcmode="lin" valueType="num">
                                      <p:cBhvr>
                                        <p:cTn id="23"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anim calcmode="lin" valueType="num">
                                      <p:cBhvr>
                                        <p:cTn id="29" dur="1000" fill="hold"/>
                                        <p:tgtEl>
                                          <p:spTgt spid="4"/>
                                        </p:tgtEl>
                                        <p:attrNameLst>
                                          <p:attrName>ppt_x</p:attrName>
                                        </p:attrNameLst>
                                      </p:cBhvr>
                                      <p:tavLst>
                                        <p:tav tm="0">
                                          <p:val>
                                            <p:strVal val="#ppt_x"/>
                                          </p:val>
                                        </p:tav>
                                        <p:tav tm="100000">
                                          <p:val>
                                            <p:strVal val="#ppt_x"/>
                                          </p:val>
                                        </p:tav>
                                      </p:tavLst>
                                    </p:anim>
                                    <p:anim calcmode="lin" valueType="num">
                                      <p:cBhvr>
                                        <p:cTn id="3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1000"/>
                                        <p:tgtEl>
                                          <p:spTgt spid="47"/>
                                        </p:tgtEl>
                                      </p:cBhvr>
                                    </p:animEffect>
                                    <p:anim calcmode="lin" valueType="num">
                                      <p:cBhvr>
                                        <p:cTn id="43" dur="1000" fill="hold"/>
                                        <p:tgtEl>
                                          <p:spTgt spid="47"/>
                                        </p:tgtEl>
                                        <p:attrNameLst>
                                          <p:attrName>ppt_x</p:attrName>
                                        </p:attrNameLst>
                                      </p:cBhvr>
                                      <p:tavLst>
                                        <p:tav tm="0">
                                          <p:val>
                                            <p:strVal val="#ppt_x"/>
                                          </p:val>
                                        </p:tav>
                                        <p:tav tm="100000">
                                          <p:val>
                                            <p:strVal val="#ppt_x"/>
                                          </p:val>
                                        </p:tav>
                                      </p:tavLst>
                                    </p:anim>
                                    <p:anim calcmode="lin" valueType="num">
                                      <p:cBhvr>
                                        <p:cTn id="44" dur="1000" fill="hold"/>
                                        <p:tgtEl>
                                          <p:spTgt spid="4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1000"/>
                                        <p:tgtEl>
                                          <p:spTgt spid="16"/>
                                        </p:tgtEl>
                                      </p:cBhvr>
                                    </p:animEffect>
                                    <p:anim calcmode="lin" valueType="num">
                                      <p:cBhvr>
                                        <p:cTn id="57" dur="1000" fill="hold"/>
                                        <p:tgtEl>
                                          <p:spTgt spid="16"/>
                                        </p:tgtEl>
                                        <p:attrNameLst>
                                          <p:attrName>ppt_x</p:attrName>
                                        </p:attrNameLst>
                                      </p:cBhvr>
                                      <p:tavLst>
                                        <p:tav tm="0">
                                          <p:val>
                                            <p:strVal val="#ppt_x"/>
                                          </p:val>
                                        </p:tav>
                                        <p:tav tm="100000">
                                          <p:val>
                                            <p:strVal val="#ppt_x"/>
                                          </p:val>
                                        </p:tav>
                                      </p:tavLst>
                                    </p:anim>
                                    <p:anim calcmode="lin" valueType="num">
                                      <p:cBhvr>
                                        <p:cTn id="58"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p:bldP spid="16" grpId="0"/>
      <p:bldP spid="4" grpId="0"/>
      <p:bldP spid="47" grpId="0"/>
      <p:bldP spid="3" grpId="0"/>
      <p:bldP spid="8" grpId="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8"/>
          <p:cNvSpPr txBox="1"/>
          <p:nvPr/>
        </p:nvSpPr>
        <p:spPr>
          <a:xfrm>
            <a:off x="323215" y="123825"/>
            <a:ext cx="8246745" cy="4857115"/>
          </a:xfrm>
          <a:prstGeom prst="rect">
            <a:avLst/>
          </a:prstGeom>
          <a:noFill/>
          <a:ln w="19050">
            <a:noFill/>
          </a:ln>
        </p:spPr>
        <p:txBody>
          <a:bodyPr wrap="square" lIns="61217" tIns="30608" rIns="61217" bIns="30608" anchor="t">
            <a:spAutoFit/>
          </a:bodyPr>
          <a:lstStyle/>
          <a:p>
            <a:pPr algn="just" defTabSz="685800" fontAlgn="base">
              <a:lnSpc>
                <a:spcPct val="130000"/>
              </a:lnSpc>
              <a:spcBef>
                <a:spcPct val="0"/>
              </a:spcBef>
              <a:spcAft>
                <a:spcPct val="0"/>
              </a:spcAft>
            </a:pPr>
            <a:r>
              <a:rPr lang="en-US" altLang="zh-CN" sz="2400" b="1" dirty="0">
                <a:solidFill>
                  <a:srgbClr val="000000"/>
                </a:solidFill>
                <a:latin typeface="楷体" panose="02010609060101010101" pitchFamily="49" charset="-122"/>
                <a:ea typeface="楷体" panose="02010609060101010101" pitchFamily="49" charset="-122"/>
              </a:rPr>
              <a:t>    </a:t>
            </a:r>
            <a:r>
              <a:rPr lang="zh-CN" altLang="zh-CN" sz="2400" b="1" dirty="0">
                <a:solidFill>
                  <a:srgbClr val="000000"/>
                </a:solidFill>
                <a:latin typeface="楷体" panose="02010609060101010101" pitchFamily="49" charset="-122"/>
                <a:ea typeface="楷体" panose="02010609060101010101" pitchFamily="49" charset="-122"/>
              </a:rPr>
              <a:t>孔子</a:t>
            </a:r>
            <a:r>
              <a:rPr lang="zh-CN" altLang="en-US" sz="2400" b="1" dirty="0">
                <a:solidFill>
                  <a:srgbClr val="000000"/>
                </a:solidFill>
                <a:latin typeface="楷体" panose="02010609060101010101" pitchFamily="49" charset="-122"/>
                <a:ea typeface="楷体" panose="02010609060101010101" pitchFamily="49" charset="-122"/>
              </a:rPr>
              <a:t>，名</a:t>
            </a:r>
            <a:r>
              <a:rPr lang="zh-CN" altLang="en-US" sz="2400" b="1" dirty="0">
                <a:solidFill>
                  <a:srgbClr val="FF0000"/>
                </a:solidFill>
                <a:latin typeface="楷体" panose="02010609060101010101" pitchFamily="49" charset="-122"/>
                <a:ea typeface="楷体" panose="02010609060101010101" pitchFamily="49" charset="-122"/>
              </a:rPr>
              <a:t>丘</a:t>
            </a:r>
            <a:r>
              <a:rPr lang="zh-CN" altLang="en-US" sz="2400" b="1" dirty="0">
                <a:solidFill>
                  <a:srgbClr val="000000"/>
                </a:solidFill>
                <a:latin typeface="楷体" panose="02010609060101010101" pitchFamily="49" charset="-122"/>
                <a:ea typeface="楷体" panose="02010609060101010101" pitchFamily="49" charset="-122"/>
              </a:rPr>
              <a:t>，字</a:t>
            </a:r>
            <a:r>
              <a:rPr lang="zh-CN" altLang="en-US" sz="2400" b="1" dirty="0">
                <a:solidFill>
                  <a:srgbClr val="FF0000"/>
                </a:solidFill>
                <a:latin typeface="楷体" panose="02010609060101010101" pitchFamily="49" charset="-122"/>
                <a:ea typeface="楷体" panose="02010609060101010101" pitchFamily="49" charset="-122"/>
              </a:rPr>
              <a:t>仲尼</a:t>
            </a:r>
            <a:r>
              <a:rPr lang="zh-CN" altLang="en-US" sz="2400" b="1" dirty="0">
                <a:solidFill>
                  <a:srgbClr val="000000"/>
                </a:solidFill>
                <a:latin typeface="楷体" panose="02010609060101010101" pitchFamily="49" charset="-122"/>
                <a:ea typeface="楷体" panose="02010609060101010101" pitchFamily="49" charset="-122"/>
              </a:rPr>
              <a:t>，</a:t>
            </a:r>
            <a:r>
              <a:rPr lang="zh-CN" altLang="en-US" sz="2400" b="1" dirty="0">
                <a:solidFill>
                  <a:srgbClr val="FF0000"/>
                </a:solidFill>
                <a:latin typeface="楷体" panose="02010609060101010101" pitchFamily="49" charset="-122"/>
                <a:ea typeface="楷体" panose="02010609060101010101" pitchFamily="49" charset="-122"/>
              </a:rPr>
              <a:t>春秋</a:t>
            </a:r>
            <a:r>
              <a:rPr lang="zh-CN" altLang="en-US" sz="2400" b="1" dirty="0">
                <a:solidFill>
                  <a:srgbClr val="000000"/>
                </a:solidFill>
                <a:latin typeface="楷体" panose="02010609060101010101" pitchFamily="49" charset="-122"/>
                <a:ea typeface="楷体" panose="02010609060101010101" pitchFamily="49" charset="-122"/>
              </a:rPr>
              <a:t>末期思想家、政治家、教育家，</a:t>
            </a:r>
            <a:r>
              <a:rPr lang="zh-CN" altLang="en-US" sz="2400" b="1" dirty="0">
                <a:solidFill>
                  <a:srgbClr val="FF0000"/>
                </a:solidFill>
                <a:latin typeface="楷体" panose="02010609060101010101" pitchFamily="49" charset="-122"/>
                <a:ea typeface="楷体" panose="02010609060101010101" pitchFamily="49" charset="-122"/>
              </a:rPr>
              <a:t>儒家</a:t>
            </a:r>
            <a:r>
              <a:rPr lang="zh-CN" altLang="en-US" sz="2400" b="1" dirty="0">
                <a:solidFill>
                  <a:srgbClr val="000000"/>
                </a:solidFill>
                <a:latin typeface="楷体" panose="02010609060101010101" pitchFamily="49" charset="-122"/>
                <a:ea typeface="楷体" panose="02010609060101010101" pitchFamily="49" charset="-122"/>
              </a:rPr>
              <a:t>学派代表人物，被称为</a:t>
            </a:r>
            <a:r>
              <a:rPr lang="en-US" altLang="zh-CN" sz="2400" b="1" dirty="0">
                <a:solidFill>
                  <a:srgbClr val="FF0000"/>
                </a:solidFill>
                <a:latin typeface="楷体" panose="02010609060101010101" pitchFamily="49" charset="-122"/>
                <a:ea typeface="楷体" panose="02010609060101010101" pitchFamily="49" charset="-122"/>
              </a:rPr>
              <a:t>“</a:t>
            </a:r>
            <a:r>
              <a:rPr lang="zh-CN" altLang="en-US" sz="2400" b="1" dirty="0">
                <a:solidFill>
                  <a:srgbClr val="FF0000"/>
                </a:solidFill>
                <a:latin typeface="楷体" panose="02010609060101010101" pitchFamily="49" charset="-122"/>
                <a:ea typeface="楷体" panose="02010609060101010101" pitchFamily="49" charset="-122"/>
              </a:rPr>
              <a:t>至圣</a:t>
            </a:r>
            <a:r>
              <a:rPr lang="en-US" altLang="zh-CN" sz="2400" b="1" dirty="0">
                <a:solidFill>
                  <a:srgbClr val="FF0000"/>
                </a:solidFill>
                <a:latin typeface="楷体" panose="02010609060101010101" pitchFamily="49" charset="-122"/>
                <a:ea typeface="楷体" panose="02010609060101010101" pitchFamily="49" charset="-122"/>
              </a:rPr>
              <a:t>”</a:t>
            </a:r>
            <a:r>
              <a:rPr lang="zh-CN" altLang="en-US" sz="2400" b="1" dirty="0">
                <a:solidFill>
                  <a:srgbClr val="000000"/>
                </a:solidFill>
                <a:latin typeface="楷体" panose="02010609060101010101" pitchFamily="49" charset="-122"/>
                <a:ea typeface="楷体" panose="02010609060101010101" pitchFamily="49" charset="-122"/>
              </a:rPr>
              <a:t>。记录其言行的书籍是</a:t>
            </a:r>
            <a:r>
              <a:rPr lang="zh-CN" altLang="en-US" sz="2400" b="1" dirty="0">
                <a:solidFill>
                  <a:srgbClr val="FF0000"/>
                </a:solidFill>
                <a:latin typeface="楷体" panose="02010609060101010101" pitchFamily="49" charset="-122"/>
                <a:ea typeface="楷体" panose="02010609060101010101" pitchFamily="49" charset="-122"/>
              </a:rPr>
              <a:t>《论语》</a:t>
            </a:r>
            <a:r>
              <a:rPr lang="zh-CN" altLang="en-US" sz="2400" b="1" dirty="0">
                <a:solidFill>
                  <a:srgbClr val="000000"/>
                </a:solidFill>
                <a:latin typeface="楷体" panose="02010609060101010101" pitchFamily="49" charset="-122"/>
                <a:ea typeface="楷体" panose="02010609060101010101" pitchFamily="49" charset="-122"/>
              </a:rPr>
              <a:t>。</a:t>
            </a:r>
            <a:endParaRPr lang="zh-CN" altLang="en-US" sz="2400" b="1" dirty="0">
              <a:solidFill>
                <a:srgbClr val="000000"/>
              </a:solidFill>
              <a:latin typeface="楷体" panose="02010609060101010101" pitchFamily="49" charset="-122"/>
              <a:ea typeface="楷体" panose="02010609060101010101" pitchFamily="49" charset="-122"/>
            </a:endParaRPr>
          </a:p>
          <a:p>
            <a:pPr algn="just" defTabSz="685800" fontAlgn="base">
              <a:lnSpc>
                <a:spcPct val="130000"/>
              </a:lnSpc>
              <a:spcBef>
                <a:spcPct val="0"/>
              </a:spcBef>
              <a:spcAft>
                <a:spcPct val="0"/>
              </a:spcAft>
            </a:pPr>
            <a:r>
              <a:rPr lang="en-US" altLang="zh-CN" sz="2400" b="1" dirty="0">
                <a:solidFill>
                  <a:srgbClr val="000000"/>
                </a:solidFill>
                <a:latin typeface="楷体" panose="02010609060101010101" pitchFamily="49" charset="-122"/>
                <a:ea typeface="楷体" panose="02010609060101010101" pitchFamily="49" charset="-122"/>
              </a:rPr>
              <a:t>    </a:t>
            </a:r>
            <a:r>
              <a:rPr lang="zh-CN" altLang="en-US" sz="2400" b="1" dirty="0">
                <a:solidFill>
                  <a:srgbClr val="000000"/>
                </a:solidFill>
                <a:latin typeface="楷体" panose="02010609060101010101" pitchFamily="49" charset="-122"/>
                <a:ea typeface="楷体" panose="02010609060101010101" pitchFamily="49" charset="-122"/>
              </a:rPr>
              <a:t>本文选自</a:t>
            </a:r>
            <a:r>
              <a:rPr lang="zh-CN" altLang="en-US" sz="2400" b="1" dirty="0">
                <a:solidFill>
                  <a:srgbClr val="FF0000"/>
                </a:solidFill>
                <a:latin typeface="楷体" panose="02010609060101010101" pitchFamily="49" charset="-122"/>
                <a:ea typeface="楷体" panose="02010609060101010101" pitchFamily="49" charset="-122"/>
              </a:rPr>
              <a:t>《列子</a:t>
            </a:r>
            <a:r>
              <a:rPr lang="en-US" altLang="zh-CN" sz="2400" b="1" dirty="0">
                <a:solidFill>
                  <a:srgbClr val="FF0000"/>
                </a:solidFill>
                <a:latin typeface="楷体" panose="02010609060101010101" pitchFamily="49" charset="-122"/>
                <a:ea typeface="楷体" panose="02010609060101010101" pitchFamily="49" charset="-122"/>
              </a:rPr>
              <a:t>·</a:t>
            </a:r>
            <a:r>
              <a:rPr lang="zh-CN" altLang="en-US" sz="2400" b="1" dirty="0">
                <a:solidFill>
                  <a:srgbClr val="FF0000"/>
                </a:solidFill>
                <a:latin typeface="楷体" panose="02010609060101010101" pitchFamily="49" charset="-122"/>
                <a:ea typeface="楷体" panose="02010609060101010101" pitchFamily="49" charset="-122"/>
              </a:rPr>
              <a:t>汤问》</a:t>
            </a:r>
            <a:r>
              <a:rPr lang="zh-CN" altLang="en-US" sz="2400" b="1" dirty="0">
                <a:solidFill>
                  <a:srgbClr val="000000"/>
                </a:solidFill>
                <a:latin typeface="楷体" panose="02010609060101010101" pitchFamily="49" charset="-122"/>
                <a:ea typeface="楷体" panose="02010609060101010101" pitchFamily="49" charset="-122"/>
              </a:rPr>
              <a:t>。旧题为</a:t>
            </a:r>
            <a:r>
              <a:rPr lang="zh-CN" altLang="en-US" sz="2400" b="1" dirty="0">
                <a:solidFill>
                  <a:srgbClr val="FF0000"/>
                </a:solidFill>
                <a:latin typeface="楷体" panose="02010609060101010101" pitchFamily="49" charset="-122"/>
                <a:ea typeface="楷体" panose="02010609060101010101" pitchFamily="49" charset="-122"/>
              </a:rPr>
              <a:t>列御寇</a:t>
            </a:r>
            <a:r>
              <a:rPr lang="zh-CN" altLang="en-US" sz="2400" b="1" dirty="0">
                <a:solidFill>
                  <a:srgbClr val="000000"/>
                </a:solidFill>
                <a:latin typeface="楷体" panose="02010609060101010101" pitchFamily="49" charset="-122"/>
                <a:ea typeface="楷体" panose="02010609060101010101" pitchFamily="49" charset="-122"/>
              </a:rPr>
              <a:t>著。相传是</a:t>
            </a:r>
            <a:r>
              <a:rPr lang="zh-CN" altLang="en-US" sz="2400" b="1" dirty="0">
                <a:solidFill>
                  <a:srgbClr val="FF0000"/>
                </a:solidFill>
                <a:latin typeface="楷体" panose="02010609060101010101" pitchFamily="49" charset="-122"/>
                <a:ea typeface="楷体" panose="02010609060101010101" pitchFamily="49" charset="-122"/>
              </a:rPr>
              <a:t>战国</a:t>
            </a:r>
            <a:r>
              <a:rPr lang="zh-CN" altLang="en-US" sz="2400" b="1" dirty="0">
                <a:solidFill>
                  <a:srgbClr val="000000"/>
                </a:solidFill>
                <a:latin typeface="楷体" panose="02010609060101010101" pitchFamily="49" charset="-122"/>
                <a:ea typeface="楷体" panose="02010609060101010101" pitchFamily="49" charset="-122"/>
              </a:rPr>
              <a:t>时的</a:t>
            </a:r>
            <a:r>
              <a:rPr lang="zh-CN" altLang="en-US" sz="2400" b="1" dirty="0">
                <a:solidFill>
                  <a:srgbClr val="FF0000"/>
                </a:solidFill>
                <a:latin typeface="楷体" panose="02010609060101010101" pitchFamily="49" charset="-122"/>
                <a:ea typeface="楷体" panose="02010609060101010101" pitchFamily="49" charset="-122"/>
              </a:rPr>
              <a:t>道家</a:t>
            </a:r>
            <a:r>
              <a:rPr lang="zh-CN" altLang="en-US" sz="2400" b="1" dirty="0">
                <a:solidFill>
                  <a:srgbClr val="000000"/>
                </a:solidFill>
                <a:latin typeface="楷体" panose="02010609060101010101" pitchFamily="49" charset="-122"/>
                <a:ea typeface="楷体" panose="02010609060101010101" pitchFamily="49" charset="-122"/>
              </a:rPr>
              <a:t>人物，郑国人。</a:t>
            </a:r>
            <a:endParaRPr lang="zh-CN" altLang="en-US" sz="2400" b="1" dirty="0">
              <a:solidFill>
                <a:srgbClr val="000000"/>
              </a:solidFill>
              <a:latin typeface="楷体" panose="02010609060101010101" pitchFamily="49" charset="-122"/>
              <a:ea typeface="楷体" panose="02010609060101010101" pitchFamily="49" charset="-122"/>
            </a:endParaRPr>
          </a:p>
          <a:p>
            <a:pPr algn="just" defTabSz="685800" fontAlgn="base">
              <a:lnSpc>
                <a:spcPct val="130000"/>
              </a:lnSpc>
              <a:spcBef>
                <a:spcPct val="0"/>
              </a:spcBef>
              <a:spcAft>
                <a:spcPct val="0"/>
              </a:spcAft>
            </a:pPr>
            <a:endParaRPr lang="zh-CN" altLang="en-US" sz="2400" b="1" dirty="0">
              <a:solidFill>
                <a:srgbClr val="000000"/>
              </a:solidFill>
              <a:latin typeface="楷体" panose="02010609060101010101" pitchFamily="49" charset="-122"/>
              <a:ea typeface="楷体" panose="02010609060101010101" pitchFamily="49" charset="-122"/>
            </a:endParaRPr>
          </a:p>
          <a:p>
            <a:pPr algn="just" defTabSz="685800" fontAlgn="base">
              <a:lnSpc>
                <a:spcPct val="130000"/>
              </a:lnSpc>
              <a:spcBef>
                <a:spcPct val="0"/>
              </a:spcBef>
              <a:spcAft>
                <a:spcPct val="0"/>
              </a:spcAft>
            </a:pPr>
            <a:r>
              <a:rPr lang="en-US" altLang="zh-CN" sz="2400" b="1" dirty="0">
                <a:solidFill>
                  <a:srgbClr val="000000"/>
                </a:solidFill>
                <a:latin typeface="楷体" panose="02010609060101010101" pitchFamily="49" charset="-122"/>
                <a:ea typeface="楷体" panose="02010609060101010101" pitchFamily="49" charset="-122"/>
              </a:rPr>
              <a:t>    </a:t>
            </a:r>
            <a:r>
              <a:rPr lang="zh-CN" altLang="en-US" sz="2400" b="1" dirty="0">
                <a:solidFill>
                  <a:srgbClr val="000000"/>
                </a:solidFill>
                <a:latin typeface="楷体" panose="02010609060101010101" pitchFamily="49" charset="-122"/>
                <a:ea typeface="楷体" panose="02010609060101010101" pitchFamily="49" charset="-122"/>
              </a:rPr>
              <a:t>本文是一则</a:t>
            </a:r>
            <a:r>
              <a:rPr lang="zh-CN" altLang="en-US" sz="2400" b="1" dirty="0">
                <a:solidFill>
                  <a:srgbClr val="FF0000"/>
                </a:solidFill>
                <a:latin typeface="楷体" panose="02010609060101010101" pitchFamily="49" charset="-122"/>
                <a:ea typeface="楷体" panose="02010609060101010101" pitchFamily="49" charset="-122"/>
              </a:rPr>
              <a:t>寓言</a:t>
            </a:r>
            <a:r>
              <a:rPr lang="zh-CN" altLang="en-US" sz="2400" b="1" dirty="0">
                <a:solidFill>
                  <a:srgbClr val="000000"/>
                </a:solidFill>
                <a:latin typeface="楷体" panose="02010609060101010101" pitchFamily="49" charset="-122"/>
                <a:ea typeface="楷体" panose="02010609060101010101" pitchFamily="49" charset="-122"/>
              </a:rPr>
              <a:t>，说明了</a:t>
            </a:r>
            <a:r>
              <a:rPr lang="zh-CN" altLang="en-US" sz="2400" b="1" dirty="0">
                <a:solidFill>
                  <a:srgbClr val="FF0000"/>
                </a:solidFill>
                <a:latin typeface="楷体" panose="02010609060101010101" pitchFamily="49" charset="-122"/>
                <a:ea typeface="楷体" panose="02010609060101010101" pitchFamily="49" charset="-122"/>
              </a:rPr>
              <a:t>知识无穷、学无止境</a:t>
            </a:r>
            <a:r>
              <a:rPr lang="zh-CN" altLang="en-US" sz="2400" b="1" dirty="0">
                <a:solidFill>
                  <a:srgbClr val="000000"/>
                </a:solidFill>
                <a:latin typeface="楷体" panose="02010609060101010101" pitchFamily="49" charset="-122"/>
                <a:ea typeface="楷体" panose="02010609060101010101" pitchFamily="49" charset="-122"/>
              </a:rPr>
              <a:t>的道理，反映了古人</a:t>
            </a:r>
            <a:r>
              <a:rPr lang="zh-CN" altLang="en-US" sz="2400" b="1" dirty="0">
                <a:solidFill>
                  <a:srgbClr val="FF0000"/>
                </a:solidFill>
                <a:latin typeface="楷体" panose="02010609060101010101" pitchFamily="49" charset="-122"/>
                <a:ea typeface="楷体" panose="02010609060101010101" pitchFamily="49" charset="-122"/>
              </a:rPr>
              <a:t>独立思考、大胆质疑、追求真理</a:t>
            </a:r>
            <a:r>
              <a:rPr lang="zh-CN" altLang="en-US" sz="2400" b="1" dirty="0">
                <a:solidFill>
                  <a:srgbClr val="000000"/>
                </a:solidFill>
                <a:latin typeface="楷体" panose="02010609060101010101" pitchFamily="49" charset="-122"/>
                <a:ea typeface="楷体" panose="02010609060101010101" pitchFamily="49" charset="-122"/>
              </a:rPr>
              <a:t>的精神。这则寓言启示我们:</a:t>
            </a:r>
            <a:r>
              <a:rPr lang="zh-CN" altLang="en-US" sz="2400" b="1" dirty="0">
                <a:solidFill>
                  <a:srgbClr val="FF0000"/>
                </a:solidFill>
                <a:latin typeface="楷体" panose="02010609060101010101" pitchFamily="49" charset="-122"/>
                <a:ea typeface="楷体" panose="02010609060101010101" pitchFamily="49" charset="-122"/>
              </a:rPr>
              <a:t>看事物不能只看表象，不求本质，否则将为表象所惠，虽想方设法，也难得真知，更难求真理</a:t>
            </a:r>
            <a:r>
              <a:rPr lang="zh-CN" altLang="en-US" sz="2400" b="1" dirty="0">
                <a:solidFill>
                  <a:srgbClr val="000000"/>
                </a:solidFill>
                <a:latin typeface="楷体" panose="02010609060101010101" pitchFamily="49" charset="-122"/>
                <a:ea typeface="楷体" panose="02010609060101010101" pitchFamily="49" charset="-122"/>
              </a:rPr>
              <a:t>。</a:t>
            </a:r>
            <a:endParaRPr lang="zh-CN" altLang="en-US" sz="2400" b="1" dirty="0">
              <a:solidFill>
                <a:srgbClr val="000000"/>
              </a:solidFill>
              <a:latin typeface="楷体" panose="02010609060101010101" pitchFamily="49" charset="-122"/>
              <a:ea typeface="楷体" panose="02010609060101010101" pitchFamily="49" charset="-122"/>
            </a:endParaRPr>
          </a:p>
        </p:txBody>
      </p:sp>
    </p:spTree>
  </p:cSld>
  <p:clrMapOvr>
    <a:masterClrMapping/>
  </p:clrMapOvr>
  <p:transition>
    <p:strips dir="l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448945" y="51435"/>
            <a:ext cx="8455025" cy="4864100"/>
          </a:xfrm>
          <a:prstGeom prst="rect">
            <a:avLst/>
          </a:prstGeom>
          <a:noFill/>
        </p:spPr>
        <p:txBody>
          <a:bodyPr wrap="square" rtlCol="0">
            <a:spAutoFit/>
          </a:bodyPr>
          <a:lstStyle/>
          <a:p>
            <a:pPr>
              <a:lnSpc>
                <a:spcPct val="110000"/>
              </a:lnSpc>
            </a:pPr>
            <a:r>
              <a:rPr lang="en-US" altLang="zh-CN" sz="2200" dirty="0">
                <a:latin typeface="华文新魏" panose="02010800040101010101" pitchFamily="2" charset="-122"/>
                <a:ea typeface="华文新魏" panose="02010800040101010101" pitchFamily="2" charset="-122"/>
              </a:rPr>
              <a:t>     </a:t>
            </a:r>
            <a:r>
              <a:rPr lang="en-US" altLang="zh-CN" sz="2000" dirty="0">
                <a:latin typeface="华文新魏" panose="02010800040101010101" pitchFamily="2" charset="-122"/>
                <a:ea typeface="华文新魏" panose="02010800040101010101" pitchFamily="2"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寓言以</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“辩日”为线索</a:t>
            </a:r>
            <a:r>
              <a:rPr lang="zh-CN" altLang="en-US" sz="2000" dirty="0">
                <a:latin typeface="楷体" panose="02010609060101010101" pitchFamily="49" charset="-122"/>
                <a:ea typeface="楷体" panose="02010609060101010101" pitchFamily="49" charset="-122"/>
                <a:cs typeface="楷体" panose="02010609060101010101" pitchFamily="49" charset="-122"/>
              </a:rPr>
              <a:t>，有条理地叙述了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孔子路见两小儿辩日，最终不能决断的过程</a:t>
            </a:r>
            <a:r>
              <a:rPr lang="zh-CN" altLang="en-US" sz="2000" dirty="0">
                <a:latin typeface="楷体" panose="02010609060101010101" pitchFamily="49" charset="-122"/>
                <a:ea typeface="楷体" panose="02010609060101010101" pitchFamily="49" charset="-122"/>
                <a:cs typeface="楷体" panose="02010609060101010101" pitchFamily="49" charset="-122"/>
              </a:rPr>
              <a:t>。全文分为四个部分。</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第一部分(第一段)，故事的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发端</a:t>
            </a:r>
            <a:r>
              <a:rPr lang="zh-CN" altLang="en-US" sz="2000" dirty="0">
                <a:latin typeface="楷体" panose="02010609060101010101" pitchFamily="49" charset="-122"/>
                <a:ea typeface="楷体" panose="02010609060101010101" pitchFamily="49" charset="-122"/>
                <a:cs typeface="楷体" panose="02010609060101010101" pitchFamily="49" charset="-122"/>
              </a:rPr>
              <a:t>。写孔子路遇两小儿辩斗，点明故事发生的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地点、人物和起因</a:t>
            </a:r>
            <a:r>
              <a:rPr lang="zh-CN" altLang="en-US" sz="2000" dirty="0">
                <a:latin typeface="楷体" panose="02010609060101010101" pitchFamily="49" charset="-122"/>
                <a:ea typeface="楷体" panose="02010609060101010101" pitchFamily="49" charset="-122"/>
                <a:cs typeface="楷体" panose="02010609060101010101" pitchFamily="49" charset="-122"/>
              </a:rPr>
              <a:t>。第二部分(第二、三段)，故事的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经过</a:t>
            </a:r>
            <a:r>
              <a:rPr lang="zh-CN" altLang="en-US" sz="2000" dirty="0">
                <a:latin typeface="楷体" panose="02010609060101010101" pitchFamily="49" charset="-122"/>
                <a:ea typeface="楷体" panose="02010609060101010101" pitchFamily="49" charset="-122"/>
                <a:cs typeface="楷体" panose="02010609060101010101" pitchFamily="49" charset="-122"/>
              </a:rPr>
              <a:t>。写两小儿各自</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陈述自己的观点</a:t>
            </a:r>
            <a:r>
              <a:rPr lang="zh-CN" altLang="en-US" sz="2000" dirty="0">
                <a:latin typeface="楷体" panose="02010609060101010101" pitchFamily="49" charset="-122"/>
                <a:ea typeface="楷体" panose="02010609060101010101" pitchFamily="49" charset="-122"/>
                <a:cs typeface="楷体" panose="02010609060101010101" pitchFamily="49" charset="-122"/>
              </a:rPr>
              <a:t>。两小儿分别就太阳在不同时间距离地球远近问题摆出两种截然不同的观点。引人思考:</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即使是我们非常熟悉的事物、现象，也可能包含我们不知或不确定的道理、知识，需要关注、深思</a:t>
            </a:r>
            <a:r>
              <a:rPr lang="zh-CN" altLang="en-US" sz="2000" dirty="0">
                <a:latin typeface="楷体" panose="02010609060101010101" pitchFamily="49" charset="-122"/>
                <a:ea typeface="楷体" panose="02010609060101010101" pitchFamily="49" charset="-122"/>
                <a:cs typeface="楷体" panose="02010609060101010101" pitchFamily="49" charset="-122"/>
              </a:rPr>
              <a:t>。第三部分(第四、五段)，故事的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高潮</a:t>
            </a:r>
            <a:r>
              <a:rPr lang="zh-CN" altLang="en-US" sz="2000" dirty="0">
                <a:latin typeface="楷体" panose="02010609060101010101" pitchFamily="49" charset="-122"/>
                <a:ea typeface="楷体" panose="02010609060101010101" pitchFamily="49" charset="-122"/>
                <a:cs typeface="楷体" panose="02010609060101010101" pitchFamily="49" charset="-122"/>
              </a:rPr>
              <a:t>。写两小儿都</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充满自信，互不相让</a:t>
            </a:r>
            <a:r>
              <a:rPr lang="zh-CN" altLang="en-US" sz="2000" dirty="0">
                <a:latin typeface="楷体" panose="02010609060101010101" pitchFamily="49" charset="-122"/>
                <a:ea typeface="楷体" panose="02010609060101010101" pitchFamily="49" charset="-122"/>
                <a:cs typeface="楷体" panose="02010609060101010101" pitchFamily="49" charset="-122"/>
              </a:rPr>
              <a:t>，使用生动形象的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比喻</a:t>
            </a:r>
            <a:r>
              <a:rPr lang="zh-CN" altLang="en-US" sz="2000" dirty="0">
                <a:latin typeface="楷体" panose="02010609060101010101" pitchFamily="49" charset="-122"/>
                <a:ea typeface="楷体" panose="02010609060101010101" pitchFamily="49" charset="-122"/>
                <a:cs typeface="楷体" panose="02010609060101010101" pitchFamily="49" charset="-122"/>
              </a:rPr>
              <a:t>和</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反问</a:t>
            </a:r>
            <a:r>
              <a:rPr lang="zh-CN" altLang="en-US" sz="2000" dirty="0">
                <a:latin typeface="楷体" panose="02010609060101010101" pitchFamily="49" charset="-122"/>
                <a:ea typeface="楷体" panose="02010609060101010101" pitchFamily="49" charset="-122"/>
                <a:cs typeface="楷体" panose="02010609060101010101" pitchFamily="49" charset="-122"/>
              </a:rPr>
              <a:t>句式，运用日常生活中的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视觉和触觉</a:t>
            </a:r>
            <a:r>
              <a:rPr lang="zh-CN" altLang="en-US" sz="2000" dirty="0">
                <a:latin typeface="楷体" panose="02010609060101010101" pitchFamily="49" charset="-122"/>
                <a:ea typeface="楷体" panose="02010609060101010101" pitchFamily="49" charset="-122"/>
                <a:cs typeface="楷体" panose="02010609060101010101" pitchFamily="49" charset="-122"/>
              </a:rPr>
              <a:t>来阐明自己所持的观点。本部分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紧扣了题目中的“辩”</a:t>
            </a:r>
            <a:r>
              <a:rPr lang="zh-CN" altLang="en-US" sz="2000" dirty="0">
                <a:latin typeface="楷体" panose="02010609060101010101" pitchFamily="49" charset="-122"/>
                <a:ea typeface="楷体" panose="02010609060101010101" pitchFamily="49" charset="-122"/>
                <a:cs typeface="楷体" panose="02010609060101010101" pitchFamily="49" charset="-122"/>
              </a:rPr>
              <a:t>字。第四部分(第六、七段)，故事的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结局</a:t>
            </a:r>
            <a:r>
              <a:rPr lang="zh-CN" altLang="en-US" sz="2000" dirty="0">
                <a:latin typeface="楷体" panose="02010609060101010101" pitchFamily="49" charset="-122"/>
                <a:ea typeface="楷体" panose="02010609060101010101" pitchFamily="49" charset="-122"/>
                <a:cs typeface="楷体" panose="02010609060101010101" pitchFamily="49" charset="-122"/>
              </a:rPr>
              <a:t>。写孔子面对两小儿的争辩，无法裁决而引起两小儿的“笑”。“笑”并非嘲笑之意，是小孩的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戏谑和调侃</a:t>
            </a:r>
            <a:r>
              <a:rPr lang="zh-CN" altLang="en-US" sz="2000" dirty="0">
                <a:latin typeface="楷体" panose="02010609060101010101" pitchFamily="49" charset="-122"/>
                <a:ea typeface="楷体" panose="02010609060101010101" pitchFamily="49" charset="-122"/>
                <a:cs typeface="楷体" panose="02010609060101010101" pitchFamily="49" charset="-122"/>
              </a:rPr>
              <a:t>，表现了两小儿的</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调皮和天真</a:t>
            </a:r>
            <a:r>
              <a:rPr lang="zh-CN" altLang="en-US" sz="2000" dirty="0">
                <a:latin typeface="楷体" panose="02010609060101010101" pitchFamily="49" charset="-122"/>
                <a:ea typeface="楷体" panose="02010609060101010101" pitchFamily="49" charset="-122"/>
                <a:cs typeface="楷体" panose="02010609060101010101" pitchFamily="49" charset="-122"/>
              </a:rPr>
              <a:t>。“不能决”实际上也体现了</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孔子谦虚谨慎、实事求是的科学态度</a:t>
            </a:r>
            <a:r>
              <a:rPr lang="zh-CN" altLang="en-US" sz="2000" dirty="0">
                <a:latin typeface="楷体" panose="02010609060101010101" pitchFamily="49" charset="-122"/>
                <a:ea typeface="楷体" panose="02010609060101010101" pitchFamily="49" charset="-122"/>
                <a:cs typeface="楷体" panose="02010609060101010101" pitchFamily="49" charset="-122"/>
              </a:rPr>
              <a:t>。</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a:p>
            <a:pPr>
              <a:lnSpc>
                <a:spcPct val="110000"/>
              </a:lnSpc>
            </a:pPr>
            <a:r>
              <a:rPr lang="en-US" altLang="zh-CN" sz="2000" dirty="0">
                <a:latin typeface="楷体" panose="02010609060101010101" pitchFamily="49" charset="-122"/>
                <a:ea typeface="楷体" panose="02010609060101010101" pitchFamily="49" charset="-122"/>
                <a:cs typeface="楷体" panose="02010609060101010101" pitchFamily="49" charset="-122"/>
              </a:rPr>
              <a:t>   </a:t>
            </a:r>
            <a:r>
              <a:rPr lang="zh-CN" altLang="en-US" sz="2000" dirty="0">
                <a:latin typeface="楷体" panose="02010609060101010101" pitchFamily="49" charset="-122"/>
                <a:ea typeface="楷体" panose="02010609060101010101" pitchFamily="49" charset="-122"/>
                <a:cs typeface="楷体" panose="02010609060101010101" pitchFamily="49" charset="-122"/>
              </a:rPr>
              <a:t>寓言通过</a:t>
            </a:r>
            <a:r>
              <a:rPr lang="zh-CN" altLang="en-US" sz="2000" dirty="0">
                <a:solidFill>
                  <a:srgbClr val="FF0000"/>
                </a:solidFill>
                <a:latin typeface="楷体" panose="02010609060101010101" pitchFamily="49" charset="-122"/>
                <a:ea typeface="楷体" panose="02010609060101010101" pitchFamily="49" charset="-122"/>
                <a:cs typeface="楷体" panose="02010609060101010101" pitchFamily="49" charset="-122"/>
              </a:rPr>
              <a:t>对话</a:t>
            </a:r>
            <a:r>
              <a:rPr lang="zh-CN" altLang="en-US" sz="2000" dirty="0">
                <a:latin typeface="楷体" panose="02010609060101010101" pitchFamily="49" charset="-122"/>
                <a:ea typeface="楷体" panose="02010609060101010101" pitchFamily="49" charset="-122"/>
                <a:cs typeface="楷体" panose="02010609060101010101" pitchFamily="49" charset="-122"/>
              </a:rPr>
              <a:t>描写来表现人物、展开故事情节是本文语言表达上的特点。</a:t>
            </a:r>
            <a:endParaRPr lang="zh-CN" altLang="en-US" sz="2000"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5600,&quot;width&quot;:428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7185</Words>
  <Application>WPS 演示</Application>
  <PresentationFormat/>
  <Paragraphs>404</Paragraphs>
  <Slides>30</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30</vt:i4>
      </vt:variant>
    </vt:vector>
  </HeadingPairs>
  <TitlesOfParts>
    <vt:vector size="44" baseType="lpstr">
      <vt:lpstr>Arial</vt:lpstr>
      <vt:lpstr>宋体</vt:lpstr>
      <vt:lpstr>Wingdings</vt:lpstr>
      <vt:lpstr>Calibri</vt:lpstr>
      <vt:lpstr>楷体</vt:lpstr>
      <vt:lpstr>Times New Roman</vt:lpstr>
      <vt:lpstr>华文新魏</vt:lpstr>
      <vt:lpstr>KSOF37864B3A</vt:lpstr>
      <vt:lpstr>Segoe Print</vt:lpstr>
      <vt:lpstr>微软雅黑</vt:lpstr>
      <vt:lpstr>Arial Unicode MS</vt:lpstr>
      <vt:lpstr>黑体</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JX</dc:creator>
  <cp:lastModifiedBy>320</cp:lastModifiedBy>
  <cp:revision>19</cp:revision>
  <dcterms:created xsi:type="dcterms:W3CDTF">2025-02-20T11:45:00Z</dcterms:created>
  <dcterms:modified xsi:type="dcterms:W3CDTF">2026-09-21T05:52:16Z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8A2C9B1FC87C445EA8346AD468647E5F_13</vt:lpwstr>
  </property>
  <property fmtid="{D5CDD505-2E9C-101B-9397-08002B2CF9AE}" pid="3" name="KSOProductBuildVer">
    <vt:lpwstr>2052-12.1.0.28505</vt:lpwstr>
  </property>
</Properties>
</file>