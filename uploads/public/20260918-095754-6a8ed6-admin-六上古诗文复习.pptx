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7"/>
  </p:notesMasterIdLst>
  <p:sldIdLst>
    <p:sldId id="279" r:id="rId4"/>
    <p:sldId id="284" r:id="rId5"/>
    <p:sldId id="287" r:id="rId6"/>
    <p:sldId id="285" r:id="rId7"/>
    <p:sldId id="289" r:id="rId8"/>
    <p:sldId id="286" r:id="rId9"/>
    <p:sldId id="290" r:id="rId10"/>
    <p:sldId id="292" r:id="rId11"/>
    <p:sldId id="291" r:id="rId12"/>
    <p:sldId id="293" r:id="rId13"/>
    <p:sldId id="295" r:id="rId14"/>
    <p:sldId id="294" r:id="rId15"/>
    <p:sldId id="296" r:id="rId16"/>
    <p:sldId id="298" r:id="rId17"/>
    <p:sldId id="297" r:id="rId18"/>
    <p:sldId id="299" r:id="rId19"/>
    <p:sldId id="301" r:id="rId20"/>
    <p:sldId id="300" r:id="rId21"/>
    <p:sldId id="302" r:id="rId22"/>
    <p:sldId id="304" r:id="rId23"/>
    <p:sldId id="303" r:id="rId24"/>
    <p:sldId id="258" r:id="rId25"/>
    <p:sldId id="259" r:id="rId26"/>
    <p:sldId id="261" r:id="rId28"/>
    <p:sldId id="305" r:id="rId29"/>
    <p:sldId id="262" r:id="rId30"/>
    <p:sldId id="263" r:id="rId31"/>
    <p:sldId id="306" r:id="rId32"/>
    <p:sldId id="307" r:id="rId33"/>
  </p:sldIdLst>
  <p:sldSz cx="9144000" cy="51435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35" userDrawn="1">
          <p15:clr>
            <a:srgbClr val="A4A3A4"/>
          </p15:clr>
        </p15:guide>
        <p15:guide id="2" pos="30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9C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-872" y="-68"/>
      </p:cViewPr>
      <p:guideLst>
        <p:guide orient="horz" pos="1735"/>
        <p:guide pos="30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685800" y="1143000"/>
            <a:ext cx="5486400" cy="3086100"/>
          </a:xfrm>
          <a:ln>
            <a:miter lim="800000"/>
          </a:ln>
        </p:spPr>
      </p:sp>
      <p:sp>
        <p:nvSpPr>
          <p:cNvPr id="50179" name="备注占位符 2"/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018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EFBFDD-9577-4F69-AB61-0D95F1FB0B13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282C478-2C71-4AD8-AE88-0C594035CC6B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51460" y="987425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宿建德江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孟浩然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移舟泊烟渚，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日暮客愁新。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野旷天低树，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江清月近人。</a:t>
            </a:r>
            <a:endParaRPr kumimoji="0" lang="zh-CN" altLang="vi-V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79520" y="2499360"/>
            <a:ext cx="5055870" cy="2380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泊：停泊，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停船靠岸。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烟渚：指笼罩在烟雾下的江中陆地。渚，水中间的小块陆地。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暮：傍晚，太阳落的时候。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客：诗人自指。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旷：空旷。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80155" y="1059180"/>
            <a:ext cx="505587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孟浩然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唐朝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诗人。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体裁为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五言绝句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899795" y="1419225"/>
            <a:ext cx="8075930" cy="2841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《宿建德江》前两句写诗人行船停靠在江中的一个烟雾朦胧的小洲边，面对日落之景，新的愁绪又涌了上来。点出了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时间和地点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字奠定了全文的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情感基调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，突出诗人的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羁旅怀乡之愁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以及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仕途失意之愁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。后两句写日暮时分，旷野无垠，放眼望去，远处的天空显得比近处的树木还要低。夜已降临，高挂在天上的明月，倒映在澄清的江水中，和舟中的人是那么近。通过对客观环境进行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主观性描绘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，用清新之景衬托出内心的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羁旅之思，孤寂之情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51460" y="987425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宿建德江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孟浩然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移舟泊烟渚，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日暮客愁新。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野旷天低树，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江清月近人。</a:t>
            </a:r>
            <a:endParaRPr kumimoji="0" lang="zh-CN" altLang="vi-V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79520" y="1995805"/>
            <a:ext cx="50558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《宿建德江》围绕一个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“愁”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字，描写了作者在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建德江小洲边的泊船上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（地点），从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日暮到夜晚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（时间）的所见之景，表达了因过往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仕途失意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和当下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思念家乡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而产生的愁绪。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六月二十七日望湖楼醉书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苏轼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黑云翻墨未遮山，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白雨跳珠乱入船。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卷地风来忽吹散，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望湖楼下水如天。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51910" y="3220085"/>
            <a:ext cx="5055870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醉书：饮酒醉时书写的作品。书，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书写。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翻墨：比喻像打翻的墨水一样。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43680" y="1059180"/>
            <a:ext cx="5008245" cy="204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苏轼，字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子瞻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，号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东坡居士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，世称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苏东坡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北宋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文学家、书画家。</a:t>
            </a: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与黄庭坚并称“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苏黄”</a:t>
            </a: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；与辛弃疾同是</a:t>
            </a:r>
            <a:r>
              <a:rPr lang="en-US" altLang="zh-CN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豪放词派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代表，并称“苏辛”；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“唐宋八大家”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之一。</a:t>
            </a:r>
            <a:endParaRPr lang="zh-CN" altLang="en-US" sz="21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体裁为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七言绝句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1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611505" y="915670"/>
            <a:ext cx="81845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首句“黑云翻墨未遮山”，描绘了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暴雨来临前乌云密布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的景象:黑云像打翻了的墨水，还未来得及把山遮住。把乌云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比作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“翻墨”，形象逼真。次句“白雨跳珠乱入船”，描绘了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暴雨忽至、雨点密集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的情形:白色的雨点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仿佛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千万颗珍珠从天而降，乱纷纷地跳进船舱，一时间暴雨如注。用“跳珠"形容雨点，有声有色。一个“跳”字，一个"乱”字，写出了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暴雨之大、雨点之急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。第三句“卷地风来忽吹散”，描绘了风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吹雨去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的情形:正当人们欣赏雨景的时候，忽然一阵狂风席卷而来，吹散了乌云和大雨。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“忽”字突出了天色变化之快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，显示了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风的巨大威力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。最后一句“望湖楼下水如天”，描绘了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雨过天晴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的景象:云开雨散，万物焕然一新，望湖楼下水面波平如镜，空气清新，远远望去，水天一色。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六月二十七日望湖楼醉书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苏轼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黑云翻墨未遮山，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白雨跳珠乱入船。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卷地风来忽吹散，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望湖楼下水如天。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51910" y="1923415"/>
            <a:ext cx="5008245" cy="274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这首诗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抓住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西湖盛夏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阵雨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突降又骤然转晴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的奇丽景象，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依次写出了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雨前、雨中、雨后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的不同情景，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将夏日西湖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瞬息万变的壮观景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象描绘出来，抒发了诗人对西湖美丽风光的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惊喜、赞叹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之情。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36195" y="915670"/>
            <a:ext cx="470027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西江月·夜行黄沙道中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辛弃疾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明月别枝惊鹊，清风半夜鸣蝉。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稻花香里说丰年，听取蛙声一片。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七八个星天外，两三点雨山前。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旧时茅店社林边，路转溪桥忽见。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19700" y="3220085"/>
            <a:ext cx="367538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别枝：横斜突兀的树枝。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茅店：用茅草盖的小客舍。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社林：土地庙附近的树林。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见：同“现”。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6145" y="771525"/>
            <a:ext cx="4359275" cy="2083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辛弃疾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幼安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，号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稼轩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南宋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词人，与苏轼并称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“苏辛”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。同为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豪放词派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代表人。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体裁为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词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，西江月是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词牌名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，夜行黄沙道中是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题目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1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611505" y="195580"/>
            <a:ext cx="818451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词的上片写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晴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，展现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山村乡野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特有的情趣。“明月别枝惊鹊，清风半夜鸣蝉”，描绘出一幅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清新的乡村夏日夜景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:夜空晴朗，明月升起，月光下横斜的树枝，枝头惊起的鸟鹊;夜半时分，吹拂的清风送来蝉鸣。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动静相衬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，表现了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乡村夏夜的宁静和优美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。“稻花香里说丰年，听取蛙声一片”，路旁的稻田里，稻花飘香，蛙声阵阵，预告着又一个丰年的到来。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以夏天的生机勃勃，从侧面烘托出词人心头的喜悦。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词的下片写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，表现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夜行乡间的乐趣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。“七八个星天外，两三点雨山前”，写云层几乎布满天空，只在一角露出七八个星。雨点疏朗，在山前落下。词人用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星星稀疏暗示乌云深厚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，增强了画面的层次感。“旧时茅店社林边，路转溪桥忽见”是倒装句，把焦急和迷惑之后“忽见”的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欣喜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表现出来。由于刚才怡然自得地沉浸在“稻花香里说丰年”的美好意境之中，一时竟找不到社林边从前歇过的旅舍的位置。疏雨之中，走过溪桥，突然转弯，那所旅舍就在眼前。词人的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快乐无以言表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36195" y="915670"/>
            <a:ext cx="470027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西江月·夜行黄沙道中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辛弃疾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明月别枝惊鹊，清风半夜鸣蝉。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稻花香里说丰年，听取蛙声一片。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七八个星天外，两三点雨山前。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旧时茅店社林边，路转溪桥忽见。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6145" y="1191895"/>
            <a:ext cx="4359275" cy="3743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这首词是词人贬官闲居江西时创作的一首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吟咏田园风光的词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。全词从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视觉、听觉、嗅觉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三方面抒写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江南夏夜的山村风光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，写出词人“夜行黄沙道中”的见闻和感受。全词散发着浓郁的生活气息，词人用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侧面烘托、动静相映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的表现手法，表现了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心头的喜悦和对乡村生活的热爱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之情。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36195" y="915670"/>
            <a:ext cx="498983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七律 长征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毛泽东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红军不怕远征难，万水千山只等闲。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五岭逶迤腾细浪，乌蒙磅礴走泥丸。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金沙水拍云崖暖，大渡桥横铁索寒。　　　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更喜岷山千里雪，三军过后尽开颜。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47945" y="2427605"/>
            <a:ext cx="367538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逶迤：形容山脉、河流等弯弯曲曲延续不绝的样子。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磅礴</a:t>
            </a:r>
            <a:r>
              <a:rPr 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：（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气势)盛大。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云崖：高耸入云的山崖。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三军：这里指红军队伍。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6145" y="339725"/>
            <a:ext cx="4359275" cy="212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毛泽东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润之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，笔名子任。中国人民的领袖，马克思主义者，伟大的无产阶级革命家、战略家和理论家。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体裁为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七言律诗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539750" y="627380"/>
            <a:ext cx="81845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首联总领全诗，“难”与“万水千山”呼应，“不怕”与“等闲”呼应，表现出长征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不畏艰难险阻，勇往直前的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英雄气概。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颔联描写红军过五岭山与过乌蒙山的场面。扣“千山”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来写，运用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比喻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，将五岭比作细浪，将乌蒙比作泥丸，给画面动感，“腾”和“走”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化静为动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，突出表现红军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大无畏的豪迈气概和藐视一切的乐观主义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精神。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颈联描写巧渡金沙江和飞夺泸定桥的场面，扣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“万水”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来写。其中，“暖”字温馨喜悦,表现的是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战胜困难的激动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;“寒”字冷峻严酷,传递的是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九死一生后的回味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尾联描写红军胜利渡过雪山的场景，包含着对长征一路奋战的回顾和胜利在望的激动，进一步展现了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红军的英雄形象与乐观精神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-36195" y="915670"/>
            <a:ext cx="498983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七律 长征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毛泽东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红军不怕远征难，万水千山只等闲。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五岭逶迤腾细浪，乌蒙磅礴走泥丸。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金沙水拍云崖暖，大渡桥横铁索寒。　　　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更喜岷山千里雪，三军过后尽开颜。　</a:t>
            </a:r>
            <a:endParaRPr kumimoji="0" lang="zh-CN" altLang="en-US" sz="2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87900" y="1851660"/>
            <a:ext cx="4359275" cy="252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《七律·长征》这首诗以长征为题材，歌颂了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红军将士不畏艰难、勇往直前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的英雄气概，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大无畏的革命乐观主义精神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，和对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革命的必胜信念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，体现了诗人的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革命主义豪情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浪淘沙（其一）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刘禹锡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九曲黄河万里沙，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浪淘风簸自天涯。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如今直上银河去，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同到牵牛织女家。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43755" y="3363595"/>
            <a:ext cx="2474595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簸：吹荡  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淘：冲洗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43680" y="1059180"/>
            <a:ext cx="5008245" cy="2045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刘禹锡，字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梦得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，是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唐代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文学家，白居易称他为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“诗豪”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与柳宗元并称为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“刘柳”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。又与白居易并称“刘白” 。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浪淘沙为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曲名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endParaRPr lang="en-US" altLang="zh-CN" sz="21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体裁为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七言绝句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1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51460" y="267970"/>
            <a:ext cx="8595995" cy="4839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“九曲黄河万里沙，浪淘风簸自天涯。”与本诗的曲名“浪淘沙”呼应，形象地写出了黄河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曲折蜿蜒、气势磅礴、壮阔绵长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的特点。“九”“万"二字均是极大、极广、极多的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虚指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,“九曲”和“万里”二词突出了黄河的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曲折蜿蜒和气势磅礴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。“浪淘风簸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写黄河风浪之大，“自天涯”形容黄河的绵长，一望无际。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动静结合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地描绘出曲折蜿蜒的黄河一路裹挟着黄沙，从万里之遥的地方奔腾而来的壮阔景象，展现黄河的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雄伟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气势。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“如今直上银河去，同到牵牛织女家。”诗人运用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夸张、用典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的修辞手法，借用牛郎织女的传说驰骋想象，表示要迎着狂风巨浪，顶着万里黄沙，逆流而上，直到牵牛织女家，寄托了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诗人对美好生活的向往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，表现了诗人的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豪迈气概和浪漫情怀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。刘禹锡原本身居高位，但遭谗言一贬再贬，遭遇不公，与牛郎织女银河相隔何其相似，但诗人纵被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恶浪频袭也不改为苍生造福的入世初衷，依然保持百折不挠、积极进取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的精神。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浪淘沙（其一）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刘禹锡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九曲黄河万里沙，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浪淘风簸自天涯。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如今直上银河去，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同到牵牛织女家。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80155" y="1203325"/>
            <a:ext cx="5008245" cy="3743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这首诗是刘禹锡《浪淘沙》组诗中的第一首，将现实中汹涌的黄河与想象中静谧的银河相融，描绘了黄河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曲折蜿蜒、磅礴绵长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的雄伟气势，表现了诗人的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豪迈气概和对宁静、祥和、幸福田园生活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的向往。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借物抒情言志，运用夸张、动静结合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等写作手法抒发了诗人的浪漫主义情怀。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江南春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杜牧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千里莺啼绿映红，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水村山郭酒旗风。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南朝四百八十寺，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多少楼台烟雨中。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52265" y="3363595"/>
            <a:ext cx="476885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山郭：山城  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酒旗：酒店的幌子，也称“酒望”酒帘”。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43680" y="1059180"/>
            <a:ext cx="5008245" cy="1696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杜牧，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唐代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文学家。字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牧之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，号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樊川居士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，世称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杜樊川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，又与李商隐并称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“小李杜”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体裁为</a:t>
            </a:r>
            <a:r>
              <a:rPr lang="zh-CN" altLang="en-US" sz="21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七言绝句</a:t>
            </a:r>
            <a:r>
              <a:rPr lang="zh-CN" altLang="en-US" sz="21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1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51460" y="267970"/>
            <a:ext cx="8595995" cy="4528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“千里莺啼绿映红”，紧扣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“春”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字，开篇展现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江南大自然风光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。“千里”是对广阔江南的概括。描绘了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有声有色、生机勃勃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江南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景色。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“水村山郭酒旗风”，描写江南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独特的地形风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貌，临水有村庄，依山有城郭，在春天的和风中，酒旗轻轻招展，平添几分豪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爽与热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情。景物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由大到小，有动有静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，是明丽的江南!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“南朝四百八十寺”，紧扣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“江南”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二字，“南朝”既点明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描绘的地点“江南”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，更增添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悠远的历史色彩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。“四百八十”是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虚指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，表现南朝时代佛教盛行的状况。佛寺，既照应首句中的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“千里”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,也为结句中抒情奠定基础。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多少楼台烟雨中”,虚实结合，在写景之中融入怀古忧思，给江南的春天增添了朦胧迷离的色彩。“烟雨”，即如烟般的蒙蒙细雨，“楼台”，即前句的“寺”，可以避免用词重复，也契合“烟雨”朦胧的意境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江南春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杜牧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千里莺啼绿映红，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水村山郭酒旗风。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南朝四百八十寺，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多少楼台烟雨中。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19830" y="1059180"/>
            <a:ext cx="5332095" cy="333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这首七言绝句，千百年来素负盛誉。四句皆为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景语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，有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声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有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色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，有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空间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上的拓展，有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上的追溯，以概括性的语言描绘了一幅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丰富多彩的江南春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之画卷。前两句描写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晴景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描绘了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明朗绚丽的江南春光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后两句描写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雨景，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再现了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江南烟雨迷蒙的楼台景色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，表现了诗人对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江南景物的赞美喜爱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，以及作者寄寓在景物中的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怀古幽思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书湖阴先生壁（其一）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王安石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茅檐长扫净无苔，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花木成畦手自栽。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一水护田将绿绕，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两山排闼送青来。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11955" y="3079750"/>
            <a:ext cx="476885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书：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题写。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苔：青苔。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畦</a:t>
            </a:r>
            <a:r>
              <a:rPr 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有土埂围着的排列整齐的田地。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排闼：推开门。闼，小门。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43680" y="1059180"/>
            <a:ext cx="5008245" cy="171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王安石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北宋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时期文学家，政治家，他字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介甫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，晚号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半山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，是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唐宋八大家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之一。他自号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临川先生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,晚年封荆国公,世称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王荆公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51460" y="267970"/>
            <a:ext cx="8595995" cy="4528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前两句诗写湖阴先生家的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庭院之景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。“茅檐长扫净无苔”,说明庭院环境洁净清幽。“无苔"写出庭院之内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无处不净、无时不净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。“花木成畦手自栽”，暗示主人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高雅的生活情趣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。一个“畦"字，交代了花木不仅品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种和数量多，而且还排列整齐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。一个“自”字,称赞了主人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亲力劳作、勤勉简朴，深得隐居之趣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后两句诗转到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院外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，写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山水对湖阴先生的深情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。诗人运用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的句式，采用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拟人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的手法，赋予“一水”“两山”人的感情，又暗用“护田”与“排闼”两个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典故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，既以自然景物的特征为基础，又与具体的生活内容相吻合，化静为动，显出自然环境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既生机勃勃又清静幽雅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。“送青”之前冠以“排闼”二字，不仅写出了山色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青翠欲滴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，更让青山如同老朋友般推门而入，奉上一片青翠。描写山水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主动与人相亲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，表现出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湖阴先生的高洁品格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5560" y="1059180"/>
            <a:ext cx="3957320" cy="3712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书湖阴先生壁（其一）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王安石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茅檐长扫净无苔，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花木成畦手自栽。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一水护田将绿绕，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两山排闼送青来。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23665" y="1419860"/>
            <a:ext cx="5008245" cy="252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《书湖阴先生壁》是题写在湖阴先生家屋壁上的诗，全诗通过湖阴先生与自然和谐相处的画面描写，既赞美了主人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朴实勤劳、高雅情趣、高洁品质和超尘出世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的境界，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也表达了诗人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退休闲居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的恬淡心境，以及</a:t>
            </a:r>
            <a:r>
              <a:rPr lang="zh-CN" altLang="en-US" sz="22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由衷的向往之情</a:t>
            </a:r>
            <a:r>
              <a:rPr lang="zh-CN" altLang="en-US" sz="22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endParaRPr lang="zh-CN" altLang="en-US" sz="2200" dirty="0"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412480" cy="3394075"/>
          </a:xfrm>
        </p:spPr>
        <p:txBody>
          <a:bodyPr/>
          <a:p>
            <a:endParaRPr lang="zh-CN" altLang="en-US"/>
          </a:p>
        </p:txBody>
      </p:sp>
      <p:pic>
        <p:nvPicPr>
          <p:cNvPr id="35844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981075" y="496570"/>
            <a:ext cx="104203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457200" y="789305"/>
            <a:ext cx="8253095" cy="2985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伯牙鼓琴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1">
              <a:lnSpc>
                <a:spcPts val="8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伯牙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琴，锺子期听之。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鼓琴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而志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太山，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锺子期曰：“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善哉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鼓琴！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巍巍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太山。”</a:t>
            </a:r>
            <a:endParaRPr kumimoji="0" lang="zh-CN" altLang="vi-V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线形标注 1 18"/>
          <p:cNvSpPr/>
          <p:nvPr/>
        </p:nvSpPr>
        <p:spPr>
          <a:xfrm>
            <a:off x="4364990" y="1621790"/>
            <a:ext cx="913130" cy="534035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正当，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正在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11" name="线形标注 1 18"/>
          <p:cNvSpPr/>
          <p:nvPr/>
        </p:nvSpPr>
        <p:spPr>
          <a:xfrm>
            <a:off x="1120775" y="1654810"/>
            <a:ext cx="1473835" cy="534035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弹奏，演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奏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07990" y="4290695"/>
            <a:ext cx="189230" cy="37909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895" y="2563495"/>
            <a:ext cx="8307070" cy="462915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俞伯牙弹奏古琴，钟子期听他弹奏。正在弹琴时，</a:t>
            </a:r>
            <a:r>
              <a:rPr kumimoji="0" lang="zh-CN" altLang="en-US" sz="2000" b="1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伯牙心里想着高山。</a:t>
            </a:r>
            <a:endParaRPr kumimoji="0" lang="zh-CN" altLang="en-US" sz="2000" b="1" i="0" u="none" strike="noStrike" kern="1200" cap="none" spc="0" normalizeH="0" baseline="0" noProof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5" name="线形标注 1 18"/>
          <p:cNvSpPr/>
          <p:nvPr/>
        </p:nvSpPr>
        <p:spPr>
          <a:xfrm>
            <a:off x="5076190" y="1635125"/>
            <a:ext cx="1419860" cy="56515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心志，情志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17" name="线形标注 1 18"/>
          <p:cNvSpPr/>
          <p:nvPr/>
        </p:nvSpPr>
        <p:spPr>
          <a:xfrm>
            <a:off x="6543040" y="1706245"/>
            <a:ext cx="697230" cy="534035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高山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19" name="线形标注 1 17"/>
          <p:cNvSpPr/>
          <p:nvPr/>
        </p:nvSpPr>
        <p:spPr>
          <a:xfrm>
            <a:off x="311785" y="3506470"/>
            <a:ext cx="2059305" cy="693420"/>
          </a:xfrm>
          <a:prstGeom prst="borderCallout1">
            <a:avLst>
              <a:gd name="adj1" fmla="val -103"/>
              <a:gd name="adj2" fmla="val 28785"/>
              <a:gd name="adj3" fmla="val -12464"/>
              <a:gd name="adj4" fmla="val 38662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好啊！哉，语气词，表示感叹。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21" name="线形标注 1 17"/>
          <p:cNvSpPr/>
          <p:nvPr/>
        </p:nvSpPr>
        <p:spPr>
          <a:xfrm>
            <a:off x="3491230" y="2859405"/>
            <a:ext cx="554355" cy="504190"/>
          </a:xfrm>
          <a:prstGeom prst="borderCallout1">
            <a:avLst>
              <a:gd name="adj1" fmla="val -103"/>
              <a:gd name="adj2" fmla="val 28785"/>
              <a:gd name="adj3" fmla="val -12464"/>
              <a:gd name="adj4" fmla="val 38662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像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20395" y="4422775"/>
            <a:ext cx="6997065" cy="725170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钟子期说：“（您）弹琴弹得真好呀！像大山一样高峻。</a:t>
            </a:r>
            <a: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zh-CN" altLang="en-US" sz="2000" b="1" i="0" u="none" strike="noStrike" kern="1200" cap="none" spc="0" normalizeH="0" baseline="0" noProof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5" name="线形标注 1 17"/>
          <p:cNvSpPr/>
          <p:nvPr/>
        </p:nvSpPr>
        <p:spPr>
          <a:xfrm>
            <a:off x="5225415" y="2262505"/>
            <a:ext cx="1021715" cy="341630"/>
          </a:xfrm>
          <a:prstGeom prst="borderCallout1">
            <a:avLst>
              <a:gd name="adj1" fmla="val -103"/>
              <a:gd name="adj2" fmla="val 28785"/>
              <a:gd name="adj3" fmla="val -12464"/>
              <a:gd name="adj4" fmla="val 38662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+mn-ea"/>
              </a:rPr>
              <a:t>表承接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27" name="线形标注 1 17"/>
          <p:cNvSpPr/>
          <p:nvPr/>
        </p:nvSpPr>
        <p:spPr>
          <a:xfrm>
            <a:off x="2594610" y="3469640"/>
            <a:ext cx="1043305" cy="746125"/>
          </a:xfrm>
          <a:prstGeom prst="borderCallout1">
            <a:avLst>
              <a:gd name="adj1" fmla="val -103"/>
              <a:gd name="adj2" fmla="val 28785"/>
              <a:gd name="adj3" fmla="val -12464"/>
              <a:gd name="adj4" fmla="val 38662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lvl="0"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5B9BD5">
                    <a:lumMod val="75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高大的样子。</a:t>
            </a:r>
            <a:endParaRPr lang="zh-CN" altLang="en-US" b="1" dirty="0">
              <a:solidFill>
                <a:srgbClr val="5B9BD5">
                  <a:lumMod val="75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663565" y="3052445"/>
            <a:ext cx="1664335" cy="537210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/>
          <a:p>
            <a:pPr algn="ctr"/>
            <a:r>
              <a:rPr lang="zh-CN" altLang="en-US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主谓倒装</a:t>
            </a:r>
            <a:endParaRPr lang="zh-CN" altLang="en-US" sz="2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 bldLvl="0" animBg="1"/>
      <p:bldP spid="5" grpId="0"/>
      <p:bldP spid="15" grpId="0" bldLvl="0" animBg="1"/>
      <p:bldP spid="17" grpId="0" bldLvl="0" animBg="1"/>
      <p:bldP spid="19" grpId="0" bldLvl="0" animBg="1"/>
      <p:bldP spid="21" grpId="0" bldLvl="0" animBg="1"/>
      <p:bldP spid="23" grpId="0"/>
      <p:bldP spid="25" grpId="0" bldLvl="0" animBg="1"/>
      <p:bldP spid="27" grpId="0" bldLvl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图片 5"/>
          <p:cNvPicPr>
            <a:picLocks noChangeArrowheads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447676" y="64294"/>
            <a:ext cx="696913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395605" y="268985"/>
            <a:ext cx="8001000" cy="4502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hangingPunct="1">
              <a:lnSpc>
                <a:spcPts val="86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少选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志在流水，锺子期又曰：“善哉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乎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鼓琴！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汤汤</a:t>
            </a:r>
            <a:r>
              <a:rPr lang="zh-CN" altLang="en-US" sz="24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乎若流水</a:t>
            </a:r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锺子期死，伯牙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破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琴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弦，终身不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鼓琴，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世无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足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复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鼓琴者。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 hangingPunct="1">
              <a:lnSpc>
                <a:spcPts val="8600"/>
              </a:lnSpc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线形标注 1 18"/>
          <p:cNvSpPr/>
          <p:nvPr/>
        </p:nvSpPr>
        <p:spPr>
          <a:xfrm>
            <a:off x="500838" y="513762"/>
            <a:ext cx="1570789" cy="52070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一会儿，不久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08104" y="42999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61345" y="1413388"/>
            <a:ext cx="886206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不一会儿，（伯牙）心里想着流水。钟子期又说：“（您）弹琴弹得真好呀！</a:t>
            </a:r>
            <a:endParaRPr lang="zh-CN" altLang="en-US" sz="2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zh-CN" altLang="en-US" sz="2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线形标注 1 18"/>
          <p:cNvSpPr/>
          <p:nvPr/>
        </p:nvSpPr>
        <p:spPr>
          <a:xfrm>
            <a:off x="6444615" y="339725"/>
            <a:ext cx="1600835" cy="52070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乎：语气词，无实义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9" name="线形标注 1 17"/>
          <p:cNvSpPr/>
          <p:nvPr/>
        </p:nvSpPr>
        <p:spPr>
          <a:xfrm>
            <a:off x="251408" y="1635479"/>
            <a:ext cx="2299386" cy="593082"/>
          </a:xfrm>
          <a:prstGeom prst="borderCallout1">
            <a:avLst>
              <a:gd name="adj1" fmla="val -103"/>
              <a:gd name="adj2" fmla="val 28785"/>
              <a:gd name="adj3" fmla="val -12464"/>
              <a:gd name="adj4" fmla="val 38662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水流大而急的样子。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3943" y="2427390"/>
            <a:ext cx="2480310" cy="39878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像流水一样浩荡。”</a:t>
            </a:r>
            <a:endParaRPr lang="zh-CN" altLang="en-US" sz="2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线形标注 1 18"/>
          <p:cNvSpPr/>
          <p:nvPr/>
        </p:nvSpPr>
        <p:spPr>
          <a:xfrm>
            <a:off x="2236741" y="497558"/>
            <a:ext cx="881171" cy="52070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表承接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2" name="线形标注 1 18"/>
          <p:cNvSpPr/>
          <p:nvPr/>
        </p:nvSpPr>
        <p:spPr>
          <a:xfrm>
            <a:off x="4829208" y="1707368"/>
            <a:ext cx="678570" cy="52070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摔破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5" name="线形标注 1 18"/>
          <p:cNvSpPr/>
          <p:nvPr/>
        </p:nvSpPr>
        <p:spPr>
          <a:xfrm>
            <a:off x="7236246" y="1718980"/>
            <a:ext cx="936104" cy="52070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再，又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6" name="线形标注 1 17"/>
          <p:cNvSpPr/>
          <p:nvPr/>
        </p:nvSpPr>
        <p:spPr>
          <a:xfrm>
            <a:off x="1979887" y="2773590"/>
            <a:ext cx="1403571" cy="593082"/>
          </a:xfrm>
          <a:prstGeom prst="borderCallout1">
            <a:avLst>
              <a:gd name="adj1" fmla="val -103"/>
              <a:gd name="adj2" fmla="val 28785"/>
              <a:gd name="adj3" fmla="val -12464"/>
              <a:gd name="adj4" fmla="val 38662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>
              <a:lnSpc>
                <a:spcPct val="120000"/>
              </a:lnSpc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足以，值得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8" name="线形标注 1 18"/>
          <p:cNvSpPr/>
          <p:nvPr/>
        </p:nvSpPr>
        <p:spPr>
          <a:xfrm>
            <a:off x="5580630" y="1708307"/>
            <a:ext cx="678569" cy="52070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断绝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22" name="线形标注 1 18"/>
          <p:cNvSpPr/>
          <p:nvPr/>
        </p:nvSpPr>
        <p:spPr>
          <a:xfrm>
            <a:off x="1115544" y="2845923"/>
            <a:ext cx="719917" cy="520700"/>
          </a:xfrm>
          <a:prstGeom prst="borderCallout1">
            <a:avLst>
              <a:gd name="adj1" fmla="val 98933"/>
              <a:gd name="adj2" fmla="val 48438"/>
              <a:gd name="adj3" fmla="val 135912"/>
              <a:gd name="adj4" fmla="val 55096"/>
            </a:avLst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p>
            <a:pPr>
              <a:buFontTx/>
              <a:buNone/>
              <a:defRPr/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认为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4325" y="2426066"/>
            <a:ext cx="689483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p>
            <a:pPr algn="ctr"/>
            <a:r>
              <a:rPr lang="zh-CN" alt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锺子期死了以后，伯牙摔破琴，弄断琴弦，终身不再弹琴。</a:t>
            </a:r>
            <a:endParaRPr lang="zh-CN" altLang="en-US" sz="2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7855" y="3723784"/>
            <a:ext cx="4777740" cy="39878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p>
            <a:pPr algn="ctr"/>
            <a:r>
              <a:rPr lang="zh-CN" alt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认为世间再没有值得他为之弹琴的人了。</a:t>
            </a:r>
            <a:endParaRPr lang="zh-CN" altLang="en-US" sz="2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4" grpId="0"/>
      <p:bldP spid="17" grpId="0" bldLvl="0" animBg="1"/>
      <p:bldP spid="19" grpId="0" bldLvl="0" animBg="1"/>
      <p:bldP spid="23" grpId="0"/>
      <p:bldP spid="25" grpId="0" bldLvl="0" animBg="1"/>
      <p:bldP spid="2" grpId="0" bldLvl="0" animBg="1"/>
      <p:bldP spid="5" grpId="0" bldLvl="0" animBg="1"/>
      <p:bldP spid="6" grpId="0" bldLvl="0" animBg="1"/>
      <p:bldP spid="8" grpId="0" bldLvl="0" animBg="1"/>
      <p:bldP spid="22" grpId="0" bldLvl="0" animBg="1"/>
      <p:bldP spid="9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3260" y="483235"/>
            <a:ext cx="764667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吕氏春秋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，又名</a:t>
            </a:r>
            <a:r>
              <a: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《吕览》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，是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战国末期秦相吕不韦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召集门下宾客共同编撰的一部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杂家代表著作</a:t>
            </a:r>
            <a:r>
              <a:rPr lang="en-US" altLang="zh-CN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“兼儒墨，合名法”）。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650" y="2139315"/>
            <a:ext cx="7646670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《伯牙鼓琴》讲述锺子期每每能从伯牙的琴声听出他的心意，伯牙在他死后，不再弹琴的故事。这就是后世所谓的“知音”，是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朋友相交、情趣相投、心意相通的最高精神境界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51460" y="267970"/>
            <a:ext cx="8595995" cy="4528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第一部分讲了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伯牙与锤子期“高山流水遇知音”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。“善哉乎鼓琴”表现了锤子期对伯牙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高超琴艺的由衷赞叹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;“巍巍乎若太山”和“汤汤乎若流水”是锺子期对琴声的描述，表明他真正听懂了伯牙通过琴声表现出的情怀，可谓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知其“音”，更知其“志”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,二者达到心灵之间的相通。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第二部分写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伯牙失去知音的悲痛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。锺子期去世后，伯牙悲痛欲绝，他“以为世无足复为鼓琴者”，觉得世上再没有人能如此真切地理解他，乃“破琴绝弦，终身不复鼓琴”。伯牙绝弦，所喻示的是一种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真知已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的境界。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本文采用先因后果的结构形式，让我们对伯牙与锺子期之间真挚的友谊有一个清晰透彻的了解。在语言修辞上，锺子期用了两个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比喻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句，很形象地说出了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伯牙的琴艺超凡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，生动地表达了自己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音乐欣赏水平的高超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3"/>
          <p:cNvSpPr/>
          <p:nvPr/>
        </p:nvSpPr>
        <p:spPr>
          <a:xfrm>
            <a:off x="179388" y="123825"/>
            <a:ext cx="8785225" cy="4784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fontAlgn="ctr"/>
            <a:r>
              <a:rPr lang="zh-CN" altLang="zh-CN" sz="2000" b="1" dirty="0">
                <a:latin typeface="微软雅黑" panose="020B0503020204020204" charset="-122"/>
                <a:ea typeface="微软雅黑" panose="020B0503020204020204" charset="-122"/>
              </a:rPr>
              <a:t>书戴嵩画牛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300000"/>
              </a:lnSpc>
            </a:pPr>
            <a:r>
              <a:rPr lang="en-US" altLang="zh-CN" sz="2400" b="1" dirty="0">
                <a:latin typeface="方正铁筋隶书简体" pitchFamily="65" charset="-122"/>
                <a:ea typeface="方正铁筋隶书简体" pitchFamily="65" charset="-122"/>
              </a:rPr>
              <a:t>    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蜀中有杜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处士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好</a:t>
            </a:r>
            <a:r>
              <a:rPr lang="zh-CN" altLang="en-US" sz="2400" b="1" baseline="30000" dirty="0">
                <a:solidFill>
                  <a:schemeClr val="tx1"/>
                </a:solidFill>
              </a:rPr>
              <a:t>①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书画，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所宝</a:t>
            </a:r>
            <a:r>
              <a:rPr lang="zh-CN" altLang="en-US" sz="2400" b="1" baseline="30000" dirty="0">
                <a:solidFill>
                  <a:schemeClr val="tx1"/>
                </a:solidFill>
              </a:rPr>
              <a:t>②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以</a:t>
            </a:r>
            <a:r>
              <a:rPr lang="zh-CN" altLang="en-US" sz="2400" b="1" baseline="30000" dirty="0"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百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数</a:t>
            </a:r>
            <a:r>
              <a:rPr lang="zh-CN" altLang="en-US" sz="2400" b="1" baseline="30000" dirty="0">
                <a:latin typeface="宋体" panose="02010600030101010101" pitchFamily="2" charset="-122"/>
                <a:sym typeface="+mn-ea"/>
              </a:rPr>
              <a:t>④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。有戴嵩《牛》一轴，尤所爱，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锦囊玉轴</a:t>
            </a:r>
            <a:r>
              <a:rPr lang="zh-CN" altLang="en-US" sz="2400" b="1" baseline="30000" dirty="0">
                <a:latin typeface="宋体" panose="02010600030101010101" pitchFamily="2" charset="-122"/>
                <a:sym typeface="+mn-ea"/>
              </a:rPr>
              <a:t>⑤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，常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以</a:t>
            </a:r>
            <a:r>
              <a:rPr lang="zh-CN" altLang="en-US" sz="2400" b="1" baseline="30000" dirty="0">
                <a:latin typeface="宋体" panose="02010600030101010101" pitchFamily="2" charset="-122"/>
                <a:sym typeface="+mn-ea"/>
              </a:rPr>
              <a:t>⑥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自随。</a:t>
            </a:r>
            <a:endParaRPr lang="zh-CN" altLang="en-US" sz="2400" b="1" dirty="0">
              <a:latin typeface="方正铁筋隶书简体" pitchFamily="65" charset="-122"/>
              <a:ea typeface="方正铁筋隶书简体" pitchFamily="65" charset="-122"/>
            </a:endParaRPr>
          </a:p>
          <a:p>
            <a:pPr>
              <a:lnSpc>
                <a:spcPct val="300000"/>
              </a:lnSpc>
            </a:pPr>
            <a:r>
              <a:rPr lang="en-US" altLang="zh-CN" sz="2400" b="1" dirty="0">
                <a:latin typeface="方正铁筋隶书简体" pitchFamily="65" charset="-122"/>
                <a:ea typeface="方正铁筋隶书简体" pitchFamily="65" charset="-122"/>
              </a:rPr>
              <a:t>    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一日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曝</a:t>
            </a:r>
            <a:r>
              <a:rPr lang="zh-CN" altLang="en-US" sz="2300" b="1" baseline="30000" dirty="0">
                <a:latin typeface="宋体" panose="02010600030101010101" pitchFamily="2" charset="-122"/>
                <a:sym typeface="+mn-ea"/>
              </a:rPr>
              <a:t>⑦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书画，有一牧童见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之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，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拊掌</a:t>
            </a:r>
            <a:r>
              <a:rPr lang="zh-CN" altLang="en-US" sz="2300" b="1" baseline="30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⑧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大笑，曰：</a:t>
            </a:r>
            <a:r>
              <a:rPr lang="en-US" altLang="zh-CN" sz="2300" b="1" dirty="0">
                <a:latin typeface="方正铁筋隶书简体" pitchFamily="65" charset="-122"/>
                <a:ea typeface="方正铁筋隶书简体" pitchFamily="65" charset="-122"/>
              </a:rPr>
              <a:t>“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此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画斗牛也！牛斗，力在角，尾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搐</a:t>
            </a:r>
            <a:r>
              <a:rPr lang="zh-CN" altLang="en-US" sz="2300" b="1" baseline="30000" dirty="0">
                <a:latin typeface="宋体" panose="02010600030101010101" pitchFamily="2" charset="-122"/>
                <a:sym typeface="+mn-ea"/>
              </a:rPr>
              <a:t>⑨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入两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股</a:t>
            </a:r>
            <a:r>
              <a:rPr lang="zh-CN" altLang="en-US" sz="2300" b="1" baseline="30000" dirty="0">
                <a:latin typeface="宋体" panose="02010600030101010101" pitchFamily="2" charset="-122"/>
                <a:sym typeface="+mn-ea"/>
              </a:rPr>
              <a:t>⑩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间，今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乃</a:t>
            </a:r>
            <a:r>
              <a:rPr lang="zh-CN" altLang="en-US" sz="2300" b="1" baseline="30000" dirty="0">
                <a:latin typeface="宋体" panose="02010600030101010101" pitchFamily="2" charset="-122"/>
                <a:sym typeface="+mn-ea"/>
              </a:rPr>
              <a:t>⑾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掉</a:t>
            </a:r>
            <a:r>
              <a:rPr lang="zh-CN" altLang="en-US" sz="2300" b="1" baseline="30000" dirty="0">
                <a:latin typeface="宋体" panose="02010600030101010101" pitchFamily="2" charset="-122"/>
                <a:sym typeface="+mn-ea"/>
              </a:rPr>
              <a:t>⑿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尾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而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斗，</a:t>
            </a:r>
            <a:r>
              <a:rPr lang="zh-CN" altLang="en-US" sz="2300" b="1" dirty="0">
                <a:solidFill>
                  <a:srgbClr val="FF0000"/>
                </a:solidFill>
                <a:latin typeface="宋体" panose="02010600030101010101" pitchFamily="2" charset="-122"/>
              </a:rPr>
              <a:t>谬</a:t>
            </a:r>
            <a:r>
              <a:rPr lang="zh-CN" altLang="en-US" sz="2300" b="1" baseline="30000" dirty="0">
                <a:latin typeface="宋体" panose="02010600030101010101" pitchFamily="2" charset="-122"/>
                <a:sym typeface="+mn-ea"/>
              </a:rPr>
              <a:t>⒀</a:t>
            </a:r>
            <a:r>
              <a:rPr lang="zh-CN" altLang="en-US" sz="2300" b="1" dirty="0">
                <a:latin typeface="方正铁筋隶书简体" pitchFamily="65" charset="-122"/>
                <a:ea typeface="方正铁筋隶书简体" pitchFamily="65" charset="-122"/>
              </a:rPr>
              <a:t>矣。</a:t>
            </a:r>
            <a:r>
              <a:rPr lang="en-US" altLang="zh-CN" sz="2300" b="1" dirty="0">
                <a:latin typeface="方正铁筋隶书简体" pitchFamily="65" charset="-122"/>
                <a:ea typeface="方正铁筋隶书简体" pitchFamily="65" charset="-122"/>
              </a:rPr>
              <a:t>”</a:t>
            </a:r>
            <a:endParaRPr lang="zh-CN" altLang="en-US" sz="2300" b="1" dirty="0">
              <a:latin typeface="方正铁筋隶书简体" pitchFamily="65" charset="-122"/>
              <a:ea typeface="方正铁筋隶书简体" pitchFamily="65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6020" y="412115"/>
            <a:ext cx="173990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本指有才德而不愿做官的人。后来也指未做过官的士人。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5920" y="843915"/>
            <a:ext cx="57150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喜好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86225" y="675640"/>
            <a:ext cx="9302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所珍藏的（书画）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20335" y="771525"/>
            <a:ext cx="36195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40425" y="771525"/>
            <a:ext cx="54102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23440" y="1779905"/>
            <a:ext cx="16795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名作动，用锦缎做画囊，用玉做画轴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38492" y="1923733"/>
            <a:ext cx="36195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75582" y="3003868"/>
            <a:ext cx="36195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晒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671570" y="2973070"/>
            <a:ext cx="10928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zh-CN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代词，指代这幅画</a:t>
            </a:r>
            <a:endParaRPr lang="zh-CN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32046" y="2972753"/>
            <a:ext cx="54102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拍手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359410" y="1337945"/>
            <a:ext cx="9246870" cy="460375"/>
          </a:xfrm>
          <a:prstGeom prst="rect">
            <a:avLst/>
          </a:prstGeom>
          <a:solidFill>
            <a:schemeClr val="tx2">
              <a:lumMod val="20000"/>
              <a:lumOff val="80000"/>
              <a:alpha val="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蜀中有个姓杜的处士，喜爱书法、绘画，他所珍藏的书画用百来计数。他有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一轴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唐代画家戴嵩所画的《斗牛图》</a:t>
            </a:r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64071" y="2973070"/>
            <a:ext cx="89916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这，这个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28804" y="4099878"/>
            <a:ext cx="54102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抽缩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24485" y="2427605"/>
            <a:ext cx="9246870" cy="460375"/>
          </a:xfrm>
          <a:prstGeom prst="rect">
            <a:avLst/>
          </a:prstGeom>
          <a:solidFill>
            <a:schemeClr val="tx2">
              <a:lumMod val="20000"/>
              <a:lumOff val="80000"/>
              <a:alpha val="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杜处士尤其珍爱。他用锦缎做了画囊，用玉作画轴，经常把它随身携带。</a:t>
            </a:r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252095" y="3792855"/>
            <a:ext cx="9806940" cy="301625"/>
          </a:xfrm>
          <a:prstGeom prst="rect">
            <a:avLst/>
          </a:prstGeom>
          <a:solidFill>
            <a:schemeClr val="tx2">
              <a:lumMod val="20000"/>
              <a:lumOff val="80000"/>
              <a:alpha val="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p>
            <a:r>
              <a:rPr lang="zh-CN" altLang="en-US" sz="137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37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有一天，他摊开了书画晒太阳，有个牧童看见了戴嵩画的《斗牛图》，拍手大笑着说：</a:t>
            </a:r>
            <a:r>
              <a:rPr lang="en-US" altLang="zh-CN" sz="137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37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这张画画的是争斗的牛啊！</a:t>
            </a:r>
            <a:endParaRPr lang="zh-CN" altLang="en-US" sz="137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36830" y="4660265"/>
            <a:ext cx="9246870" cy="691515"/>
          </a:xfrm>
          <a:prstGeom prst="rect">
            <a:avLst/>
          </a:prstGeom>
          <a:solidFill>
            <a:schemeClr val="tx2">
              <a:lumMod val="20000"/>
              <a:lumOff val="80000"/>
              <a:alpha val="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p>
            <a:r>
              <a:rPr lang="zh-CN" altLang="en-US" sz="13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13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牛打斗的时候，力气全用在角上，尾巴紧紧地抽缩在两条大腿中间，现在这幅画上的牛竟摇着尾巴在争斗，（这是）错了啊！</a:t>
            </a:r>
            <a:r>
              <a:rPr lang="en-US" altLang="zh-CN" sz="13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3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3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13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080034" y="4068128"/>
            <a:ext cx="54102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大腿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904389" y="4155758"/>
            <a:ext cx="89916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摆动，摇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857524" y="4189413"/>
            <a:ext cx="72009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表修饰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740174" y="4085273"/>
            <a:ext cx="54102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错误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542439" y="4164648"/>
            <a:ext cx="36195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却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2" grpId="0"/>
      <p:bldP spid="14" grpId="0"/>
      <p:bldP spid="16" grpId="0"/>
      <p:bldP spid="21" grpId="0"/>
      <p:bldP spid="23" grpId="0"/>
      <p:bldP spid="25" grpId="0"/>
      <p:bldP spid="26" grpId="0"/>
      <p:bldP spid="30" grpId="0"/>
      <p:bldP spid="2" grpId="0" bldLvl="0" animBg="1"/>
      <p:bldP spid="3" grpId="0" bldLvl="0" animBg="1"/>
      <p:bldP spid="4" grpId="0" bldLvl="0" animBg="1"/>
      <p:bldP spid="5" grpId="0" bldLvl="0" animBg="1"/>
      <p:bldP spid="31" grpId="0"/>
      <p:bldP spid="32" grpId="0"/>
      <p:bldP spid="33" grpId="0"/>
      <p:bldP spid="34" grpId="0"/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3"/>
          <p:cNvSpPr/>
          <p:nvPr/>
        </p:nvSpPr>
        <p:spPr>
          <a:xfrm>
            <a:off x="179388" y="123825"/>
            <a:ext cx="8785225" cy="26149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fontAlgn="ctr"/>
            <a:r>
              <a:rPr lang="zh-CN" altLang="zh-CN" sz="2000" b="1" dirty="0">
                <a:latin typeface="微软雅黑" panose="020B0503020204020204" charset="-122"/>
                <a:ea typeface="微软雅黑" panose="020B0503020204020204" charset="-122"/>
              </a:rPr>
              <a:t>书戴嵩画牛</a:t>
            </a:r>
            <a:endParaRPr lang="zh-CN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300000"/>
              </a:lnSpc>
            </a:pP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处士笑而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然之</a:t>
            </a:r>
            <a:r>
              <a:rPr lang="zh-CN" altLang="en-US" sz="2400" b="1" baseline="30000" dirty="0">
                <a:latin typeface="宋体" panose="02010600030101010101" pitchFamily="2" charset="-122"/>
                <a:sym typeface="+mn-ea"/>
              </a:rPr>
              <a:t>⒁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。古语有云：</a:t>
            </a:r>
            <a:r>
              <a:rPr lang="en-US" altLang="zh-CN" sz="2400" b="1" dirty="0">
                <a:latin typeface="方正铁筋隶书简体" pitchFamily="65" charset="-122"/>
                <a:ea typeface="方正铁筋隶书简体" pitchFamily="65" charset="-122"/>
              </a:rPr>
              <a:t>“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耕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当</a:t>
            </a:r>
            <a:r>
              <a:rPr lang="zh-CN" altLang="en-US" sz="2400" b="1" baseline="30000" dirty="0">
                <a:latin typeface="宋体" panose="02010600030101010101" pitchFamily="2" charset="-122"/>
                <a:sym typeface="+mn-ea"/>
              </a:rPr>
              <a:t>⒂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问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奴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，织当问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婢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。</a:t>
            </a:r>
            <a:r>
              <a:rPr lang="en-US" altLang="zh-CN" sz="2400" b="1" dirty="0">
                <a:latin typeface="方正铁筋隶书简体" pitchFamily="65" charset="-122"/>
                <a:ea typeface="方正铁筋隶书简体" pitchFamily="65" charset="-122"/>
              </a:rPr>
              <a:t>”</a:t>
            </a:r>
            <a:r>
              <a:rPr lang="zh-CN" altLang="en-US" sz="2400" b="1" dirty="0">
                <a:latin typeface="方正铁筋隶书简体" pitchFamily="65" charset="-122"/>
                <a:ea typeface="方正铁筋隶书简体" pitchFamily="65" charset="-122"/>
              </a:rPr>
              <a:t>不可改也。</a:t>
            </a:r>
            <a:endParaRPr lang="zh-CN" altLang="en-US" sz="2400" b="1" dirty="0">
              <a:latin typeface="方正铁筋隶书简体" pitchFamily="65" charset="-122"/>
              <a:ea typeface="方正铁筋隶书简体" pitchFamily="65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9640" y="612775"/>
            <a:ext cx="15709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认为他说得对。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然：认为</a:t>
            </a:r>
            <a:r>
              <a:rPr lang="en-US" altLang="zh-CN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1683" y="828040"/>
            <a:ext cx="6477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应当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26405" y="772160"/>
            <a:ext cx="731520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农民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75463" y="843280"/>
            <a:ext cx="792162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1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女佣</a:t>
            </a:r>
            <a:endParaRPr lang="zh-CN" altLang="en-US" sz="1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60" y="1491615"/>
            <a:ext cx="9246870" cy="675640"/>
          </a:xfrm>
          <a:prstGeom prst="rect">
            <a:avLst/>
          </a:prstGeom>
          <a:solidFill>
            <a:schemeClr val="tx2">
              <a:lumMod val="20000"/>
              <a:lumOff val="80000"/>
              <a:alpha val="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古人有句话说：</a:t>
            </a:r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耕种的事应该去问农民，纺织的事应该去问织工。</a:t>
            </a:r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这个道理是不会改变的啊。</a:t>
            </a:r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6065" y="3074988"/>
            <a:ext cx="8613140" cy="142240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noFill/>
            <a:miter lim="800000"/>
          </a:ln>
          <a:effectLst/>
        </p:spPr>
        <p:txBody>
          <a:bodyPr vert="horz" wrap="square" lIns="68580" tIns="34290" rIns="68580" bIns="34290" numCol="1" anchor="ctr" anchorCtr="0" compatLnSpc="1">
            <a:spAutoFit/>
          </a:bodyPr>
          <a:p>
            <a:pPr lvl="0"/>
            <a:r>
              <a:rPr lang="zh-CN" altLang="en-US" sz="40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苏轼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，字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子瞻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，号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东坡居士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，世人称其为“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苏东坡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”</a:t>
            </a:r>
            <a:r>
              <a:rPr lang="en-US" altLang="zh-CN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与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其父苏洵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其弟苏辙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并称“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三苏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”。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北宋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著名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文学家、书画家、词人、诗人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唐宋八大家之一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豪放派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Times New Roman" panose="02020603050405020304" pitchFamily="18" charset="0"/>
              </a:rPr>
              <a:t>词人代表。</a:t>
            </a:r>
            <a:endParaRPr lang="zh-CN" altLang="en-US" sz="2400" b="1" noProof="1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3" grpId="0" bldLvl="0" animBg="1"/>
      <p:bldP spid="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505" y="1419225"/>
            <a:ext cx="7646670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《书戴嵩画牛》通过记叙一位牧童指出著名画家戴嵩画牛失误一事，生动地说明了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艺术创作离不开对生活的细心观察，艺术家应该向有实践经验的劳动人民学习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的道理。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251460" y="267970"/>
            <a:ext cx="8595995" cy="4786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第一段写故事发生背景。先写杜处士的喜爱及书画收藏的丰富,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又写“戴嵩《牛》一轴”是杜处士特别喜爱的，并以“锦囊玉轴，常以自随”写出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这幅画在杜处士心目中的地位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，为下文杜处士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乐于接受正确意见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埋下伏笔。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第二段讲述牧童指出戴嵩《斗牛图》中失误的故事,并表明作者观点。先写杜处士晒画时，牧童看见《斗牛图》，“拊掌大笑”,并一针见血指出其中错误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“掉尾而斗”。以牧童特有的对生活的熟悉，说明错误的理由“斗牛，力在角，尾搐入两股间”;另一方面通过“谬矣”这一肯定的结论，生动说明生活中最有发言权的是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富有实践经验的人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，杜处士不得不“笑而然之”，豁达地认同牧童的观点。最后引用古语“耕当问奴，,织当问婢”点题，进一步揭示了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实践出真知的真理，提倡向富有实践经验的人虚心学习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全文寥寥数语，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牧童天真未凿、处士豁达从容的形象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跃然纸上，简洁生动，意趣盎然。运用寓言手法，在平常故事中寄寓深刻道理，发人深思。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SLIDE_ID_2" val="{FDDDD1CA-C686-4F16-A5FB-150E20BF87C1}"/>
  <p:tag name="GENSWF_ADVANCE_TIME" val="5"/>
  <p:tag name="ISPRING_CUSTOM_TIMING_USED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6419</Words>
  <Application>WPS 演示</Application>
  <PresentationFormat/>
  <Paragraphs>330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宋体</vt:lpstr>
      <vt:lpstr>Wingdings</vt:lpstr>
      <vt:lpstr>Calibri</vt:lpstr>
      <vt:lpstr>楷体</vt:lpstr>
      <vt:lpstr>Times New Roman</vt:lpstr>
      <vt:lpstr>华文新魏</vt:lpstr>
      <vt:lpstr>KSOF37864B3A</vt:lpstr>
      <vt:lpstr>Segoe Print</vt:lpstr>
      <vt:lpstr>微软雅黑</vt:lpstr>
      <vt:lpstr>Arial Unicode MS</vt:lpstr>
      <vt:lpstr>等线</vt:lpstr>
      <vt:lpstr>方正铁筋隶书简体</vt:lpstr>
      <vt:lpstr>黑体</vt:lpstr>
      <vt:lpstr>华文中宋</vt:lpstr>
      <vt:lpstr>华文楷体</vt:lpstr>
      <vt:lpstr>KSOF486BF861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JX</dc:creator>
  <cp:lastModifiedBy>320</cp:lastModifiedBy>
  <cp:revision>15</cp:revision>
  <dcterms:created xsi:type="dcterms:W3CDTF">2025-02-20T11:45:00Z</dcterms:created>
  <dcterms:modified xsi:type="dcterms:W3CDTF">2026-09-17T02:51:03Z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B37824E254314A6489141ADC2D9C4114_13</vt:lpwstr>
  </property>
  <property fmtid="{D5CDD505-2E9C-101B-9397-08002B2CF9AE}" pid="3" name="KSOProductBuildVer">
    <vt:lpwstr>2052-12.1.0.28505</vt:lpwstr>
  </property>
</Properties>
</file>