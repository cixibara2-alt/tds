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1"/>
  </p:notesMasterIdLst>
  <p:sldIdLst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40" r:id="rId12"/>
    <p:sldId id="316" r:id="rId13"/>
    <p:sldId id="318" r:id="rId14"/>
    <p:sldId id="319" r:id="rId15"/>
    <p:sldId id="342" r:id="rId16"/>
    <p:sldId id="343" r:id="rId17"/>
    <p:sldId id="344" r:id="rId18"/>
    <p:sldId id="308" r:id="rId19"/>
    <p:sldId id="309" r:id="rId20"/>
    <p:sldId id="335" r:id="rId21"/>
    <p:sldId id="355" r:id="rId22"/>
    <p:sldId id="357" r:id="rId23"/>
    <p:sldId id="356" r:id="rId24"/>
    <p:sldId id="393" r:id="rId25"/>
    <p:sldId id="394" r:id="rId26"/>
    <p:sldId id="395" r:id="rId27"/>
    <p:sldId id="396" r:id="rId28"/>
    <p:sldId id="397" r:id="rId29"/>
    <p:sldId id="398" r:id="rId30"/>
    <p:sldId id="366" r:id="rId31"/>
    <p:sldId id="365" r:id="rId32"/>
    <p:sldId id="368" r:id="rId33"/>
    <p:sldId id="369" r:id="rId34"/>
    <p:sldId id="371" r:id="rId35"/>
    <p:sldId id="372" r:id="rId36"/>
    <p:sldId id="373" r:id="rId37"/>
    <p:sldId id="374" r:id="rId38"/>
    <p:sldId id="375" r:id="rId39"/>
    <p:sldId id="379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</p:sldIdLst>
  <p:sldSz cx="9144000" cy="51435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1" userDrawn="1">
          <p15:clr>
            <a:srgbClr val="A4A3A4"/>
          </p15:clr>
        </p15:guide>
        <p15:guide id="2" pos="30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E89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-872" y="-68"/>
      </p:cViewPr>
      <p:guideLst>
        <p:guide orient="horz" pos="1641"/>
        <p:guide pos="30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468630" y="555625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观沧海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曹操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东临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碣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石，以观沧海。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水何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澹，山岛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竦峙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树木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生，百草丰茂。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秋风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瑟，洪波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日月之行，若出其中;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星汉灿烂，若出其里。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甚至哉，歌以咏志。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36010" y="771525"/>
            <a:ext cx="5443220" cy="415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曹操，字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孟德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东汉末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政治家、军事家、诗人。他是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建安时期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的代表诗人之一。他的诗继承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汉代乐府民歌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反映现实的优良传统，风格悲凉慷慨。《观沧海》属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于四言古体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诗，也是一首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乐府诗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这首诗是曹操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北征乌桓胜利班师，途中登临碣石山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时所作。诗人借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大海吞吐日月、包蕴万千的壮阔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景象表现了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开阔的胸襟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，抒发了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统一中国、建功立业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远大抱负。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4355465" y="1419860"/>
            <a:ext cx="413766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临：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到达，登上。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澹澹：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水波荡漾的样子。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竦峙：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耸立。竦、峙，都是耸立的意思。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星汉：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银河。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幸甚至哉：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幸运得很，好极了。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幸，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幸运。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至，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达到极点。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468630" y="555625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观沧海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曹操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东临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碣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石，以观沧海。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水何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澹，山岛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竦峙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树木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生，百草丰茂。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秋风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瑟，洪波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日月之行，若出其中;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星汉灿烂，若出其里。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甚至哉，歌以咏志。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707765" y="195580"/>
            <a:ext cx="5322570" cy="455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开头两句“东临碣石，以观沧海”，点明了观沧海的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地点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“观”字总领全篇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，流露了诗人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眺望大海时兴奋而庄严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的心情，显示了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“君临天下”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的气势。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接着“水何澹澹，山岛竦峙”两句写了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大海的全景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，荡漾的海水和耸立的山岛，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动静相衬，刚柔并济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，显示了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大海的辽阔壮观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“树木丛生，百草丰茂。秋风萧瑟，洪波涌起”四句，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动静结合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，具体真实地描绘了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山岛和海水的景象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，“涌”字生动地展现了大海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波澜壮阔的气势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。表现出诗人初见沧海的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惊喜和赞叹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468630" y="555625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观沧海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曹操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东临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碣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石，以观沧海。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水何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澹，山岛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竦峙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树木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生，百草丰茂。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秋风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瑟，洪波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日月之行，若出其中;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星汉灿烂，若出其里。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甚至哉，歌以咏志。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563620" y="699770"/>
            <a:ext cx="5322570" cy="3451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“日月之行，若出其中;星汉灿烂，若出其里”四句，以丰富的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想象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力，描绘了大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海吞吐日月、包蕴星汉的宏伟气魄和博大胸怀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，诗人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借沧海之景来表达自己包举宇内，一统天下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的豪情壮志。突出诗人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旷达的胸襟和对前途充满信心的乐观气度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这首诗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虚实结合，借景抒情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海水、山岛的景物描写和大海吞吐日月星辰的浪漫想象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中，融入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诗人得胜归来的壮志豪情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468630" y="555625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观沧海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曹操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东临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碣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石，以观沧海。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水何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澹，山岛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竦峙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树木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生，百草丰茂。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秋风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萧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瑟，洪波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涌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起。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日月之行，若出其中;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星汉灿烂，若出其里。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甚至哉，歌以咏志。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252730" y="915670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次北固山下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客路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山外，行舟绿水前。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潮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平两岸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阔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，风正一帆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悬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海日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残夜，江春入旧年。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乡书何处达？归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雁洛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阳边。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11955" y="982345"/>
            <a:ext cx="4660265" cy="374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王湾，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唐代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诗人。体裁为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五言律诗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这首诗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描写了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冬末春初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之际，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诗人泛舟东行，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停船北固山下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时，所见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青山绿水，潮平岸阔，海日江春、归雁北飞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壮丽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之景，由此而引发的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怀乡情思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，也抒发了作者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积极乐观的人生态度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，融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写景、抒情、说理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于一体。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11505" y="339725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4356100" y="771525"/>
            <a:ext cx="45307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次：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停宿。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客路：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旅人前行的路。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潮平两岸阔：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潮水涨满，与两岸齐平，整个江面十分开阔。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海日生残夜：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夜还未消尽，红日已从海上升起。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残夜，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指夜将尽未尽之时。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江春入旧年：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旧年未过，江上新春已来。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归雁洛阳边：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希望北归的大雁捎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一封家书到洛阳。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252730" y="915670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次北固山下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客路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山外，行舟绿水前。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潮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平两岸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阔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，风正一帆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悬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海日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残夜，江春入旧年。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乡书何处达？归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雁洛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阳边。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11505" y="339725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780155" y="267335"/>
            <a:ext cx="52120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题目表明这首诗创作于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诗人的旅途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之中。他在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北固山下停宿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之时，写下了自己的见闻感受。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首联点题，“客路”、“行舟”点明标题当中的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次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，交代诗人的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漂泊羁旅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现状。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颔联描绘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水面行舟时看到的景象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。上句“潮平两岸阔”中的“阔”，用来表现“潮平”。下句用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帆悬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突出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既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是顺风，又是和风，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这一诗句妙在通过“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风正一帆悬"这一小景，把平野开阔、大江直流、风平浪静等大景表现出来了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。也象征了诗人对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人生旅途充满期待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，心情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乐观昂扬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324485" y="915670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次北固山下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客路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山外，行舟绿水前。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潮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平两岸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阔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，风正一帆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悬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海日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残夜，江春入旧年。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乡书何处达？归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雁洛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阳边。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11505" y="339725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923665" y="123190"/>
            <a:ext cx="5118735" cy="5187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颈联“海日生残夜，江春入旧年”描摹景物。当“日生残夜”“春入旧年”，都表示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时序的交替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，并且把“日”与“春”作为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新生的美好事物的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象征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，提到主语的位置加以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强调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，“生”字与“入”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采用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拟人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手法，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赋予它们以人的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意志和情思，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给人以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乐观、积极、向上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的力量。并且蕴含着深刻的自然的哲理：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新事物必将代替旧事物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尾联运用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设问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修辞，自问自答。承接颈联点明的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时节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，又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化用典故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，借归雁来给他传递家书，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借物抒情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，顺势表达了自己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对故乡的思念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324485" y="915670"/>
            <a:ext cx="4780915" cy="381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次北固山下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客路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山外，行舟绿水前。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潮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平两岸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阔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，风正一帆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悬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海日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生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残夜，江春入旧年。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乡书何处达？归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雁洛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阳边。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11505" y="339725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闻王昌龄左迁龙标遥有此寄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李白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花落尽子规啼，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龙标过五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我寄愁心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随君直到夜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11955" y="2715895"/>
            <a:ext cx="476885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杨花：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柳絮。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子规：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即杜鹃，又称“布谷鸟”。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龙标：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指王昌龄。古代常用官职或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任官之地的州县名来称呼一个人。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43680" y="1059180"/>
            <a:ext cx="5008245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李白,字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太白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青莲居士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，被称为</a:t>
            </a:r>
            <a:r>
              <a:rPr lang="en-US" altLang="zh-CN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诗仙</a:t>
            </a:r>
            <a:r>
              <a:rPr lang="en-US" altLang="zh-CN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唐代浪漫主义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诗人，诗歌体裁为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七言绝句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924300" y="1564005"/>
            <a:ext cx="5033645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诗人借描写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暮春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的景色，叙述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好友王昌龄贬官之事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择了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杨花、子规、明月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等意象，以奇特的想象力编织出一个朦胧的梦境，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借明月寄托对友人被贬龙标的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惋惜、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同情与思念，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以及因朋友远去偏僻之地而产生的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感愤与关切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之情，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表达真挚友情。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闻王昌龄左迁龙标遥有此寄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李白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花落尽子规啼，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龙标过五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我寄愁心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随君直到夜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923665" y="339725"/>
            <a:ext cx="5111750" cy="4864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天宝三载(744)李白离京，漫游江南，到达扬州之时，忽闻王昌龄由江宁丞被贬为龙标尉，不及送别，便题此诗遥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寄远方的友人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，以抒发心中的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悲伤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慰藉王昌龄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首句以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杨花、子规起兴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写景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兼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点时令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，渲染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凄凉哀愁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的气氛，烘托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悲伤愁恻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的情绪。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诗人选取漂泊无定的杨花、叫着“不如归去”的子规，暗含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飘零之感、离别之恨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，切合当时情事。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次句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直叙其事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点明愁的由来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。“闻道”，表示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惊讶惋惜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;“过五溪”，见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迁谪之荒远,道路之艰难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。含蓄地表达出诗人听闻友人遭遇后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担忧、痛惜、悲伤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的心情。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10795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闻王昌龄左迁龙标遥有此寄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李白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花落尽子规啼，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龙标过五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我寄愁心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随君直到夜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996055" y="267335"/>
            <a:ext cx="5131435" cy="4864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三、四句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抒情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点出主旨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这两句诗有三层意思:一是说，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自己心中充满了愁思，无人可诉，无人理解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;二是说，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唯有明月分照两地，自己和朋友都能看见它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;三是说，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只有依靠它才能将愁心捎去，别无他法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李白通过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想象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，抒写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志同道合的友情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愁心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具象化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会随风逐月直到夜郎之西。本来无知无情的明月，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连明月都变成了一个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了解自己、富于同情心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的知心人，能够将自己对朋友的怀念和同情带到辽远的夜郎之西，交给那不幸的谪迁之人。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诗中的明月象征着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纯洁、高尚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，也只有明月才能同时照亮诗人和友人。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36195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闻王昌龄左迁龙标遥有此寄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李白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花落尽子规啼，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龙标过五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我寄愁心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随君直到夜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139565" y="3003550"/>
            <a:ext cx="476885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昏鸦：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黄昏时将要回巢的乌鸦。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断肠：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形容悲伤到极点。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天涯：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天边，指远离家乡的地方。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51910" y="339725"/>
            <a:ext cx="5008245" cy="2231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马致远，号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东篱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，一说字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千里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元代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著名戏曲作家、散曲家。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元曲四大家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之一。《天净沙·秋思》是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元曲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，《天净沙》是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曲牌名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。《秋思》是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作品具体名称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。标题交代了作品所写的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时节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以及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主要内容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天净沙·秋思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马致远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老树昏鸦，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小桥流水人家，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古道西风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夕阳西下，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断肠人在天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924300" y="1564005"/>
            <a:ext cx="5033645" cy="171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这首元曲被誉为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“秋思之祖”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。仅二十八字就勾画出一幅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秋郊夕照、天涯游子的“思归图”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。抒发游子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漂泊天涯的孤寂愁苦和思乡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之情。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天净沙·秋思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马致远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老树昏鸦，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小桥流水人家，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古道西风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夕阳西下，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断肠人在天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131820" y="195580"/>
            <a:ext cx="5855335" cy="496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前三组景是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断肠人所见之景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。“枯藤老树昏鸦”，运用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白描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手法，组成一幅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毫无生气、沧沧凉凉的秋天萧索晚景图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，与游子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悲凉的心境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相吻合。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“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小桥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流水人家”，画面转为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安谧而温馨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，充满了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生机盎然、人间温情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以乐景衬哀情。反衬</a:t>
            </a:r>
            <a:r>
              <a:rPr lang="zh-CN" altLang="en-US" sz="1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出天涯游子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孤寂凄楚的思乡之情。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“古道西风瘦马”，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西风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即秋风，秋风是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悲凉萧瑟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的。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古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破旧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之感，“瘦”表面写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马困顿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，实际写人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因长途跋涉而累瘦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，表现出游子的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孤寂愁苦和思乡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之情。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“夕阳西下，断肠人在天涯”，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不仅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写景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，而且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写人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。“夕阳”点出了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时间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，并照应上文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“昏”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字。在暮色苍茫中烘托出一个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骑着瘦马、远离家乡、羁旅漂泊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的人，道出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天涯游子之悲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。“断肠”二字为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诗眼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，这一句又直抒胸臆：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游子远离家乡，孤独漂泊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179705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天净沙·秋思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马致远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老树昏鸦，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小桥流水人家，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古道西风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夕阳西下，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断肠人在天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851910" y="144145"/>
            <a:ext cx="975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咏雪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谢太傅寒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雪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日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内集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，与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儿女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讲论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文义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俄而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雪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骤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，公欣然曰：“白雪纷纷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何所似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？”兄子胡儿曰：“撒盐空中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差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可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拟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。”兄女曰：“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未若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柳絮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风起。”公大笑乐。即公大兄无奕女 ，左将军王凝之妻也。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707765" y="501015"/>
            <a:ext cx="127508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子女，泛指家里的小辈，包括侄儿侄女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4827905" y="1355090"/>
            <a:ext cx="7588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文章的义理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1943735" y="1628775"/>
            <a:ext cx="737870" cy="24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像什么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796280" y="1635760"/>
            <a:ext cx="728345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大体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1460" y="3141345"/>
            <a:ext cx="8551545" cy="1804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谢安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寒冷的雪天把家人聚集在一起，举行家庭聚会，和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子侄辈的人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讲解文章的义理。不一会儿雪下得急了，太傅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高兴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地说：“这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纷纷扬扬的白雪像什么呢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？”太傅次兄的长子谢朗说：“在空中撒盐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大体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可以相比。”太傅长兄的女儿说：“不如比作柳絮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乘风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飞舞。”太傅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开心得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大笑起来。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她就是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太傅长兄谢无奕的女儿——谢道韫，左将军王凝之的妻子。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8430" y="1543603"/>
            <a:ext cx="120396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宾语前置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11835" y="2212340"/>
            <a:ext cx="8026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不如，不及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7" name="文本框 7"/>
          <p:cNvSpPr txBox="1">
            <a:spLocks noChangeArrowheads="1"/>
          </p:cNvSpPr>
          <p:nvPr/>
        </p:nvSpPr>
        <p:spPr bwMode="auto">
          <a:xfrm>
            <a:off x="1691640" y="2355850"/>
            <a:ext cx="84836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趁、乘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555875" y="628015"/>
            <a:ext cx="11893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把家里人聚集在一起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596255" y="651510"/>
            <a:ext cx="7677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不久，一会儿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444615" y="816610"/>
            <a:ext cx="3886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急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6444615" y="1635760"/>
            <a:ext cx="58293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相比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4" grpId="0"/>
      <p:bldP spid="16" grpId="0"/>
      <p:bldP spid="4" grpId="0"/>
      <p:bldP spid="47" grpId="0"/>
      <p:bldP spid="3" grpId="0"/>
      <p:bldP spid="5" grpId="0"/>
      <p:bldP spid="6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467360" y="915670"/>
            <a:ext cx="8305800" cy="2458720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选自《世说新语笺疏》。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《世说新语》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，南朝宋临川王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刘义庆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组织编写的一部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志人小说集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，主要记载汉末至东晋士大夫的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言谈、逸事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。是魏晋南北朝时期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“笔记小说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（笔记式的短篇故事”）的代表作。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251460" y="411480"/>
            <a:ext cx="8634095" cy="4525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谢家子弟咏雪，谢道韫以“柳絮因风起”胜出，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借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咏雪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这样一个小故事，表现了一个具有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丰富想象力、自信、聪慧、机敏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的少女形象，也展现东晋士族家庭的文化雅趣。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“谢太傅寒雪日内集，与儿女讲论文义”总述谢太傅家人咏雪的背景，交代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时间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“寒雪日”，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人物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“谢太傅及其小辈”，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事件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“讲论文义”等要素。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谢家子弟用“撒盐空中”和“柳絮因风起”来比喻白雪纷纷的情景。盐主要展现雪的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颜色白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，比拟的情形是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撒盐空中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差可拟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可见谢朗虽立刻回应，可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底气不足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。而谢道韫以一句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“未若柳絮因风起”不仅展现了雪的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颜色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，而且突出其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轻盈的形态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，传递出诗的意境，一个聪慧与机敏的才女形象跃然纸上，此外，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未若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可见谢道韫的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自信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文中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还用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“内集”“欣然”“大笑”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等词语营造了一种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融洽、欢乐、轻松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的家庭氛围。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陈太丘与友期行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陈太丘与友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期行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，期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日中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。过中不至，太丘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舍去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，去后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乃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至。元方时年七岁，门外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戏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。客问元方:“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尊君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?”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答曰:“待君久不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至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，已去。”友人便怒曰:“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非人哉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!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与人期行，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相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委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而去。”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635375" y="915670"/>
            <a:ext cx="603885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正午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4068445" y="1420495"/>
            <a:ext cx="10071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对别人父亲的尊称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2483485" y="1637665"/>
            <a:ext cx="582930" cy="24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玩耍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129530" y="1564005"/>
            <a:ext cx="728345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通“否”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1460" y="3141345"/>
            <a:ext cx="8551545" cy="1804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陈太丘和朋友相约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同行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，约定在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正午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。过了正午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朋友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还没到，陈太丘就丢下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（他/朋友）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离开了。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太丘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离开后朋友才到。元方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当时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年七岁，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门外玩耍。客人问元方：“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令尊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在不在？”元方回答道：“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我父亲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等了您很久，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却还没有到，现在已经离开了。”朋友便生气地说道：“真不是君子啊！他和别人相约出行，却丢下别人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自己离开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了。”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375" y="1541063"/>
            <a:ext cx="120396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宾语前置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843530" y="2355850"/>
            <a:ext cx="12014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不是君子啊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7" name="文本框 7"/>
          <p:cNvSpPr txBox="1">
            <a:spLocks noChangeArrowheads="1"/>
          </p:cNvSpPr>
          <p:nvPr/>
        </p:nvSpPr>
        <p:spPr bwMode="auto">
          <a:xfrm>
            <a:off x="5003800" y="2216785"/>
            <a:ext cx="8483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动作偏指一方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339340" y="843915"/>
            <a:ext cx="604520" cy="28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约定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815330" y="843915"/>
            <a:ext cx="629285" cy="281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丢下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372225" y="859155"/>
            <a:ext cx="58293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离开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812405" y="1564005"/>
            <a:ext cx="4775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到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843530" y="845820"/>
            <a:ext cx="604520" cy="28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同行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308215" y="884555"/>
            <a:ext cx="604520" cy="28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才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文本框 7"/>
          <p:cNvSpPr txBox="1">
            <a:spLocks noChangeArrowheads="1"/>
          </p:cNvSpPr>
          <p:nvPr/>
        </p:nvSpPr>
        <p:spPr bwMode="auto">
          <a:xfrm>
            <a:off x="5939790" y="2428240"/>
            <a:ext cx="84836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丢下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4" grpId="0"/>
      <p:bldP spid="16" grpId="0"/>
      <p:bldP spid="4" grpId="0"/>
      <p:bldP spid="47" grpId="0"/>
      <p:bldP spid="3" grpId="0"/>
      <p:bldP spid="5" grpId="0"/>
      <p:bldP spid="6" grpId="0"/>
      <p:bldP spid="10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陈太丘与友期行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163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元方曰:"君与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家君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期日中。日中不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至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，则是无信;对子骂父，则是无礼。”友人惭，下车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引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之。元方入门不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顾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5129530" y="843280"/>
            <a:ext cx="603885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到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2987675" y="1628775"/>
            <a:ext cx="582930" cy="24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拉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5129530" y="1564005"/>
            <a:ext cx="728345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回头看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7820" y="2643505"/>
            <a:ext cx="8551545" cy="13544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元方说：“您与我父亲约定在正午。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过了正午还没有到，就是不讲信用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的表现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；对孩子骂他父亲，就是没礼貌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的表现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。”朋友惭愧，下车去拉元方，元方头也不回地走进了大门。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699385" y="699135"/>
            <a:ext cx="1202055" cy="315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对人谦称自己的父亲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4" grpId="0"/>
      <p:bldP spid="16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95605" y="195580"/>
            <a:ext cx="8455025" cy="4864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本文通过七岁的陈元方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以理驳斥友人失约无礼，说明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做人应守信用、讲礼貌。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体现了元方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聪明机智、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明辨事理、落落大方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、维护父亲与自己尊严的儿童形象，通过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也体现出客人的“无礼”和“无信”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开篇交代背景（时间、地点、事件背景）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，后用简洁地描写对话，表现七岁的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陈元方明白事理和落落大方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的品质，同时将客人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前倨后恭的情态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刻画得淋漓尽致。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本文以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“无礼”“无信”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为核心，着重写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陈元方与客人的对话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对话与对比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中表现人物的不同性格特点。首先是元方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彬彬有礼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地回答客人的问话:“待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君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久不至，已去。”接着描写元方针对客人“无信”“无礼”表现的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据理驳斥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。最后写元方“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入门不顾”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。一个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明白事理、落落大方、维护父亲与自己尊严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的儿童形象跃然纸上，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“无信”“无礼”的客人形象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也展现在读者面前，写友人感到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惭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引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元方，这一表现也从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侧面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表现了元方的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聪慧过人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曰：“学而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时习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之，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不亦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说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乎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？有朋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自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远方来，不亦乐乎？人不知而不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，不亦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君子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乎？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曾子曰：“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吾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日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三省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吾身：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为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人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乎？与朋友交而不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信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乎？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不习乎？”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635375" y="647065"/>
            <a:ext cx="1764665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常用于表示委婉的反问，不是……吗？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4068445" y="1420495"/>
            <a:ext cx="131508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通“悦”愉快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2190750" y="1564005"/>
            <a:ext cx="1088390" cy="25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有才德的人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2771775" y="2349500"/>
            <a:ext cx="54991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每日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070" y="3695700"/>
            <a:ext cx="8551545" cy="1447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孔子说:“学习了，然后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按时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温习，不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也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是很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愉快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吗? 有志同道合的人从远方来，不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也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是很快乐吗?人家不了解我，我并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不因此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而恼怒，不也是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有才德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的人吗?” </a:t>
            </a: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曾子说:“我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每天多次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地反省自己: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替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别人办事是不是尽心尽力呢?跟朋友交往是不是足够诚信/真诚呢?老师传授的知识是否复习过了呢?”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5255" y="1707433"/>
            <a:ext cx="580009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论述从学习方法到为人修养，体现学习的价值。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3347720" y="2162810"/>
            <a:ext cx="12014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多次进行自我检查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7" name="文本框 7"/>
          <p:cNvSpPr txBox="1">
            <a:spLocks noChangeArrowheads="1"/>
          </p:cNvSpPr>
          <p:nvPr/>
        </p:nvSpPr>
        <p:spPr bwMode="auto">
          <a:xfrm>
            <a:off x="4500245" y="2283460"/>
            <a:ext cx="84836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给，替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610485" y="861695"/>
            <a:ext cx="909955" cy="28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按时温习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422900" y="887095"/>
            <a:ext cx="455295" cy="23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从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946785" y="1507490"/>
            <a:ext cx="115443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生气，恼怒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67360" y="659130"/>
            <a:ext cx="1901825" cy="46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中国古代对男子的尊称，这里指孔子。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文本框 7"/>
          <p:cNvSpPr txBox="1">
            <a:spLocks noChangeArrowheads="1"/>
          </p:cNvSpPr>
          <p:nvPr/>
        </p:nvSpPr>
        <p:spPr bwMode="auto">
          <a:xfrm>
            <a:off x="5148580" y="2266950"/>
            <a:ext cx="758190" cy="27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谋划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123440" y="2315845"/>
            <a:ext cx="54991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“</a:t>
            </a:r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我</a:t>
            </a:r>
            <a:r>
              <a:rPr lang="en-US" altLang="zh-CN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”</a:t>
            </a:r>
            <a:endParaRPr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" name="文本框 7"/>
          <p:cNvSpPr txBox="1">
            <a:spLocks noChangeArrowheads="1"/>
          </p:cNvSpPr>
          <p:nvPr/>
        </p:nvSpPr>
        <p:spPr bwMode="auto">
          <a:xfrm>
            <a:off x="5364480" y="2860040"/>
            <a:ext cx="1665605" cy="27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竭尽自己的心力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" name="文本框 7"/>
          <p:cNvSpPr txBox="1">
            <a:spLocks noChangeArrowheads="1"/>
          </p:cNvSpPr>
          <p:nvPr/>
        </p:nvSpPr>
        <p:spPr bwMode="auto">
          <a:xfrm>
            <a:off x="8028940" y="2315845"/>
            <a:ext cx="758190" cy="27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诚信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612140" y="3033395"/>
            <a:ext cx="262064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传授，这里指老师传授的知识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28190" y="3291758"/>
            <a:ext cx="452374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强调加强自我反省，提高自我修养。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4" grpId="0"/>
      <p:bldP spid="3" grpId="0"/>
      <p:bldP spid="5" grpId="0"/>
      <p:bldP spid="6" grpId="0"/>
      <p:bldP spid="7" grpId="0"/>
      <p:bldP spid="12" grpId="0"/>
      <p:bldP spid="4" grpId="0"/>
      <p:bldP spid="47" grpId="0"/>
      <p:bldP spid="2" grpId="0"/>
      <p:bldP spid="9" grpId="0"/>
      <p:bldP spid="14" grpId="0"/>
      <p:bldP spid="15" grpId="0"/>
      <p:bldP spid="17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子曰：“吾十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有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五而志于学，三十而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立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，四十而不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惑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，五十而知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天命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，六十而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耳顺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，七十而从心所欲，不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逾矩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。”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endParaRPr lang="en-US" altLang="zh-CN" sz="20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温故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而知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新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可以为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师矣。”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6372225" y="843915"/>
            <a:ext cx="1167765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迷惑，疑惑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7828915" y="857250"/>
            <a:ext cx="131508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上天的意旨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4549140" y="1537970"/>
            <a:ext cx="56324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越过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4" name="文本框 43"/>
          <p:cNvSpPr txBox="1">
            <a:spLocks noChangeArrowheads="1"/>
          </p:cNvSpPr>
          <p:nvPr/>
        </p:nvSpPr>
        <p:spPr bwMode="auto">
          <a:xfrm>
            <a:off x="1764030" y="2787650"/>
            <a:ext cx="149352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旧的，原来的，此指学过的知识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303270"/>
            <a:ext cx="8551545" cy="1703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孔子说:“我十五岁时，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有志于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做学问，三十岁时有所成就，说话办事都有把握；四十岁，心里不再感到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迷惑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，五十岁知道上天的意旨是什么；六十岁能吸取各种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见解而加以容纳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；七十岁我就可以随心所欲，但也不会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越出规矩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。”</a:t>
            </a: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孔子说:“在温习旧知识时，能够有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新体会、新发现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，就可以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因（此）做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老师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了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80380" y="1780540"/>
            <a:ext cx="377444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孔子自述他一生进德修业的过程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752725" y="2139950"/>
            <a:ext cx="12014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新的（理解和体会）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7" name="文本框 7"/>
          <p:cNvSpPr txBox="1">
            <a:spLocks noChangeArrowheads="1"/>
          </p:cNvSpPr>
          <p:nvPr/>
        </p:nvSpPr>
        <p:spPr bwMode="auto">
          <a:xfrm>
            <a:off x="3780155" y="2141220"/>
            <a:ext cx="5975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可以凭借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860290" y="733425"/>
            <a:ext cx="1082675" cy="29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立身，指能有所成就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691640" y="1359535"/>
            <a:ext cx="11544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能听进去不同意见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052320" y="685800"/>
            <a:ext cx="1901825" cy="46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“有”同“又”，用于整数和零数之间 。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文本框 7"/>
          <p:cNvSpPr txBox="1">
            <a:spLocks noChangeArrowheads="1"/>
          </p:cNvSpPr>
          <p:nvPr/>
        </p:nvSpPr>
        <p:spPr bwMode="auto">
          <a:xfrm>
            <a:off x="3960495" y="2787650"/>
            <a:ext cx="111569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成为，做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1646555" y="2299970"/>
            <a:ext cx="115316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温习，复习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292015" y="2541823"/>
            <a:ext cx="388493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论述学习方法，强调温故知新。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07950" y="1564005"/>
            <a:ext cx="1019175" cy="2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命，命令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5076190" y="1555115"/>
            <a:ext cx="56324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法度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4" grpId="0"/>
      <p:bldP spid="3" grpId="0"/>
      <p:bldP spid="6" grpId="0"/>
      <p:bldP spid="7" grpId="0"/>
      <p:bldP spid="12" grpId="0"/>
      <p:bldP spid="4" grpId="0"/>
      <p:bldP spid="47" grpId="0"/>
      <p:bldP spid="2" grpId="0"/>
      <p:bldP spid="9" grpId="0"/>
      <p:bldP spid="17" grpId="0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137795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子曰：“学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不思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罔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，思而不学则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殆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子曰：“贤哉，回也！一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箪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食，一瓢饮，在陋巷，人不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堪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其忧，回也不改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其乐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。贤哉，回也！”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672840" y="628015"/>
            <a:ext cx="1764665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迷惑，意思是感到迷茫而无所适从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3133090" y="1425575"/>
            <a:ext cx="13150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古代盛饭的圆形竹器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9075" y="3435985"/>
            <a:ext cx="8551545" cy="1447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孔子说：“只是读书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不认真思考，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就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会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迷惑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，只空想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不读书，就会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疑惑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孔子说:“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颜回的品质多么高尚啊（主谓倒装句）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!一竹筐饭，一瓢水，住在简陋的巷子里，别人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都不能忍受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那种困苦，颜回却不改变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他自有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的快乐。多么高尚啊，颜回!”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28005" y="410763"/>
            <a:ext cx="299085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论述学习方法，阐明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“学”和“思”的辩证关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系，强调学思结合。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517640" y="1570990"/>
            <a:ext cx="915035" cy="27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能忍受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413000" y="628015"/>
            <a:ext cx="1555750" cy="34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连词，相当于“就”、“便”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547995" y="887730"/>
            <a:ext cx="758825" cy="24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疑惑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901065" y="631825"/>
            <a:ext cx="1555750" cy="46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连词，表示转折，相当于“却”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文本框 7"/>
          <p:cNvSpPr txBox="1">
            <a:spLocks noChangeArrowheads="1"/>
          </p:cNvSpPr>
          <p:nvPr/>
        </p:nvSpPr>
        <p:spPr bwMode="auto">
          <a:xfrm>
            <a:off x="955675" y="2068195"/>
            <a:ext cx="758190" cy="43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他自有的快乐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11880" y="2428158"/>
            <a:ext cx="414147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孔子赞扬颜回安贫乐道的精神。 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3850" y="1443273"/>
            <a:ext cx="120396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主谓倒装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3" grpId="0"/>
      <p:bldP spid="5" grpId="0"/>
      <p:bldP spid="7" grpId="0"/>
      <p:bldP spid="4" grpId="0"/>
      <p:bldP spid="2" grpId="0"/>
      <p:bldP spid="9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611505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子曰：“知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者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不如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好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者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，好之者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不如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乐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之者。”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饭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疏食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饮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水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，曲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肱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而枕之，乐亦在其中矣。不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义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而富且贵，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于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我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如浮云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851910" y="832485"/>
            <a:ext cx="112522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喜爱，爱好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2504440" y="1597025"/>
            <a:ext cx="7588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粗粮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5585" y="3147695"/>
            <a:ext cx="8551545" cy="1652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孔子说:“懂得某种学问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的人不如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喜爱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的人，喜爱它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的人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不如把研究这种学问作为快乐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的人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孔子说:“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粗粮，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喝冷水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，弯着胳膊枕在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上面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，乐趣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也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就在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这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其中了。用不正当的手段得来的富贵，对于我来讲就像是天上的浮云一样。”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43755" y="-19685"/>
            <a:ext cx="4648200" cy="61531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阐述了追求事业或理想的三种境界，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强调兴趣对于学习的重要性。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555875" y="690880"/>
            <a:ext cx="1292860" cy="534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代词，......的人 ”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507990" y="843915"/>
            <a:ext cx="891540" cy="262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比不上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979295" y="1563370"/>
            <a:ext cx="462280" cy="268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吃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115695" y="685800"/>
            <a:ext cx="1388745" cy="46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代词，它，指学问和事业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26105" y="2428158"/>
            <a:ext cx="54165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强调重视道德修养，宁愿贫贱也要坚守仁义。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141730" y="2283460"/>
            <a:ext cx="911225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对，对于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6324600" y="706755"/>
            <a:ext cx="1445895" cy="402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以......为乐，把……当作快乐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3359785" y="1597025"/>
            <a:ext cx="7588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冷水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4283710" y="1597025"/>
            <a:ext cx="7588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胳膊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7524115" y="1597025"/>
            <a:ext cx="7588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仁义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2267585" y="2355850"/>
            <a:ext cx="122428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像浮云一样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3" grpId="0"/>
      <p:bldP spid="5" grpId="0"/>
      <p:bldP spid="6" grpId="0"/>
      <p:bldP spid="7" grpId="0"/>
      <p:bldP spid="2" grpId="0"/>
      <p:bldP spid="17" grpId="0"/>
      <p:bldP spid="11" grpId="0"/>
      <p:bldP spid="18" grpId="0"/>
      <p:bldP spid="19" grpId="0"/>
      <p:bldP spid="20" grpId="0"/>
      <p:bldP spid="21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子曰：“三人行，必有我师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焉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。择其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善者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从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之，其不善者而改之。”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子在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川上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者如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斯</a:t>
            </a:r>
            <a:r>
              <a:rPr lang="en-US" altLang="zh-CN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夫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，不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舍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昼夜。”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6228080" y="808355"/>
            <a:ext cx="154051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跟从，此指学习  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070" y="3695700"/>
            <a:ext cx="8551545" cy="1447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孔子说：“几个人一起走路，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在其中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必定有可以做我老师的人。选取他们的优点而学习，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如果自己也有他们的缺点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就加以改正。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孔子在河边感叹道:“逝去的一切像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这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河水一样流去，日夜不停。”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5665" y="1708068"/>
            <a:ext cx="707644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论述学习态度，学习内容和方法，强调要虚心向他人学习。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5004435" y="696595"/>
            <a:ext cx="1154430" cy="36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好的方面，优点，长处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3564255" y="650240"/>
            <a:ext cx="1154430" cy="46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于此，意思是在其中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文本框 7"/>
          <p:cNvSpPr txBox="1">
            <a:spLocks noChangeArrowheads="1"/>
          </p:cNvSpPr>
          <p:nvPr/>
        </p:nvSpPr>
        <p:spPr bwMode="auto">
          <a:xfrm>
            <a:off x="2627630" y="2270125"/>
            <a:ext cx="1049655" cy="27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往、离去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1674495" y="2355850"/>
            <a:ext cx="684530" cy="27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河边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63595" y="2935523"/>
            <a:ext cx="426847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强调了时光易逝，应当珍惜时间。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3563620" y="2139950"/>
            <a:ext cx="976630" cy="29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代词，这，指河水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0" name="文本框 7"/>
          <p:cNvSpPr txBox="1">
            <a:spLocks noChangeArrowheads="1"/>
          </p:cNvSpPr>
          <p:nvPr/>
        </p:nvSpPr>
        <p:spPr bwMode="auto">
          <a:xfrm>
            <a:off x="4540250" y="2139950"/>
            <a:ext cx="1449705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语气词，用于句末，表感叹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文本框 7"/>
          <p:cNvSpPr txBox="1">
            <a:spLocks noChangeArrowheads="1"/>
          </p:cNvSpPr>
          <p:nvPr/>
        </p:nvSpPr>
        <p:spPr bwMode="auto">
          <a:xfrm>
            <a:off x="5796280" y="2324100"/>
            <a:ext cx="603885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舍弃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" grpId="0"/>
      <p:bldP spid="7" grpId="0"/>
      <p:bldP spid="2" grpId="0"/>
      <p:bldP spid="9" grpId="0"/>
      <p:bldP spid="15" grpId="0"/>
      <p:bldP spid="17" grpId="0"/>
      <p:bldP spid="8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131820" y="54610"/>
            <a:ext cx="2726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《论语》十二章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496570" y="706755"/>
            <a:ext cx="8234045" cy="29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4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子曰：“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三军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可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夺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帅也，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匹夫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不可夺志也。”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240000"/>
              </a:lnSpc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子夏曰：“博学而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笃志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切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问而近思，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仁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在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其中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宋体" panose="02010600030101010101" pitchFamily="2" charset="-122"/>
              </a:rPr>
              <a:t>矣。”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635375" y="647065"/>
            <a:ext cx="1764665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指平民中的男子，这里泛指平民百姓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5539740" y="1562100"/>
            <a:ext cx="716915" cy="3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仁德 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3998595" y="1617345"/>
            <a:ext cx="609600" cy="210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恳切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1935" y="3004185"/>
            <a:ext cx="8551545" cy="1447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孔子说:“一国军队，可以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改变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其主帅，一个人的志向却是不能改变的。”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子夏说:“广泛学习且能坚定自己的志向，恳切地发问，思考当前的事，仁就在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这其中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了。”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12180" y="699770"/>
            <a:ext cx="3172460" cy="6902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强调了坚持志向对于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一个人的重要性。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941320" y="852805"/>
            <a:ext cx="622300" cy="26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改变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844165" y="1564005"/>
            <a:ext cx="115443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坚定志向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195830" y="857885"/>
            <a:ext cx="61404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军队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80080" y="2212258"/>
            <a:ext cx="452374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论述学习方法以及修养仁德的途径。  </a:t>
            </a:r>
            <a:endParaRPr lang="zh-CN" altLang="en-US" sz="2000" b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443980" y="1564005"/>
            <a:ext cx="924560" cy="310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这其中</a:t>
            </a:r>
            <a:endParaRPr lang="zh-CN" altLang="en-US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3" grpId="0"/>
      <p:bldP spid="6" grpId="0"/>
      <p:bldP spid="7" grpId="0"/>
      <p:bldP spid="2" grpId="0"/>
      <p:bldP spid="1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467360" y="411480"/>
            <a:ext cx="8305800" cy="3897630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《论语》是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儒家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经典著作，是记录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孔子及其弟子言行的    语录体散文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著作，涵盖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学习方法、学习态度和个人修养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等道理。它与《大学》《中庸》《孟子》合称为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“四书”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，共二十篇。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孔子，名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丘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，字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仲尼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春秋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末期鲁国鲁国陬邑人。我国古代伟大的思想家、教育家，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儒家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学派创始者。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448945" y="411480"/>
            <a:ext cx="8455025" cy="413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课文选录的十二章均为《论语》中的短章，主要从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学习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处世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两方面阐述了孔子的观点。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第一章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讲述学习方法和个人修养，强调学以致用，体现学习的价值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;第二章强调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要随时反省自己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;第三章讲述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个人修养要循序渐进，进德修业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;第四章强调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学习的关键是要“知新”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;第五章阐明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“学”与“思”的辩证关系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第六章讲述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修身要经受困苦、贫穷的考验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;第七章讲述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兴趣对学习的重要性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;第八章讲述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富贵与仁义之间如何抉择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;第九章强调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无论何时何地，都要虚心向别人学习，同时要有端正的学习态度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;第十章是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对于时间流逝的感慨;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第十一章强调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坚守志向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;第十二章讲述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提升个人修养的方法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323850" y="987425"/>
            <a:ext cx="8305800" cy="2458720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诸葛亮（181-234），字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孔明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，号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卧龙先生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，琅琊阳都（今山东沂南南）人，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三国时期蜀汉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政治家、军事家。代表作有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《诫子书》《出师表》《隆中对》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8398" y="-99845"/>
            <a:ext cx="4429990" cy="1096566"/>
          </a:xfrm>
        </p:spPr>
        <p:txBody>
          <a:bodyPr>
            <a:normAutofit/>
          </a:bodyPr>
          <a:lstStyle/>
          <a:p>
            <a:r>
              <a:rPr lang="zh-CN" altLang="en-US" sz="5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诫子书</a:t>
            </a:r>
            <a:endParaRPr lang="zh-CN" altLang="en-US" sz="5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537" y="3247788"/>
            <a:ext cx="8632731" cy="34325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/>
              <a:t>《</a:t>
            </a:r>
            <a:r>
              <a:rPr lang="zh-CN" altLang="en-US" sz="2000" b="1" dirty="0"/>
              <a:t>诫子书</a:t>
            </a:r>
            <a:r>
              <a:rPr lang="en-US" altLang="zh-CN" sz="2000" b="1" dirty="0"/>
              <a:t>》</a:t>
            </a:r>
            <a:r>
              <a:rPr lang="zh-CN" altLang="en-US" sz="2000" b="1" dirty="0"/>
              <a:t>是三国时期著名政治家</a:t>
            </a:r>
            <a:r>
              <a:rPr lang="zh-CN" altLang="en-US" sz="2000" b="1" u="sng" dirty="0">
                <a:solidFill>
                  <a:srgbClr val="FF0000"/>
                </a:solidFill>
              </a:rPr>
              <a:t>诸葛亮</a:t>
            </a:r>
            <a:r>
              <a:rPr lang="en-US" altLang="zh-CN" sz="2000" b="1" dirty="0"/>
              <a:t>54</a:t>
            </a:r>
            <a:r>
              <a:rPr lang="zh-CN" altLang="en-US" sz="2000" b="1" dirty="0"/>
              <a:t>岁临终前写给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岁儿子</a:t>
            </a:r>
            <a:r>
              <a:rPr lang="zh-CN" altLang="en-US" sz="2000" b="1" dirty="0">
                <a:solidFill>
                  <a:srgbClr val="FF0000"/>
                </a:solidFill>
              </a:rPr>
              <a:t>诸葛瞻</a:t>
            </a:r>
            <a:r>
              <a:rPr lang="zh-CN" altLang="en-US" sz="2000" b="1" dirty="0"/>
              <a:t>的一封家书。诸葛亮是一位品格高洁才学渊博的父亲，对儿子的</a:t>
            </a:r>
            <a:r>
              <a:rPr lang="zh-CN" altLang="en-US" sz="2000" b="1" dirty="0">
                <a:solidFill>
                  <a:srgbClr val="FF0000"/>
                </a:solidFill>
                <a:ea typeface="文鼎中特廣告體" charset="-120"/>
              </a:rPr>
              <a:t>殷殷教诲</a:t>
            </a:r>
            <a:r>
              <a:rPr lang="zh-CN" altLang="en-US" sz="2000" b="1" dirty="0"/>
              <a:t>与</a:t>
            </a:r>
            <a:r>
              <a:rPr lang="zh-CN" altLang="en-US" sz="2000" b="1" dirty="0">
                <a:solidFill>
                  <a:srgbClr val="FF0000"/>
                </a:solidFill>
                <a:ea typeface="文鼎中特廣告體" charset="-120"/>
              </a:rPr>
              <a:t>无限期望</a:t>
            </a:r>
            <a:r>
              <a:rPr lang="zh-CN" altLang="en-US" sz="2000" b="1" dirty="0"/>
              <a:t>尽在书中。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715764" y="915513"/>
            <a:ext cx="4104456" cy="955032"/>
          </a:xfrm>
          <a:prstGeom prst="rect">
            <a:avLst/>
          </a:prstGeom>
          <a:noFill/>
        </p:spPr>
        <p:txBody>
          <a:bodyPr wrap="square" lIns="92357" tIns="46178" rIns="92357" bIns="46178" rtlCol="0">
            <a:spAutoFit/>
          </a:bodyPr>
          <a:lstStyle/>
          <a:p>
            <a:pPr lvl="0"/>
            <a:r>
              <a:rPr lang="zh-CN" altLang="en-US" sz="2800" b="1" dirty="0"/>
              <a:t>告诫儿子的</a:t>
            </a:r>
            <a:r>
              <a:rPr lang="zh-CN" altLang="en-US" sz="2800" b="1" dirty="0">
                <a:solidFill>
                  <a:srgbClr val="FF0000"/>
                </a:solidFill>
              </a:rPr>
              <a:t>一封家书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7194" y="1323008"/>
            <a:ext cx="7517606" cy="179197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诫：</a:t>
            </a:r>
            <a:r>
              <a:rPr lang="zh-CN" altLang="en-US" sz="280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告诫、劝勉</a:t>
            </a:r>
            <a:endParaRPr lang="zh-CN" altLang="en-US" sz="2800" dirty="0">
              <a:solidFill>
                <a:srgbClr val="C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子：一般认为是指诸葛亮的儿子诸葛瞻</a:t>
            </a:r>
            <a:endParaRPr lang="zh-CN" altLang="en-US" sz="2800" dirty="0">
              <a:solidFill>
                <a:prstClr val="blac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书：</a:t>
            </a:r>
            <a:r>
              <a:rPr lang="zh-CN" altLang="en-US" sz="280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书信。</a:t>
            </a:r>
            <a:r>
              <a:rPr lang="zh-CN" altLang="en-US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也是古代的一种应用性文体，又叫“尺牍”或“信札”</a:t>
            </a:r>
            <a:endParaRPr lang="zh-CN" altLang="en-US" sz="2800" dirty="0">
              <a:solidFill>
                <a:prstClr val="blac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7248" y="339409"/>
            <a:ext cx="4763453" cy="6223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夫</a:t>
            </a:r>
            <a:r>
              <a:rPr lang="zh-CN" altLang="en-US" sz="2400" b="1" kern="10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君子</a:t>
            </a:r>
            <a:r>
              <a:rPr lang="zh-CN" altLang="en-US" sz="24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之</a:t>
            </a:r>
            <a:r>
              <a:rPr lang="zh-CN" altLang="en-US" sz="2400" b="1" kern="10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行</a:t>
            </a:r>
            <a:r>
              <a:rPr lang="zh-CN" altLang="en-US" sz="24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CN" altLang="en-US" sz="24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静以</a:t>
            </a:r>
            <a:r>
              <a:rPr lang="zh-CN" altLang="en-US" sz="2400" b="1" kern="10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修身</a:t>
            </a:r>
            <a:r>
              <a:rPr lang="zh-CN" altLang="en-US" sz="24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，俭</a:t>
            </a:r>
            <a:r>
              <a:rPr lang="zh-CN" altLang="en-US" sz="2400" b="1" kern="100">
                <a:solidFill>
                  <a:srgbClr val="1B27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以</a:t>
            </a:r>
            <a:r>
              <a:rPr lang="zh-CN" altLang="en-US" sz="24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养德。</a:t>
            </a:r>
            <a:endParaRPr lang="zh-CN" altLang="en-US" sz="2400" b="1" kern="1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697" y="1131887"/>
            <a:ext cx="7058025" cy="27076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①</a:t>
            </a:r>
            <a:r>
              <a:rPr lang="zh-CN" altLang="en-US" sz="28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夫</a:t>
            </a:r>
            <a:r>
              <a:rPr lang="en-US" altLang="zh-CN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(fú)</a:t>
            </a: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：助词，用于句首表示将发议论。</a:t>
            </a:r>
            <a:endParaRPr lang="zh-CN" altLang="en-US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②</a:t>
            </a:r>
            <a:r>
              <a:rPr lang="zh-CN" altLang="en-US" sz="2400" b="1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君子</a:t>
            </a: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：德才兼备的人。       </a:t>
            </a:r>
            <a:endParaRPr lang="zh-CN" altLang="en-US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③行：行为，操守。</a:t>
            </a:r>
            <a:endParaRPr lang="zh-CN" altLang="en-US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④</a:t>
            </a:r>
            <a:r>
              <a:rPr lang="zh-CN" altLang="en-US" sz="28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静</a:t>
            </a: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：屏除杂念和干扰，宁静专一。</a:t>
            </a:r>
            <a:endParaRPr lang="en-US" altLang="zh-CN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⑤</a:t>
            </a:r>
            <a:r>
              <a:rPr lang="zh-CN" altLang="en-US" sz="28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以</a:t>
            </a: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：连词，表示后者是前者的目的。</a:t>
            </a:r>
            <a:endParaRPr lang="en-US" altLang="zh-CN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⑥修身：修养身心，努力提高自己的品德修养。</a:t>
            </a:r>
            <a:endParaRPr lang="zh-CN" altLang="en-US" sz="24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2025" y="4049395"/>
            <a:ext cx="7496175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      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德才兼备人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的为人行事，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用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宁静专一来提高修养，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以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lt"/>
              </a:rPr>
              <a:t>自我约束来培养品德。</a:t>
            </a:r>
            <a:endParaRPr lang="zh-CN" altLang="en-US" sz="2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5285" y="1263968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解释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5761" y="4049236"/>
            <a:ext cx="859851" cy="438582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译文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1"/>
      <p:bldP spid="10" grpId="2"/>
      <p:bldP spid="12" grpId="3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01236" y="478631"/>
            <a:ext cx="5355908" cy="48387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非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淡泊无以</a:t>
            </a:r>
            <a:r>
              <a:rPr lang="zh-CN" altLang="en-US" sz="2700" b="1" kern="1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明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志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，非</a:t>
            </a:r>
            <a:r>
              <a:rPr lang="zh-CN" altLang="en-US" sz="2700" b="1" kern="10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宁静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无以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致</a:t>
            </a:r>
            <a:r>
              <a:rPr lang="zh-CN" altLang="en-US" sz="2700" b="1" kern="100">
                <a:solidFill>
                  <a:srgbClr val="C0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远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。</a:t>
            </a:r>
            <a:endParaRPr lang="zh-CN" altLang="en-US" sz="2700" b="1" kern="1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13498" y="1025366"/>
            <a:ext cx="7852886" cy="21456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①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淡泊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：内心恬淡，不慕名利。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②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无以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：没有什么可以拿来，没办法。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③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明志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：明确志向。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明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，明确、坚定。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④</a:t>
            </a:r>
            <a:r>
              <a:rPr lang="zh-CN" altLang="en-US" sz="2700"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宁静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：这里指安静，即集中精神，不分散精力。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⑤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致远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：达到远大目标。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致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，达到。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9171" y="3482023"/>
            <a:ext cx="7213283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lang="zh-CN" altLang="en-US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不恬静寡欲就</a:t>
            </a:r>
            <a:r>
              <a:rPr lang="zh-CN" altLang="en-US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无法明确、坚定</a:t>
            </a:r>
            <a:r>
              <a:rPr lang="zh-CN" altLang="en-US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志向，不保持内心宁静就</a:t>
            </a:r>
            <a:r>
              <a:rPr lang="zh-CN" altLang="en-US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无法达到</a:t>
            </a:r>
            <a:r>
              <a:rPr lang="zh-CN" altLang="en-US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远大目标。</a:t>
            </a:r>
            <a:endParaRPr lang="zh-CN" altLang="en-US" sz="27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1981" y="1074420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解释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1032" y="3442494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译文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956686" y="88900"/>
            <a:ext cx="263144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b="1" kern="1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形容词活用为名词</a:t>
            </a:r>
            <a:endParaRPr lang="zh-CN" altLang="en-US" sz="2400" b="1" kern="1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1"/>
      <p:bldP spid="2" grpId="2"/>
      <p:bldP spid="3" grpId="3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94849" y="297497"/>
            <a:ext cx="4797266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夫学须静也，才须学也，非学无以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广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才，非</a:t>
            </a:r>
            <a:r>
              <a:rPr lang="zh-CN" altLang="en-US" sz="2700" b="1" kern="10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志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无以成学。</a:t>
            </a:r>
            <a:endParaRPr lang="zh-CN" altLang="en-US" sz="2700" b="1" kern="1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00152" y="1503998"/>
            <a:ext cx="7355205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①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广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：增长。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②</a:t>
            </a:r>
            <a:r>
              <a:rPr lang="zh-CN" altLang="en-US" sz="2700"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志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：志向，这里指立志。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80161" y="2990374"/>
            <a:ext cx="6176486" cy="13150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学习必须静心专一，而才干来自学习，不学习就无法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增长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才干，不立志就无法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学有所成</a:t>
            </a:r>
            <a:r>
              <a:rPr lang="zh-CN" altLang="en-US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。</a:t>
            </a:r>
            <a:endParaRPr lang="zh-CN" altLang="en-US" sz="2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1484" y="1481614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解释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1964" y="3044190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译文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377790" y="1201420"/>
            <a:ext cx="26597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b="1" kern="1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形容词</a:t>
            </a:r>
            <a:r>
              <a:rPr lang="zh-CN" altLang="en-US" sz="24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活用为动词</a:t>
            </a:r>
            <a:endParaRPr lang="zh-CN" altLang="en-US" sz="2400" b="1" kern="1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1"/>
      <p:bldP spid="2" grpId="2"/>
      <p:bldP spid="3" grpId="3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43940" y="520065"/>
            <a:ext cx="5721985" cy="48387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淫慢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则不能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励精</a:t>
            </a:r>
            <a:r>
              <a:rPr lang="en-US" altLang="zh-CN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，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险躁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则不能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治性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。</a:t>
            </a:r>
            <a:endParaRPr lang="zh-CN" altLang="zh-CN" sz="2700" b="1" kern="1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1082" y="1278256"/>
            <a:ext cx="7335203" cy="173037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①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淫慢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：放纵懈怠。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淫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，放纵。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慢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，懈怠。</a:t>
            </a:r>
            <a:endParaRPr lang="en-US" altLang="zh-CN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②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励精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：振奋精神。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励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，振奋。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③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险躁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：轻薄浮躁。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险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，轻薄。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④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治性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：修养性情。</a:t>
            </a:r>
            <a:r>
              <a:rPr lang="zh-CN" altLang="en-US" sz="27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治</a:t>
            </a:r>
            <a:r>
              <a:rPr lang="zh-CN" altLang="en-US" sz="27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，修养。</a:t>
            </a:r>
            <a:endParaRPr lang="zh-CN" altLang="en-US" sz="27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16330" y="3347720"/>
            <a:ext cx="702183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放纵</a:t>
            </a:r>
            <a:r>
              <a:rPr lang="zh-CN"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懈怠</a:t>
            </a:r>
            <a:r>
              <a:rPr sz="27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就无法振奋精神，轻薄浮躁就不能修养性情。</a:t>
            </a:r>
            <a:endParaRPr sz="27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7185" y="1256348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解释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765" y="3282792"/>
            <a:ext cx="859851" cy="438582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译文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1"/>
      <p:bldP spid="2" grpId="2"/>
      <p:bldP spid="3" grpId="3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15536" y="51594"/>
            <a:ext cx="549021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en-US" altLang="zh-CN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年与时驰</a:t>
            </a: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,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意与日去</a:t>
            </a: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,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遂成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枯落</a:t>
            </a: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,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多不接世</a:t>
            </a: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,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悲守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穷庐</a:t>
            </a:r>
            <a:r>
              <a:rPr lang="en-US" altLang="zh-CN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,</a:t>
            </a:r>
            <a:r>
              <a:rPr lang="zh-CN" altLang="en-US" sz="2700" b="1" kern="1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将复何及</a:t>
            </a:r>
            <a:r>
              <a:rPr lang="zh-CN" altLang="en-US" sz="2700" b="1" kern="10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！</a:t>
            </a:r>
            <a:endParaRPr lang="zh-CN" altLang="en-US" sz="2700" b="1" kern="1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2882" y="3586164"/>
            <a:ext cx="8752523" cy="131508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en-US" altLang="zh-CN"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    </a:t>
            </a:r>
            <a:r>
              <a:rPr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年华随时光疾速逝去，意志随岁月日渐丧失，最终凋落衰残，大多对社会没有任何贡献，只能悲哀地坐守着那穷陋的居舍,</a:t>
            </a:r>
            <a:r>
              <a:rPr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(那时悔恨)</a:t>
            </a:r>
            <a:r>
              <a:rPr sz="2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又怎么来得及?</a:t>
            </a:r>
            <a:endParaRPr sz="2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7185" y="1353027"/>
            <a:ext cx="8618220" cy="200723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①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年与时驰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：年纪随同时光而疾速逝去。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驰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，疾行，指迅速逝去。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②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意与日去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：意志随同岁月而丧失。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③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枯落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：凋落，衰残。比喻人年老志衰，没有用处。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④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多不接世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：意思是，大多对社会没有任何贡献。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⑤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穷庐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：穷困潦倒之人住的陋室。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⑥</a:t>
            </a:r>
            <a:r>
              <a:rPr lang="zh-CN" altLang="en-US" sz="21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将复何及</a:t>
            </a:r>
            <a:r>
              <a:rPr lang="zh-CN" altLang="en-US" sz="2100" b="1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：又怎么来得及。</a:t>
            </a:r>
            <a:endParaRPr lang="zh-CN" altLang="en-US" sz="2100" b="1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959" y="915512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解释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890" y="3403759"/>
            <a:ext cx="902970" cy="437515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r>
              <a:rPr lang="zh-CN" altLang="en-US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译文</a:t>
            </a:r>
            <a:r>
              <a:rPr lang="en-US" altLang="zh-CN" sz="2400" b="1" kern="1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lt"/>
              </a:rPr>
              <a:t>: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lt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3"/>
      <p:bldP spid="20" grpId="4"/>
      <p:bldP spid="2" grpId="1"/>
      <p:bldP spid="3" grpId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23850" y="195580"/>
            <a:ext cx="8455025" cy="5203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《诫子书》是诸葛亮写给儿子诸葛瞻的书信，告诫儿子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修身养德、立志勤学、珍惜时光，保持宁静淡泊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开篇提出观点：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君子之行要修身养德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，并提出修身养德的方法，这是为人做事的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根本与基础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非淡泊无以明志，非宁静无以致远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夫学须静也，才须学也，非学无以广才，非志无以成学。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是从正面进行劝勉；前一句运用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双重否定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，劝诫儿子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要修身养德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，强调了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“静”与“俭”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对于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修身养性的重要性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，后一句强调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“静”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是“学”“ 才”“志”的前提，同时将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明志、学习、成才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三者紧密联系在一起，告诫儿子要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志存高远，勤学成才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淫慢则不能励精，险躁则不能治性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从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反面论述修身养性的重要性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，突出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“淫慢”“险躁”的危害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，进而强调了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“静”的作用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年与时驰，意与日去，遂成枯落，多不接世，悲守穷庐，将复何及！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这一句恳切叮咛，劝勉后辈。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这一句从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反面论述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，强调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勤学刻苦，不能荒废学业，暗含惜时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之意。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形状1"/>
          <p:cNvSpPr txBox="1"/>
          <p:nvPr/>
        </p:nvSpPr>
        <p:spPr>
          <a:xfrm>
            <a:off x="395605" y="1059815"/>
            <a:ext cx="8228330" cy="155511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61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屠惧，投以骨。一狼得骨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止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，一狼仍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。复投之，后狼止而前狼又至。骨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已尽矣，而两狼之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</a:t>
            </a:r>
            <a:r>
              <a:rPr lang="en-US" altLang="zh-CN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驱</a:t>
            </a:r>
            <a:r>
              <a:rPr lang="en-US" altLang="zh-CN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故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61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形状1"/>
          <p:cNvSpPr txBox="1"/>
          <p:nvPr/>
        </p:nvSpPr>
        <p:spPr>
          <a:xfrm>
            <a:off x="541163" y="879248"/>
            <a:ext cx="7986752" cy="38318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屠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晚归，担中肉尽，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止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有剩骨。途中两狼，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缀</a:t>
            </a:r>
            <a:r>
              <a:rPr lang="en-US" altLang="zh-CN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甚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文本1"/>
          <p:cNvSpPr txBox="1"/>
          <p:nvPr/>
        </p:nvSpPr>
        <p:spPr>
          <a:xfrm>
            <a:off x="899636" y="519589"/>
            <a:ext cx="755333" cy="374333"/>
          </a:xfrm>
          <a:prstGeom prst="rect">
            <a:avLst/>
          </a:prstGeom>
          <a:noFill/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屠户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6" name="文本2"/>
          <p:cNvSpPr txBox="1"/>
          <p:nvPr/>
        </p:nvSpPr>
        <p:spPr>
          <a:xfrm>
            <a:off x="3060065" y="555784"/>
            <a:ext cx="937736" cy="385286"/>
          </a:xfrm>
          <a:prstGeom prst="rect">
            <a:avLst/>
          </a:prstGeom>
          <a:noFill/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仅，只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8" name="形状3"/>
          <p:cNvSpPr txBox="1"/>
          <p:nvPr/>
        </p:nvSpPr>
        <p:spPr>
          <a:xfrm>
            <a:off x="5360705" y="555500"/>
            <a:ext cx="769910" cy="36010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跟随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形状5"/>
          <p:cNvSpPr txBox="1"/>
          <p:nvPr/>
        </p:nvSpPr>
        <p:spPr>
          <a:xfrm>
            <a:off x="6300153" y="533876"/>
            <a:ext cx="1905476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很，十分，非常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7" name="形状7"/>
          <p:cNvSpPr txBox="1"/>
          <p:nvPr/>
        </p:nvSpPr>
        <p:spPr>
          <a:xfrm>
            <a:off x="1763395" y="1910715"/>
            <a:ext cx="908050" cy="37401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一起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形状8"/>
          <p:cNvSpPr txBox="1"/>
          <p:nvPr/>
        </p:nvSpPr>
        <p:spPr>
          <a:xfrm>
            <a:off x="4356100" y="1203960"/>
            <a:ext cx="937260" cy="3371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跟从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形状8"/>
          <p:cNvSpPr txBox="1"/>
          <p:nvPr/>
        </p:nvSpPr>
        <p:spPr>
          <a:xfrm>
            <a:off x="2339975" y="1924844"/>
            <a:ext cx="1450181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追随、追赶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形状8"/>
          <p:cNvSpPr txBox="1"/>
          <p:nvPr/>
        </p:nvSpPr>
        <p:spPr>
          <a:xfrm>
            <a:off x="3851910" y="1939290"/>
            <a:ext cx="923925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原来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23665" y="54610"/>
            <a:ext cx="1440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狼》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003550"/>
            <a:ext cx="8551545" cy="1703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有个屠户天晚回家，担子里的肉已经卖完了，只剩下一些骨头。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路上遇到两只狼，狼紧跟着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他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走了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很远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屠户害怕了，拿起一块骨头，把骨头扔给狼。一只狼得到骨头停下了，另一只狼仍然跟从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他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。屠户又拿一块骨头扔过去，后得到骨头的狼停下来了,可是先得到骨头的那只狼又跟上来。骨头已经扔完了，可两只狼仍像原来那样一起追赶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他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76254" y="941377"/>
            <a:ext cx="1373648" cy="3683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颜楷W" panose="00020600040101010101" charset="-122"/>
                <a:ea typeface="汉仪颜楷W" panose="00020600040101010101" charset="-122"/>
                <a:sym typeface="汉仪颜楷W" panose="00020600040101010101" charset="-122"/>
              </a:rPr>
              <a:t>省略句</a:t>
            </a:r>
            <a:endParaRPr lang="zh-CN" altLang="en-US" sz="1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颜楷W" panose="00020600040101010101" charset="-122"/>
              <a:ea typeface="汉仪颜楷W" panose="00020600040101010101" charset="-122"/>
              <a:sym typeface="汉仪颜楷W" panose="00020600040101010101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3131820" y="1264285"/>
            <a:ext cx="937260" cy="3371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停止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/>
      <p:bldP spid="26" grpId="1"/>
      <p:bldP spid="28" grpId="0" bldLvl="0" animBg="1"/>
      <p:bldP spid="28" grpId="1" animBg="1"/>
      <p:bldP spid="30" grpId="0" bldLvl="0" animBg="1"/>
      <p:bldP spid="30" grpId="1" animBg="1"/>
      <p:bldP spid="3" grpId="0" bldLvl="0" animBg="1"/>
      <p:bldP spid="3" grpId="1" animBg="1"/>
      <p:bldP spid="37" grpId="0" bldLvl="0" animBg="1"/>
      <p:bldP spid="37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形状1"/>
          <p:cNvSpPr txBox="1"/>
          <p:nvPr/>
        </p:nvSpPr>
        <p:spPr>
          <a:xfrm>
            <a:off x="395605" y="354330"/>
            <a:ext cx="8257540" cy="30314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55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屠大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窘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，恐前后受其敌。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顾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野有麦场，场主积薪其中，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苫蔽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成丘。  屠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乃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奔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倚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其下，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弛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担持刀。狼不敢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前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b="1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眈眈</a:t>
            </a:r>
            <a:r>
              <a:rPr lang="zh-CN" altLang="en-US" sz="1800" b="1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相向。</a:t>
            </a:r>
            <a:endParaRPr lang="zh-CN" altLang="en-US" sz="1800" b="1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ts val="55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少时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，一狼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径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去，其一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犬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坐于前。久之，目似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瞑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，意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暇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甚。屠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暴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起，以刀劈狼首，又数刀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毙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500"/>
              </a:lnSpc>
            </a:pP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形状4"/>
          <p:cNvSpPr txBox="1"/>
          <p:nvPr/>
        </p:nvSpPr>
        <p:spPr>
          <a:xfrm>
            <a:off x="3203796" y="423704"/>
            <a:ext cx="1095302" cy="27276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看，视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6" name="形状6"/>
          <p:cNvSpPr txBox="1"/>
          <p:nvPr/>
        </p:nvSpPr>
        <p:spPr>
          <a:xfrm>
            <a:off x="5927725" y="423545"/>
            <a:ext cx="1464945" cy="3784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覆盖、遮盖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7" name="形状7"/>
          <p:cNvSpPr txBox="1"/>
          <p:nvPr/>
        </p:nvSpPr>
        <p:spPr>
          <a:xfrm>
            <a:off x="7463492" y="455267"/>
            <a:ext cx="1189449" cy="36010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于是，就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9" name="形状9"/>
          <p:cNvSpPr txBox="1"/>
          <p:nvPr/>
        </p:nvSpPr>
        <p:spPr>
          <a:xfrm>
            <a:off x="251460" y="1139190"/>
            <a:ext cx="701040" cy="4019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倚靠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2" name="形状12"/>
          <p:cNvSpPr txBox="1"/>
          <p:nvPr/>
        </p:nvSpPr>
        <p:spPr>
          <a:xfrm>
            <a:off x="3419990" y="1139479"/>
            <a:ext cx="2275670" cy="36010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凶狠注视的样子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" name="形状9"/>
          <p:cNvSpPr txBox="1"/>
          <p:nvPr/>
        </p:nvSpPr>
        <p:spPr>
          <a:xfrm>
            <a:off x="1259840" y="1211104"/>
            <a:ext cx="1368266" cy="42100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解除、卸下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395288" y="419100"/>
            <a:ext cx="2000250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处境困迫，为难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23665" y="54610"/>
            <a:ext cx="1440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狼》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147695"/>
            <a:ext cx="8551545" cy="1703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屠户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非常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困窘急迫，恐怕前后一起受到狼的攻击。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屠夫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看见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野地里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有一个打麦场，场主人把柴草堆积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在打麦场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里，覆盖成小山似的。屠夫于是奔过去倚靠在柴草堆下面，放下担子拿起屠刀。两只狼都不敢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向前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，瞪着眼睛朝着屠户。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过了一会儿，一只狼径直走开了，另一只狼像狗似的蹲坐在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（屠户的）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前面。时间长了，那只狼的眼睛似乎闭上了，神情悠闲得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很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。屠夫突然跳起，用刀劈狼的脑袋，又连砍几刀把狼杀死。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467344" y="1803932"/>
            <a:ext cx="1097280" cy="36009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一会儿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形状3"/>
          <p:cNvSpPr txBox="1"/>
          <p:nvPr/>
        </p:nvSpPr>
        <p:spPr>
          <a:xfrm>
            <a:off x="1814195" y="1804035"/>
            <a:ext cx="814070" cy="2730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径直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2483644" y="1804194"/>
            <a:ext cx="2072164" cy="33670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名作状，像狗似的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1" name="形状7"/>
          <p:cNvSpPr txBox="1"/>
          <p:nvPr/>
        </p:nvSpPr>
        <p:spPr>
          <a:xfrm>
            <a:off x="4698206" y="1818164"/>
            <a:ext cx="1362551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闭上眼睛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2" name="形状8"/>
          <p:cNvSpPr txBox="1"/>
          <p:nvPr/>
        </p:nvSpPr>
        <p:spPr>
          <a:xfrm>
            <a:off x="5881688" y="1841024"/>
            <a:ext cx="1484471" cy="3371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从容、悠闲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文本1"/>
          <p:cNvSpPr txBox="1"/>
          <p:nvPr/>
        </p:nvSpPr>
        <p:spPr>
          <a:xfrm>
            <a:off x="7092836" y="1818084"/>
            <a:ext cx="894112" cy="403622"/>
          </a:xfrm>
          <a:prstGeom prst="rect">
            <a:avLst/>
          </a:prstGeom>
          <a:noFill/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突然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1"/>
          <p:cNvSpPr txBox="1"/>
          <p:nvPr/>
        </p:nvSpPr>
        <p:spPr>
          <a:xfrm>
            <a:off x="1835671" y="2500074"/>
            <a:ext cx="894112" cy="403622"/>
          </a:xfrm>
          <a:prstGeom prst="rect">
            <a:avLst/>
          </a:prstGeom>
          <a:noFill/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杀死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形状12"/>
          <p:cNvSpPr txBox="1"/>
          <p:nvPr/>
        </p:nvSpPr>
        <p:spPr>
          <a:xfrm>
            <a:off x="2844165" y="1141730"/>
            <a:ext cx="919480" cy="2317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上前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44" grpId="0" bldLvl="0" animBg="1"/>
      <p:bldP spid="44" grpId="1" animBg="1"/>
      <p:bldP spid="46" grpId="0" bldLvl="0" animBg="1"/>
      <p:bldP spid="46" grpId="1" animBg="1"/>
      <p:bldP spid="47" grpId="0" bldLvl="0" animBg="1"/>
      <p:bldP spid="47" grpId="1" animBg="1"/>
      <p:bldP spid="49" grpId="0" bldLvl="0" animBg="1"/>
      <p:bldP spid="49" grpId="1" animBg="1"/>
      <p:bldP spid="2" grpId="0" bldLvl="0" animBg="1"/>
      <p:bldP spid="2" grpId="1" animBg="1"/>
      <p:bldP spid="52" grpId="0" bldLvl="0" animBg="1"/>
      <p:bldP spid="52" grpId="1" animBg="1"/>
      <p:bldP spid="8" grpId="0" bldLvl="0" animBg="1"/>
      <p:bldP spid="8" grpId="1" animBg="1"/>
      <p:bldP spid="9" grpId="0" bldLvl="0" animBg="1"/>
      <p:bldP spid="9" grpId="1" animBg="1"/>
      <p:bldP spid="11" grpId="0" bldLvl="0" animBg="1"/>
      <p:bldP spid="11" grpId="1" animBg="1"/>
      <p:bldP spid="12" grpId="0" bldLvl="0" animBg="1"/>
      <p:bldP spid="12" grpId="1" animBg="1"/>
      <p:bldP spid="14" grpId="0"/>
      <p:bldP spid="14" grpId="1"/>
      <p:bldP spid="3" grpId="0"/>
      <p:bldP spid="3" grpId="1"/>
      <p:bldP spid="13" grpId="0" bldLvl="0" animBg="1"/>
      <p:bldP spid="1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形状1"/>
          <p:cNvSpPr txBox="1"/>
          <p:nvPr/>
        </p:nvSpPr>
        <p:spPr>
          <a:xfrm>
            <a:off x="395605" y="354330"/>
            <a:ext cx="8257540" cy="22929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5500"/>
              </a:lnSpc>
            </a:pP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欲行，转视积薪后，一狼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洞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其中，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隧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入以攻其后也。身已半入，止露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尻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尾，屠自后断其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，亦毙之。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乃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悟前狼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假寐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盖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以诱敌。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5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狼亦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黠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矣！而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顷刻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两毙，禽兽之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变诈</a:t>
            </a:r>
            <a:r>
              <a:rPr lang="en-US" altLang="zh-CN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几何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哉？  止增笑耳。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500"/>
              </a:lnSpc>
            </a:pP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形状4"/>
          <p:cNvSpPr txBox="1"/>
          <p:nvPr/>
        </p:nvSpPr>
        <p:spPr>
          <a:xfrm>
            <a:off x="3204210" y="419100"/>
            <a:ext cx="814070" cy="2730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挖洞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6" name="形状6"/>
          <p:cNvSpPr txBox="1"/>
          <p:nvPr/>
        </p:nvSpPr>
        <p:spPr>
          <a:xfrm>
            <a:off x="4298950" y="483870"/>
            <a:ext cx="690245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想要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7" name="形状7"/>
          <p:cNvSpPr txBox="1"/>
          <p:nvPr/>
        </p:nvSpPr>
        <p:spPr>
          <a:xfrm>
            <a:off x="5147647" y="460982"/>
            <a:ext cx="1189449" cy="36010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从通道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9" name="形状9"/>
          <p:cNvSpPr txBox="1"/>
          <p:nvPr/>
        </p:nvSpPr>
        <p:spPr>
          <a:xfrm>
            <a:off x="251460" y="1139190"/>
            <a:ext cx="701040" cy="4019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屁股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2" name="形状12"/>
          <p:cNvSpPr txBox="1"/>
          <p:nvPr/>
        </p:nvSpPr>
        <p:spPr>
          <a:xfrm>
            <a:off x="3779520" y="1120775"/>
            <a:ext cx="701040" cy="34861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才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" name="形状9"/>
          <p:cNvSpPr txBox="1"/>
          <p:nvPr/>
        </p:nvSpPr>
        <p:spPr>
          <a:xfrm>
            <a:off x="2267585" y="1131570"/>
            <a:ext cx="814705" cy="2419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大腿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395605" y="419100"/>
            <a:ext cx="579120" cy="2260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正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23665" y="54610"/>
            <a:ext cx="1440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狼》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2860040"/>
            <a:ext cx="8551545" cy="1703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屠夫正要上路，转到柴草堆后面一看，只见另一只狼正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在柴草堆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里挖洞，想要从柴火堆的通道进入，来攻击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屠夫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的后面。狼的身子已经钻进去一半，只露出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屁股和尾巴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。屠户从后面砍断了狼的后腿，也把狼杀死了。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屠户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这才明白前面的那只狼假装睡觉，原来是用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（这种方式）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来诱惑敌方的。 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狼也太狡猾了，可是一会儿两只狼都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被杀死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了，禽兽的欺骗手段能有多少呢？只是增添笑料罢了。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形状2"/>
          <p:cNvSpPr txBox="1"/>
          <p:nvPr/>
        </p:nvSpPr>
        <p:spPr>
          <a:xfrm>
            <a:off x="5796280" y="1139190"/>
            <a:ext cx="1918335" cy="3206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表示推测，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大概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形状3"/>
          <p:cNvSpPr txBox="1"/>
          <p:nvPr/>
        </p:nvSpPr>
        <p:spPr>
          <a:xfrm>
            <a:off x="1115695" y="1818005"/>
            <a:ext cx="814070" cy="2730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狡猾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2124075" y="1860550"/>
            <a:ext cx="1053465" cy="23050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一会儿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1" name="形状7"/>
          <p:cNvSpPr txBox="1"/>
          <p:nvPr/>
        </p:nvSpPr>
        <p:spPr>
          <a:xfrm>
            <a:off x="3707606" y="1804829"/>
            <a:ext cx="1362551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巧变诡诈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2" name="形状8"/>
          <p:cNvSpPr txBox="1"/>
          <p:nvPr/>
        </p:nvSpPr>
        <p:spPr>
          <a:xfrm>
            <a:off x="4860290" y="1860550"/>
            <a:ext cx="1242695" cy="24320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能有多少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形状12"/>
          <p:cNvSpPr txBox="1"/>
          <p:nvPr/>
        </p:nvSpPr>
        <p:spPr>
          <a:xfrm>
            <a:off x="4356100" y="1131570"/>
            <a:ext cx="1242060" cy="2730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假装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睡觉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44" grpId="0" bldLvl="0" animBg="1"/>
      <p:bldP spid="44" grpId="1" animBg="1"/>
      <p:bldP spid="46" grpId="0" bldLvl="0" animBg="1"/>
      <p:bldP spid="46" grpId="1" animBg="1"/>
      <p:bldP spid="47" grpId="0" bldLvl="0" animBg="1"/>
      <p:bldP spid="47" grpId="1" animBg="1"/>
      <p:bldP spid="49" grpId="0" bldLvl="0" animBg="1"/>
      <p:bldP spid="49" grpId="1" animBg="1"/>
      <p:bldP spid="2" grpId="0" bldLvl="0" animBg="1"/>
      <p:bldP spid="2" grpId="1" animBg="1"/>
      <p:bldP spid="52" grpId="0" bldLvl="0" animBg="1"/>
      <p:bldP spid="52" grpId="1" animBg="1"/>
      <p:bldP spid="8" grpId="0" bldLvl="0" animBg="1"/>
      <p:bldP spid="8" grpId="1" animBg="1"/>
      <p:bldP spid="9" grpId="0" bldLvl="0" animBg="1"/>
      <p:bldP spid="9" grpId="1" animBg="1"/>
      <p:bldP spid="11" grpId="0" bldLvl="0" animBg="1"/>
      <p:bldP spid="11" grpId="1" animBg="1"/>
      <p:bldP spid="12" grpId="0" bldLvl="0" animBg="1"/>
      <p:bldP spid="12" grpId="1" animBg="1"/>
      <p:bldP spid="4" grpId="0" bldLvl="0" animBg="1"/>
      <p:bldP spid="4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323850" y="411480"/>
            <a:ext cx="8305800" cy="3897630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作者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蒲松龄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，字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留仙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，号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柳泉居士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清代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文学家，世称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聊斋先生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。本文选自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《聊斋志异》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，该书是一部文言短篇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志怪小说集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，主要通过写鬼写妖，对当时的社会、政治多有批判和讽刺。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本文生动揭示了狼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贪婪、凶残、狡猾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的本质，赞扬屠户的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勇敢和机智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。这个故事启发我们，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对像狼一样的恶人，不论多么狡诈，终归是要失败的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；也告诉我们，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面对像狼一样的邪恶势力，只有敢于斗争、善于斗争，才能取得最后的胜利。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39750" y="483235"/>
            <a:ext cx="8195945" cy="4050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本文写了屠户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遇狼、惧狼、御狼、毙狼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的经过，生动地揭示了狼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贪婪、凶残、狡猾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的本质，细致地刻画了屠户由惧狼到奋起毙狼的变化过程，赞扬了屠户的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机智和勇敢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本文用精练的语言十分传神地描写了狼的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动作、神态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，如表现狼的狡诈，文中写:“少时，一狼径去，其一犬坐于前。久之，目似瞑，意暇甚”，妄图以此来诱骗屠户，以达到它们前后夹攻的目的。文章在刻画屠户这一人物上也颇用心，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“惧”“大窘”“暴起”“断其股”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等，寥寥数语写出了屠户由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畏惧到拼死自卫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的过程。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形状1"/>
          <p:cNvSpPr txBox="1"/>
          <p:nvPr/>
        </p:nvSpPr>
        <p:spPr>
          <a:xfrm>
            <a:off x="395605" y="555625"/>
            <a:ext cx="8228330" cy="29508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50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宋之丁氏，家无井而出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溉汲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常一人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居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外。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其家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穿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井，告人曰：“吾穿井得一人。”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闻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而传之者：“丁氏穿井得一人。”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国人</a:t>
            </a:r>
            <a:r>
              <a:rPr lang="en-US" altLang="zh-CN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道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闻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之于宋君。宋君令人问之于丁氏，丁氏对曰：“得一人之使，非得一人于井中也。”求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闻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之若此，不若无闻也。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文本2"/>
          <p:cNvSpPr txBox="1"/>
          <p:nvPr/>
        </p:nvSpPr>
        <p:spPr>
          <a:xfrm>
            <a:off x="1619885" y="467360"/>
            <a:ext cx="2571115" cy="492125"/>
          </a:xfrm>
          <a:prstGeom prst="rect">
            <a:avLst/>
          </a:prstGeom>
          <a:noFill/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打水浇田。溉：浇灌、灌溉；汲：从井里取水。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8" name="形状3"/>
          <p:cNvSpPr txBox="1"/>
          <p:nvPr/>
        </p:nvSpPr>
        <p:spPr>
          <a:xfrm>
            <a:off x="4294505" y="555625"/>
            <a:ext cx="1183005" cy="3600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住，停留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形状5"/>
          <p:cNvSpPr txBox="1"/>
          <p:nvPr/>
        </p:nvSpPr>
        <p:spPr>
          <a:xfrm>
            <a:off x="5477510" y="591185"/>
            <a:ext cx="1210945" cy="3244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待，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等到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7" name="形状7"/>
          <p:cNvSpPr txBox="1"/>
          <p:nvPr/>
        </p:nvSpPr>
        <p:spPr>
          <a:xfrm>
            <a:off x="323850" y="1708150"/>
            <a:ext cx="1770380" cy="3879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听到，这里是使……听到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形状8"/>
          <p:cNvSpPr txBox="1"/>
          <p:nvPr/>
        </p:nvSpPr>
        <p:spPr>
          <a:xfrm>
            <a:off x="6040120" y="1131570"/>
            <a:ext cx="1169670" cy="52197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居住在国都中的人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>
              <a:lnSpc>
                <a:spcPct val="80000"/>
              </a:lnSpc>
            </a:pP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形状8"/>
          <p:cNvSpPr txBox="1"/>
          <p:nvPr/>
        </p:nvSpPr>
        <p:spPr>
          <a:xfrm>
            <a:off x="1115695" y="2461260"/>
            <a:ext cx="730250" cy="2495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消息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74365" y="-38100"/>
            <a:ext cx="2670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穿井得一人》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075940"/>
            <a:ext cx="8551545" cy="2005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宋国有一户姓丁的人家，家里没有水井，就要到外面去打水浇田，经常有一个人在外面（专门做这件事）。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等到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他家挖了一口水井后，他们告诉别人说:“我家挖井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得到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了一个人。”有人听说了这件事，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并传播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开来说：“丁家挖井挖到了一个人。”住在国都的人都在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讲述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这件事，还向宋国国君报告了这件事。宋国国君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派人向丁氏问明情况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，丁氏回答道:“得到了一个人的劳力，并非在井中得到了一个人。”寻到的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消息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如此，还</a:t>
            </a:r>
            <a:r>
              <a:rPr lang="zh-CN" altLang="en-US" sz="17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不如</a:t>
            </a:r>
            <a:r>
              <a:rPr lang="zh-CN" altLang="en-US" sz="1700" b="1" dirty="0">
                <a:latin typeface="楷体" panose="02010609060101010101" pitchFamily="49" charset="-122"/>
                <a:ea typeface="楷体" panose="02010609060101010101" pitchFamily="49" charset="-122"/>
              </a:rPr>
              <a:t>不知道这个消息。 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6588125" y="591185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挖掘、开凿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形状8"/>
          <p:cNvSpPr txBox="1"/>
          <p:nvPr/>
        </p:nvSpPr>
        <p:spPr>
          <a:xfrm>
            <a:off x="2411730" y="1221105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知道，听说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形状8"/>
          <p:cNvSpPr txBox="1"/>
          <p:nvPr/>
        </p:nvSpPr>
        <p:spPr>
          <a:xfrm>
            <a:off x="7308215" y="1275715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讲述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39814" y="1880542"/>
            <a:ext cx="1373648" cy="3683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颜楷W" panose="00020600040101010101" charset="-122"/>
                <a:ea typeface="汉仪颜楷W" panose="00020600040101010101" charset="-122"/>
                <a:sym typeface="汉仪颜楷W" panose="00020600040101010101" charset="-122"/>
              </a:rPr>
              <a:t>状语后置</a:t>
            </a:r>
            <a:endParaRPr lang="zh-CN" alt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颜楷W" panose="00020600040101010101" charset="-122"/>
              <a:ea typeface="汉仪颜楷W" panose="00020600040101010101" charset="-122"/>
              <a:sym typeface="汉仪颜楷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8" grpId="0" bldLvl="0" animBg="1"/>
      <p:bldP spid="28" grpId="1" animBg="1"/>
      <p:bldP spid="30" grpId="0" bldLvl="0" animBg="1"/>
      <p:bldP spid="30" grpId="1" animBg="1"/>
      <p:bldP spid="3" grpId="0" bldLvl="0" animBg="1"/>
      <p:bldP spid="3" grpId="1" animBg="1"/>
      <p:bldP spid="37" grpId="0" bldLvl="0" animBg="1"/>
      <p:bldP spid="37" grpId="1" animBg="1"/>
      <p:bldP spid="4" grpId="0" bldLvl="0" animBg="1"/>
      <p:bldP spid="4" grpId="1" animBg="1"/>
      <p:bldP spid="6" grpId="0" bldLvl="0" animBg="1"/>
      <p:bldP spid="6" grpId="1" animBg="1"/>
      <p:bldP spid="8" grpId="0" bldLvl="0" animBg="1"/>
      <p:bldP spid="8" grpId="1" animBg="1"/>
      <p:bldP spid="9" grpId="0" bldLvl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323850" y="622935"/>
            <a:ext cx="8305800" cy="4377055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《穿井得一人》节选自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《吕氏春秋》，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又称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《吕览》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，是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战国末期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秦国丞相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吕不韦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命他的门客集体撰写，以儒家、道家为主，兼采法家、墨家、名家、农家各派的学说，后人称它为“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杂家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”家的代表著作。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本文通过记述宋国一丁姓人家挖井节省了一个劳动力，而被误传为从井中挖出一个人的故事，告诉我们: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凡事要调查研究，才能弄清真相;切不可盲目随从，人云亦云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。也告诉我们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说话要清楚，不要使人误会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形状1"/>
          <p:cNvSpPr txBox="1"/>
          <p:nvPr/>
        </p:nvSpPr>
        <p:spPr>
          <a:xfrm>
            <a:off x="395605" y="555625"/>
            <a:ext cx="8228330" cy="29508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50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杞国有人忧天地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崩坠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，身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亡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所寄，废寝食者。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又有忧彼之所忧者，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往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晓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之，曰:“天，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积气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耳，亡处亡气。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屈伸呼吸，终日在天中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行止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奈何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忧崩坠乎?”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其人曰:“天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果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积气，日月星宿，不当坠耶？”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50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文本2"/>
          <p:cNvSpPr txBox="1"/>
          <p:nvPr/>
        </p:nvSpPr>
        <p:spPr>
          <a:xfrm>
            <a:off x="1835785" y="554990"/>
            <a:ext cx="1372870" cy="323850"/>
          </a:xfrm>
          <a:prstGeom prst="rect">
            <a:avLst/>
          </a:prstGeom>
          <a:noFill/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崩塌，陷落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8" name="形状3"/>
          <p:cNvSpPr txBox="1"/>
          <p:nvPr/>
        </p:nvSpPr>
        <p:spPr>
          <a:xfrm>
            <a:off x="3347720" y="554990"/>
            <a:ext cx="1892935" cy="3511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同“无”，没有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形状5"/>
          <p:cNvSpPr txBox="1"/>
          <p:nvPr/>
        </p:nvSpPr>
        <p:spPr>
          <a:xfrm>
            <a:off x="2094230" y="1275715"/>
            <a:ext cx="1210945" cy="3244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于是，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就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7" name="形状7"/>
          <p:cNvSpPr txBox="1"/>
          <p:nvPr/>
        </p:nvSpPr>
        <p:spPr>
          <a:xfrm>
            <a:off x="2267585" y="1899920"/>
            <a:ext cx="1770380" cy="2622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为何，为什么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形状8"/>
          <p:cNvSpPr txBox="1"/>
          <p:nvPr/>
        </p:nvSpPr>
        <p:spPr>
          <a:xfrm>
            <a:off x="7164070" y="1290320"/>
            <a:ext cx="523875" cy="2622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你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>
              <a:lnSpc>
                <a:spcPct val="80000"/>
              </a:lnSpc>
            </a:pP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形状8"/>
          <p:cNvSpPr txBox="1"/>
          <p:nvPr/>
        </p:nvSpPr>
        <p:spPr>
          <a:xfrm>
            <a:off x="1979930" y="2505075"/>
            <a:ext cx="730250" cy="24955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如果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17875" y="-38100"/>
            <a:ext cx="2670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杞人忧天》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075940"/>
            <a:ext cx="8551545" cy="2005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杞国有个人担忧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天会崩塌、地会陷落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，自己没有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可以容身的地方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，以至于整天睡不好觉，吃不下饭。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另外又有一个为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这个杞国人所担心的(事)而担心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的人，就去开导他，说：“天，不过是聚积的气体罢了，没有一个地方是没有气体的。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你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一举一动、一呼一吸，整天都在天空里活动，为何还担心天会崩塌地会坠落下来呢？”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那个人说:“天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真是积聚的气体，那日月星辰不就会坠落下来吗？”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3347720" y="1243965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告知，开导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形状8"/>
          <p:cNvSpPr txBox="1"/>
          <p:nvPr/>
        </p:nvSpPr>
        <p:spPr>
          <a:xfrm>
            <a:off x="4787900" y="1203960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聚积的</a:t>
            </a: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气体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形状8"/>
          <p:cNvSpPr txBox="1"/>
          <p:nvPr/>
        </p:nvSpPr>
        <p:spPr>
          <a:xfrm>
            <a:off x="972185" y="1828165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行动，活动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8" grpId="0" bldLvl="0" animBg="1"/>
      <p:bldP spid="28" grpId="1" animBg="1"/>
      <p:bldP spid="30" grpId="0" bldLvl="0" animBg="1"/>
      <p:bldP spid="30" grpId="1" animBg="1"/>
      <p:bldP spid="3" grpId="0" bldLvl="0" animBg="1"/>
      <p:bldP spid="3" grpId="1" animBg="1"/>
      <p:bldP spid="37" grpId="0" bldLvl="0" animBg="1"/>
      <p:bldP spid="37" grpId="1" animBg="1"/>
      <p:bldP spid="4" grpId="0" bldLvl="0" animBg="1"/>
      <p:bldP spid="4" grpId="1" animBg="1"/>
      <p:bldP spid="6" grpId="0" bldLvl="0" animBg="1"/>
      <p:bldP spid="6" grpId="1" animBg="1"/>
      <p:bldP spid="8" grpId="0" bldLvl="0" animBg="1"/>
      <p:bldP spid="8" grpId="1" animBg="1"/>
      <p:bldP spid="9" grpId="0" bldLvl="0" animBg="1"/>
      <p:bldP spid="9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形状1"/>
          <p:cNvSpPr txBox="1"/>
          <p:nvPr/>
        </p:nvSpPr>
        <p:spPr>
          <a:xfrm>
            <a:off x="395605" y="-18415"/>
            <a:ext cx="8335010" cy="29508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algn="l">
              <a:lnSpc>
                <a:spcPts val="46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晓之者曰：“日月星宿，亦积气中之有光耀者，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只使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坠，亦不能有所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中伤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。”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其人曰:“奈地坏何?”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晓之者曰：“地，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积块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耳，充塞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四虚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，亡处亡块。若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躇步跐蹈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，终日在地上行止，奈何忧其坏?”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r>
              <a:rPr lang="en-US" altLang="zh-CN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其人</a:t>
            </a:r>
            <a:r>
              <a:rPr lang="zh-CN" altLang="en-US" sz="1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舍然</a:t>
            </a:r>
            <a:r>
              <a:rPr lang="zh-CN" altLang="en-US" sz="1800" b="1" i="0">
                <a:solidFill>
                  <a:schemeClr val="tx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大喜，晓之者亦舍然大喜。</a:t>
            </a: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4600"/>
              </a:lnSpc>
            </a:pPr>
            <a:endParaRPr lang="zh-CN" altLang="en-US" sz="1800" b="1" i="0">
              <a:solidFill>
                <a:schemeClr val="tx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文本2"/>
          <p:cNvSpPr txBox="1"/>
          <p:nvPr/>
        </p:nvSpPr>
        <p:spPr>
          <a:xfrm>
            <a:off x="5292090" y="52070"/>
            <a:ext cx="1372870" cy="323850"/>
          </a:xfrm>
          <a:prstGeom prst="rect">
            <a:avLst/>
          </a:prstGeom>
          <a:noFill/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纵使，即使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>
              <a:lnSpc>
                <a:spcPct val="80000"/>
              </a:lnSpc>
            </a:pP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8" name="形状3"/>
          <p:cNvSpPr txBox="1"/>
          <p:nvPr/>
        </p:nvSpPr>
        <p:spPr>
          <a:xfrm>
            <a:off x="7956550" y="52070"/>
            <a:ext cx="702945" cy="2800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伤害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形状5"/>
          <p:cNvSpPr txBox="1"/>
          <p:nvPr/>
        </p:nvSpPr>
        <p:spPr>
          <a:xfrm>
            <a:off x="2484120" y="1132840"/>
            <a:ext cx="1410970" cy="32448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聚积的土块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7" name="形状7"/>
          <p:cNvSpPr txBox="1"/>
          <p:nvPr/>
        </p:nvSpPr>
        <p:spPr>
          <a:xfrm>
            <a:off x="251460" y="2356485"/>
            <a:ext cx="4897120" cy="2838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>
              <a:lnSpc>
                <a:spcPct val="80000"/>
              </a:lnSpc>
            </a:pPr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消除疑虑的样子。舍，同“释”，解除、消除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>
              <a:lnSpc>
                <a:spcPct val="80000"/>
              </a:lnSpc>
            </a:pP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9705" y="3075940"/>
            <a:ext cx="8551545" cy="2005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　　开导他的人说：“日月星辰，也是积聚的气体中那些能发光的东西，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即使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坠落下来，也不会有什么伤害。”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那人说:“如果地陷下去怎么办？”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开导他的人说:“地，不过是聚积的土块罢了，填满了四方，没有一个地方是没有土块的。你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踩踏行走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，整日都在地上活动，为何还担心地会陷下去呢？”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那个杞国人听了</a:t>
            </a:r>
            <a:r>
              <a:rPr lang="zh-CN" altLang="en-US" sz="18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消除了疑虑，非常高兴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rPr>
              <a:t>，开导他的人也放心了，非常高兴。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形状8"/>
          <p:cNvSpPr txBox="1"/>
          <p:nvPr/>
        </p:nvSpPr>
        <p:spPr>
          <a:xfrm>
            <a:off x="4140200" y="1198880"/>
            <a:ext cx="702310" cy="26606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四方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/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形状8"/>
          <p:cNvSpPr txBox="1"/>
          <p:nvPr/>
        </p:nvSpPr>
        <p:spPr>
          <a:xfrm>
            <a:off x="5940425" y="1060450"/>
            <a:ext cx="1373505" cy="3562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t"/>
          <a:p>
            <a:pPr marL="0" algn="l"/>
            <a:r>
              <a:rPr lang="zh-CN" altLang="en-US" sz="1800" b="1" i="0">
                <a:solidFill>
                  <a:srgbClr val="0000FF">
                    <a:alpha val="100000"/>
                  </a:srgbClr>
                </a:solidFill>
                <a:latin typeface="华文楷体" panose="02010600040101010101" charset="-122"/>
                <a:ea typeface="华文楷体" panose="02010600040101010101" charset="-122"/>
              </a:rPr>
              <a:t>踩、踏</a:t>
            </a:r>
            <a:endParaRPr lang="zh-CN" altLang="en-US" sz="1800" b="1" i="0">
              <a:solidFill>
                <a:srgbClr val="0000FF">
                  <a:alpha val="100000"/>
                </a:srgb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indefinite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8" grpId="0" bldLvl="0" animBg="1"/>
      <p:bldP spid="28" grpId="1" animBg="1"/>
      <p:bldP spid="30" grpId="0" bldLvl="0" animBg="1"/>
      <p:bldP spid="30" grpId="1" animBg="1"/>
      <p:bldP spid="37" grpId="0" bldLvl="0" animBg="1"/>
      <p:bldP spid="37" grpId="1" animBg="1"/>
      <p:bldP spid="6" grpId="0" bldLvl="0" animBg="1"/>
      <p:bldP spid="6" grpId="1" animBg="1"/>
      <p:bldP spid="8" grpId="0" bldLvl="0" animBg="1"/>
      <p:bldP spid="8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/>
          <p:nvPr/>
        </p:nvSpPr>
        <p:spPr>
          <a:xfrm>
            <a:off x="323850" y="622935"/>
            <a:ext cx="8305800" cy="3418205"/>
          </a:xfrm>
          <a:prstGeom prst="rect">
            <a:avLst/>
          </a:prstGeom>
          <a:noFill/>
          <a:ln w="19050">
            <a:noFill/>
          </a:ln>
        </p:spPr>
        <p:txBody>
          <a:bodyPr wrap="square" lIns="61217" tIns="30608" rIns="61217" bIns="30608" anchor="t">
            <a:spAutoFit/>
          </a:bodyPr>
          <a:lstStyle/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《杞人忧天》节选自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《列子》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，是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战国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时期的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列御寇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及其弟子所著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道家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的哲学著作。</a:t>
            </a: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本文通过一个杞国人担心天崩地裂，在别人的劝导下，最终大喜的故事，告诉我们: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不要总是担心一些不切实际的问题，弄得自己惶惶不可终日，庸人自扰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。也需要明白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对一件事物认识不足、了解不够，难免就会产生畏惧心理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defTabSz="6858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11424</Words>
  <Application>WPS 演示</Application>
  <PresentationFormat/>
  <Paragraphs>809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楷体</vt:lpstr>
      <vt:lpstr>Times New Roman</vt:lpstr>
      <vt:lpstr>华文新魏</vt:lpstr>
      <vt:lpstr>微软雅黑</vt:lpstr>
      <vt:lpstr>黑体</vt:lpstr>
      <vt:lpstr>文鼎中特廣告體</vt:lpstr>
      <vt:lpstr>MingLiU-ExtB</vt:lpstr>
      <vt:lpstr>隶书</vt:lpstr>
      <vt:lpstr>华文楷体</vt:lpstr>
      <vt:lpstr>汉仪颜楷W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诫子书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JX</dc:creator>
  <cp:lastModifiedBy>xmt</cp:lastModifiedBy>
  <cp:revision>33</cp:revision>
  <dcterms:created xsi:type="dcterms:W3CDTF">2025-02-20T11:45:00Z</dcterms:created>
  <dcterms:modified xsi:type="dcterms:W3CDTF">2026-10-21T06:33:48Z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46CBC4FC38F0463BA3D685678E29C084_13</vt:lpwstr>
  </property>
  <property fmtid="{D5CDD505-2E9C-101B-9397-08002B2CF9AE}" pid="3" name="KSOProductBuildVer">
    <vt:lpwstr>2052-12.1.0.29161</vt:lpwstr>
  </property>
</Properties>
</file>