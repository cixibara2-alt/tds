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media/image5.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3"/>
  </p:sldMasterIdLst>
  <p:notesMasterIdLst>
    <p:notesMasterId r:id="rId38"/>
  </p:notesMasterIdLst>
  <p:sldIdLst>
    <p:sldId id="312" r:id="rId4"/>
    <p:sldId id="364" r:id="rId5"/>
    <p:sldId id="365" r:id="rId6"/>
    <p:sldId id="366" r:id="rId7"/>
    <p:sldId id="428" r:id="rId8"/>
    <p:sldId id="456" r:id="rId9"/>
    <p:sldId id="457" r:id="rId10"/>
    <p:sldId id="358" r:id="rId11"/>
    <p:sldId id="458" r:id="rId12"/>
    <p:sldId id="459" r:id="rId13"/>
    <p:sldId id="256" r:id="rId14"/>
    <p:sldId id="277" r:id="rId15"/>
    <p:sldId id="278" r:id="rId16"/>
    <p:sldId id="287" r:id="rId17"/>
    <p:sldId id="286" r:id="rId18"/>
    <p:sldId id="279" r:id="rId19"/>
    <p:sldId id="280" r:id="rId20"/>
    <p:sldId id="282" r:id="rId21"/>
    <p:sldId id="283" r:id="rId22"/>
    <p:sldId id="284" r:id="rId23"/>
    <p:sldId id="452" r:id="rId24"/>
    <p:sldId id="454" r:id="rId25"/>
    <p:sldId id="455" r:id="rId26"/>
    <p:sldId id="453" r:id="rId27"/>
    <p:sldId id="429" r:id="rId28"/>
    <p:sldId id="430" r:id="rId29"/>
    <p:sldId id="431" r:id="rId30"/>
    <p:sldId id="432" r:id="rId31"/>
    <p:sldId id="433" r:id="rId32"/>
    <p:sldId id="434" r:id="rId33"/>
    <p:sldId id="435" r:id="rId34"/>
    <p:sldId id="436" r:id="rId35"/>
    <p:sldId id="437" r:id="rId36"/>
    <p:sldId id="438" r:id="rId37"/>
  </p:sldIdLst>
  <p:sldSz cx="12192000" cy="6858000"/>
  <p:notesSz cx="6858000" cy="9144000"/>
  <p:embeddedFontLst>
    <p:embeddedFont>
      <p:font typeface="新宋体" panose="02010609030101010101" pitchFamily="49" charset="-122"/>
      <p:regular r:id="rId42"/>
    </p:embeddedFont>
    <p:embeddedFont>
      <p:font typeface="汉仪大宋简" panose="02010600000101010101" charset="-122"/>
      <p:regular r:id="rId43"/>
    </p:embeddedFont>
    <p:embeddedFont>
      <p:font typeface="楷体" panose="02010609060101010101" charset="-122"/>
      <p:regular r:id="rId44"/>
    </p:embeddedFont>
    <p:embeddedFont>
      <p:font typeface="等线" panose="02010600030101010101" charset="-122"/>
      <p:regular r:id="rId45"/>
      <p:bold r:id="rId46"/>
    </p:embeddedFont>
    <p:embeddedFont>
      <p:font typeface="微软雅黑" panose="020B0503020204020204" charset="-122"/>
      <p:regular r:id="rId47"/>
      <p:bold r:id="rId48"/>
    </p:embeddedFont>
    <p:embeddedFont>
      <p:font typeface="等线 Light" panose="02010600030101010101" charset="-122"/>
      <p:regular r:id="rId49"/>
    </p:embeddedFont>
    <p:embeddedFont>
      <p:font typeface="黑体" panose="02010609060101010101" charset="-122"/>
      <p:regular r:id="rId50"/>
    </p:embeddedFont>
    <p:embeddedFont>
      <p:font typeface="锦绣宋体" panose="02000503000000000000" charset="-122"/>
      <p:regular r:id="rId51"/>
    </p:embeddedFont>
    <p:embeddedFont>
      <p:font typeface="Calibri" panose="020F0502020204030204" charset="0"/>
      <p:regular r:id="rId52"/>
      <p:bold r:id="rId53"/>
      <p:italic r:id="rId54"/>
      <p:boldItalic r:id="rId55"/>
    </p:embeddedFont>
  </p:embeddedFontLst>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E40D08"/>
    <a:srgbClr val="B62807"/>
    <a:srgbClr val="FFFFFF"/>
    <a:srgbClr val="133965"/>
    <a:srgbClr val="96D7F3"/>
    <a:srgbClr val="EDEB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091" autoAdjust="0"/>
  </p:normalViewPr>
  <p:slideViewPr>
    <p:cSldViewPr snapToGrid="0" showGuides="1">
      <p:cViewPr>
        <p:scale>
          <a:sx n="75" d="100"/>
          <a:sy n="75" d="100"/>
        </p:scale>
        <p:origin x="1344" y="678"/>
      </p:cViewPr>
      <p:guideLst>
        <p:guide orient="horz" pos="2160"/>
        <p:guide pos="383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gs" Target="tags/tag142.xml"/><Relationship Id="rId55" Type="http://schemas.openxmlformats.org/officeDocument/2006/relationships/font" Target="fonts/font14.fntdata"/><Relationship Id="rId54" Type="http://schemas.openxmlformats.org/officeDocument/2006/relationships/font" Target="fonts/font13.fntdata"/><Relationship Id="rId53" Type="http://schemas.openxmlformats.org/officeDocument/2006/relationships/font" Target="fonts/font12.fntdata"/><Relationship Id="rId52" Type="http://schemas.openxmlformats.org/officeDocument/2006/relationships/font" Target="fonts/font11.fntdata"/><Relationship Id="rId51" Type="http://schemas.openxmlformats.org/officeDocument/2006/relationships/font" Target="fonts/font10.fntdata"/><Relationship Id="rId50" Type="http://schemas.openxmlformats.org/officeDocument/2006/relationships/font" Target="fonts/font9.fntdata"/><Relationship Id="rId5" Type="http://schemas.openxmlformats.org/officeDocument/2006/relationships/slide" Target="slides/slide2.xml"/><Relationship Id="rId49" Type="http://schemas.openxmlformats.org/officeDocument/2006/relationships/font" Target="fonts/font8.fntdata"/><Relationship Id="rId48" Type="http://schemas.openxmlformats.org/officeDocument/2006/relationships/font" Target="fonts/font7.fntdata"/><Relationship Id="rId47" Type="http://schemas.openxmlformats.org/officeDocument/2006/relationships/font" Target="fonts/font6.fntdata"/><Relationship Id="rId46" Type="http://schemas.openxmlformats.org/officeDocument/2006/relationships/font" Target="fonts/font5.fntdata"/><Relationship Id="rId45" Type="http://schemas.openxmlformats.org/officeDocument/2006/relationships/font" Target="fonts/font4.fntdata"/><Relationship Id="rId44" Type="http://schemas.openxmlformats.org/officeDocument/2006/relationships/font" Target="fonts/font3.fntdata"/><Relationship Id="rId43" Type="http://schemas.openxmlformats.org/officeDocument/2006/relationships/font" Target="fonts/font2.fntdata"/><Relationship Id="rId42" Type="http://schemas.openxmlformats.org/officeDocument/2006/relationships/font" Target="fonts/font1.fntdata"/><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1.xml"/><Relationship Id="rId39" Type="http://schemas.openxmlformats.org/officeDocument/2006/relationships/presProps" Target="presProps.xml"/><Relationship Id="rId38" Type="http://schemas.openxmlformats.org/officeDocument/2006/relationships/notesMaster" Target="notesMasters/notesMaster1.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66C4B4-8FE1-4745-93EF-26D7E06CB8C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A67C01-D022-42A2-BCF0-D60081D1E7A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6E0819F-33DC-4FEB-8FC5-07324F3BA8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A89D5F-F436-4E20-AFC7-B3ADB8C8968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E0819F-33DC-4FEB-8FC5-07324F3BA80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A89D5F-F436-4E20-AFC7-B3ADB8C896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E0819F-33DC-4FEB-8FC5-07324F3BA80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A89D5F-F436-4E20-AFC7-B3ADB8C896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tags" Target="../tags/tag1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8" Type="http://schemas.openxmlformats.org/officeDocument/2006/relationships/slideLayout" Target="../slideLayouts/slideLayout18.xml"/><Relationship Id="rId27" Type="http://schemas.openxmlformats.org/officeDocument/2006/relationships/tags" Target="../tags/tag38.xml"/><Relationship Id="rId26" Type="http://schemas.openxmlformats.org/officeDocument/2006/relationships/tags" Target="../tags/tag37.xml"/><Relationship Id="rId25" Type="http://schemas.openxmlformats.org/officeDocument/2006/relationships/tags" Target="../tags/tag36.xml"/><Relationship Id="rId24" Type="http://schemas.openxmlformats.org/officeDocument/2006/relationships/tags" Target="../tags/tag35.xml"/><Relationship Id="rId23" Type="http://schemas.openxmlformats.org/officeDocument/2006/relationships/tags" Target="../tags/tag34.xml"/><Relationship Id="rId22" Type="http://schemas.openxmlformats.org/officeDocument/2006/relationships/tags" Target="../tags/tag33.xml"/><Relationship Id="rId21" Type="http://schemas.openxmlformats.org/officeDocument/2006/relationships/tags" Target="../tags/tag32.xml"/><Relationship Id="rId20" Type="http://schemas.openxmlformats.org/officeDocument/2006/relationships/tags" Target="../tags/tag31.xml"/><Relationship Id="rId2" Type="http://schemas.openxmlformats.org/officeDocument/2006/relationships/tags" Target="../tags/tag13.xml"/><Relationship Id="rId19" Type="http://schemas.openxmlformats.org/officeDocument/2006/relationships/tags" Target="../tags/tag30.xml"/><Relationship Id="rId18" Type="http://schemas.openxmlformats.org/officeDocument/2006/relationships/tags" Target="../tags/tag29.xml"/><Relationship Id="rId17" Type="http://schemas.openxmlformats.org/officeDocument/2006/relationships/tags" Target="../tags/tag28.xml"/><Relationship Id="rId16" Type="http://schemas.openxmlformats.org/officeDocument/2006/relationships/tags" Target="../tags/tag27.xml"/><Relationship Id="rId15" Type="http://schemas.openxmlformats.org/officeDocument/2006/relationships/tags" Target="../tags/tag26.xml"/><Relationship Id="rId14" Type="http://schemas.openxmlformats.org/officeDocument/2006/relationships/tags" Target="../tags/tag25.xml"/><Relationship Id="rId13" Type="http://schemas.openxmlformats.org/officeDocument/2006/relationships/tags" Target="../tags/tag24.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1" Type="http://schemas.openxmlformats.org/officeDocument/2006/relationships/slideLayout" Target="../slideLayouts/slideLayout18.xml"/><Relationship Id="rId10" Type="http://schemas.openxmlformats.org/officeDocument/2006/relationships/tags" Target="../tags/tag72.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73.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image" Target="../media/image8.png"/><Relationship Id="rId5" Type="http://schemas.openxmlformats.org/officeDocument/2006/relationships/tags" Target="../tags/tag76.xml"/><Relationship Id="rId4" Type="http://schemas.openxmlformats.org/officeDocument/2006/relationships/image" Target="../media/image7.png"/><Relationship Id="rId3" Type="http://schemas.openxmlformats.org/officeDocument/2006/relationships/tags" Target="../tags/tag75.xml"/><Relationship Id="rId2" Type="http://schemas.openxmlformats.org/officeDocument/2006/relationships/tags" Target="../tags/tag74.xml"/><Relationship Id="rId10" Type="http://schemas.openxmlformats.org/officeDocument/2006/relationships/slideLayout" Target="../slideLayouts/slideLayout7.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85.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3" Type="http://schemas.openxmlformats.org/officeDocument/2006/relationships/slideLayout" Target="../slideLayouts/slideLayout7.xml"/><Relationship Id="rId12" Type="http://schemas.openxmlformats.org/officeDocument/2006/relationships/tags" Target="../tags/tag103.xml"/><Relationship Id="rId11" Type="http://schemas.openxmlformats.org/officeDocument/2006/relationships/tags" Target="../tags/tag102.xml"/><Relationship Id="rId10" Type="http://schemas.openxmlformats.org/officeDocument/2006/relationships/tags" Target="../tags/tag101.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9" Type="http://schemas.openxmlformats.org/officeDocument/2006/relationships/tags" Target="../tags/tag111.xml"/><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4" Type="http://schemas.openxmlformats.org/officeDocument/2006/relationships/slideLayout" Target="../slideLayouts/slideLayout7.xml"/><Relationship Id="rId13" Type="http://schemas.openxmlformats.org/officeDocument/2006/relationships/tags" Target="../tags/tag115.xml"/><Relationship Id="rId12" Type="http://schemas.openxmlformats.org/officeDocument/2006/relationships/tags" Target="../tags/tag114.xml"/><Relationship Id="rId11" Type="http://schemas.openxmlformats.org/officeDocument/2006/relationships/tags" Target="../tags/tag113.xml"/><Relationship Id="rId10" Type="http://schemas.openxmlformats.org/officeDocument/2006/relationships/tags" Target="../tags/tag112.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123.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9" Type="http://schemas.openxmlformats.org/officeDocument/2006/relationships/tags" Target="../tags/tag131.xml"/><Relationship Id="rId8" Type="http://schemas.openxmlformats.org/officeDocument/2006/relationships/tags" Target="../tags/tag130.xml"/><Relationship Id="rId7" Type="http://schemas.openxmlformats.org/officeDocument/2006/relationships/tags" Target="../tags/tag129.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 Id="rId3" Type="http://schemas.openxmlformats.org/officeDocument/2006/relationships/tags" Target="../tags/tag125.xml"/><Relationship Id="rId2" Type="http://schemas.openxmlformats.org/officeDocument/2006/relationships/tags" Target="../tags/tag124.xml"/><Relationship Id="rId14" Type="http://schemas.openxmlformats.org/officeDocument/2006/relationships/slideLayout" Target="../slideLayouts/slideLayout7.xml"/><Relationship Id="rId13" Type="http://schemas.openxmlformats.org/officeDocument/2006/relationships/tags" Target="../tags/tag135.xml"/><Relationship Id="rId12" Type="http://schemas.openxmlformats.org/officeDocument/2006/relationships/tags" Target="../tags/tag134.xml"/><Relationship Id="rId11" Type="http://schemas.openxmlformats.org/officeDocument/2006/relationships/tags" Target="../tags/tag133.xml"/><Relationship Id="rId10" Type="http://schemas.openxmlformats.org/officeDocument/2006/relationships/tags" Target="../tags/tag132.xml"/><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38.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3" name="矩形 2"/>
          <p:cNvSpPr/>
          <p:nvPr/>
        </p:nvSpPr>
        <p:spPr>
          <a:xfrm>
            <a:off x="195942" y="201387"/>
            <a:ext cx="11800115" cy="6455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rotWithShape="1">
          <a:blip r:embed="rId2">
            <a:extLst>
              <a:ext uri="{28A0092B-C50C-407E-A947-70E740481C1C}">
                <a14:useLocalDpi xmlns:a14="http://schemas.microsoft.com/office/drawing/2010/main" val="0"/>
              </a:ext>
            </a:extLst>
          </a:blip>
          <a:srcRect t="88" b="87178"/>
          <a:stretch>
            <a:fillRect/>
          </a:stretch>
        </p:blipFill>
        <p:spPr>
          <a:xfrm>
            <a:off x="300865" y="4342132"/>
            <a:ext cx="11590270" cy="2217420"/>
          </a:xfrm>
          <a:prstGeom prst="rect">
            <a:avLst/>
          </a:prstGeom>
        </p:spPr>
      </p:pic>
      <p:sp>
        <p:nvSpPr>
          <p:cNvPr id="4" name="文本框 3"/>
          <p:cNvSpPr txBox="1"/>
          <p:nvPr/>
        </p:nvSpPr>
        <p:spPr>
          <a:xfrm>
            <a:off x="1824355" y="1306195"/>
            <a:ext cx="8542655" cy="1106805"/>
          </a:xfrm>
          <a:prstGeom prst="rect">
            <a:avLst/>
          </a:prstGeom>
          <a:noFill/>
        </p:spPr>
        <p:txBody>
          <a:bodyPr vert="horz" wrap="square" rtlCol="0">
            <a:spAutoFit/>
          </a:bodyPr>
          <a:lstStyle/>
          <a:p>
            <a:pPr algn="ctr"/>
            <a:r>
              <a:rPr lang="en-US" altLang="zh-CN" sz="6600" b="1">
                <a:solidFill>
                  <a:srgbClr val="133965"/>
                </a:solidFill>
                <a:latin typeface="新宋体" panose="02010609030101010101" pitchFamily="49" charset="-122"/>
                <a:ea typeface="新宋体" panose="02010609030101010101" pitchFamily="49" charset="-122"/>
              </a:rPr>
              <a:t>2026·</a:t>
            </a:r>
            <a:r>
              <a:rPr lang="zh-CN" altLang="en-US" sz="6600" b="1">
                <a:solidFill>
                  <a:srgbClr val="133965"/>
                </a:solidFill>
                <a:latin typeface="新宋体" panose="02010609030101010101" pitchFamily="49" charset="-122"/>
                <a:ea typeface="新宋体" panose="02010609030101010101" pitchFamily="49" charset="-122"/>
              </a:rPr>
              <a:t>国庆礼包</a:t>
            </a:r>
            <a:endParaRPr lang="zh-CN" altLang="en-US" sz="6600" b="1">
              <a:solidFill>
                <a:srgbClr val="133965"/>
              </a:solidFill>
              <a:latin typeface="新宋体" panose="02010609030101010101" pitchFamily="49" charset="-122"/>
              <a:ea typeface="新宋体" panose="02010609030101010101" pitchFamily="49" charset="-122"/>
            </a:endParaRPr>
          </a:p>
        </p:txBody>
      </p:sp>
      <p:pic>
        <p:nvPicPr>
          <p:cNvPr id="6" name="图片 5"/>
          <p:cNvPicPr>
            <a:picLocks noChangeAspect="1"/>
          </p:cNvPicPr>
          <p:nvPr/>
        </p:nvPicPr>
        <p:blipFill rotWithShape="1">
          <a:blip r:embed="rId3">
            <a:extLst>
              <a:ext uri="{28A0092B-C50C-407E-A947-70E740481C1C}">
                <a14:useLocalDpi xmlns:a14="http://schemas.microsoft.com/office/drawing/2010/main" val="0"/>
              </a:ext>
            </a:extLst>
          </a:blip>
          <a:srcRect l="42894" t="63810" b="1488"/>
          <a:stretch>
            <a:fillRect/>
          </a:stretch>
        </p:blipFill>
        <p:spPr>
          <a:xfrm rot="10800000">
            <a:off x="4325436" y="201387"/>
            <a:ext cx="847101" cy="493837"/>
          </a:xfrm>
          <a:prstGeom prst="rect">
            <a:avLst/>
          </a:prstGeom>
        </p:spPr>
      </p:pic>
      <p:cxnSp>
        <p:nvCxnSpPr>
          <p:cNvPr id="11" name="直接箭头连接符 10"/>
          <p:cNvCxnSpPr/>
          <p:nvPr/>
        </p:nvCxnSpPr>
        <p:spPr>
          <a:xfrm>
            <a:off x="4411980" y="6115049"/>
            <a:ext cx="123444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000" fill="hold">
                                          <p:stCondLst>
                                            <p:cond delay="0"/>
                                          </p:stCondLst>
                                        </p:cTn>
                                        <p:tgtEl>
                                          <p:spTgt spid="4"/>
                                        </p:tgtEl>
                                        <p:attrNameLst>
                                          <p:attrName>style.visibility</p:attrName>
                                        </p:attrNameLst>
                                      </p:cBhvr>
                                      <p:to>
                                        <p:strVal val="visible"/>
                                      </p:to>
                                    </p:set>
                                    <p:animEffect transition="in" filter="circle(out)">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4" name="矩形 3"/>
          <p:cNvSpPr/>
          <p:nvPr/>
        </p:nvSpPr>
        <p:spPr>
          <a:xfrm>
            <a:off x="399822" y="384631"/>
            <a:ext cx="11392354" cy="608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609600" y="683260"/>
            <a:ext cx="10972800" cy="5128895"/>
          </a:xfrm>
          <a:prstGeom prst="rect">
            <a:avLst/>
          </a:prstGeom>
          <a:noFill/>
          <a:ln w="9525">
            <a:noFill/>
          </a:ln>
        </p:spPr>
        <p:txBody>
          <a:bodyPr wrap="square">
            <a:spAutoFit/>
          </a:bodyPr>
          <a:p>
            <a:pPr indent="0">
              <a:lnSpc>
                <a:spcPct val="130000"/>
              </a:lnSpc>
              <a:spcBef>
                <a:spcPts val="0"/>
              </a:spcBef>
              <a:spcAft>
                <a:spcPts val="0"/>
              </a:spcAft>
            </a:pPr>
            <a:r>
              <a:rPr lang="en-US" sz="2800" b="0">
                <a:latin typeface="宋体" panose="02010600030101010101" pitchFamily="2" charset="-122"/>
                <a:ea typeface="宋体" panose="02010600030101010101" pitchFamily="2" charset="-122"/>
              </a:rPr>
              <a:t>1</a:t>
            </a:r>
            <a:r>
              <a:rPr lang="zh-CN" sz="2800" b="0">
                <a:ea typeface="宋体" panose="02010600030101010101" pitchFamily="2" charset="-122"/>
              </a:rPr>
              <a:t>.本词的作者是宋代的________（人名），小序中的“子由”是_______（人名）。2.作者通过写明月来表达对天下人美好祝愿，抒发离人心愿的句子是“____________________，____________________”。</a:t>
            </a:r>
            <a:r>
              <a:rPr lang="en-US" sz="2800" b="0">
                <a:latin typeface="宋体" panose="02010600030101010101" pitchFamily="2" charset="-122"/>
                <a:ea typeface="宋体" panose="02010600030101010101" pitchFamily="2" charset="-122"/>
              </a:rPr>
              <a:t>3</a:t>
            </a:r>
            <a:r>
              <a:rPr lang="zh-CN" sz="2800" b="0">
                <a:ea typeface="宋体" panose="02010600030101010101" pitchFamily="2" charset="-122"/>
              </a:rPr>
              <a:t>.下列对这首词的理解赏析有误的一项是（       ）</a:t>
            </a:r>
            <a:endParaRPr lang="zh-CN" sz="2800" b="0">
              <a:ea typeface="宋体" panose="02010600030101010101" pitchFamily="2" charset="-122"/>
            </a:endParaRPr>
          </a:p>
          <a:p>
            <a:pPr indent="0">
              <a:lnSpc>
                <a:spcPct val="130000"/>
              </a:lnSpc>
              <a:spcBef>
                <a:spcPts val="0"/>
              </a:spcBef>
              <a:spcAft>
                <a:spcPts val="0"/>
              </a:spcAft>
            </a:pPr>
            <a:r>
              <a:rPr lang="en-US" altLang="zh-CN" sz="2800" b="0">
                <a:ea typeface="宋体" panose="02010600030101010101" pitchFamily="2" charset="-122"/>
              </a:rPr>
              <a:t>  </a:t>
            </a:r>
            <a:r>
              <a:rPr lang="zh-CN" sz="2800" b="0">
                <a:ea typeface="宋体" panose="02010600030101010101" pitchFamily="2" charset="-122"/>
              </a:rPr>
              <a:t>A.词的小序中交代了作词的时间、地点及缘由。</a:t>
            </a:r>
            <a:endParaRPr lang="zh-CN" sz="2800" b="0">
              <a:ea typeface="宋体" panose="02010600030101010101" pitchFamily="2" charset="-122"/>
            </a:endParaRPr>
          </a:p>
          <a:p>
            <a:pPr indent="0">
              <a:lnSpc>
                <a:spcPct val="130000"/>
              </a:lnSpc>
              <a:spcBef>
                <a:spcPts val="0"/>
              </a:spcBef>
              <a:spcAft>
                <a:spcPts val="0"/>
              </a:spcAft>
            </a:pPr>
            <a:r>
              <a:rPr lang="en-US" altLang="zh-CN" sz="2800" b="0">
                <a:ea typeface="宋体" panose="02010600030101010101" pitchFamily="2" charset="-122"/>
              </a:rPr>
              <a:t>  </a:t>
            </a:r>
            <a:r>
              <a:rPr lang="zh-CN" sz="2800" b="0">
                <a:ea typeface="宋体" panose="02010600030101010101" pitchFamily="2" charset="-122"/>
              </a:rPr>
              <a:t>B.词的上阕极写作者在“天上”“人间”的徘徊、矛盾。</a:t>
            </a:r>
            <a:endParaRPr lang="zh-CN" sz="2800" b="0">
              <a:ea typeface="宋体" panose="02010600030101010101" pitchFamily="2" charset="-122"/>
            </a:endParaRPr>
          </a:p>
          <a:p>
            <a:pPr indent="0">
              <a:lnSpc>
                <a:spcPct val="130000"/>
              </a:lnSpc>
              <a:spcBef>
                <a:spcPts val="0"/>
              </a:spcBef>
              <a:spcAft>
                <a:spcPts val="0"/>
              </a:spcAft>
            </a:pPr>
            <a:r>
              <a:rPr lang="en-US" altLang="zh-CN" sz="2800" b="0">
                <a:ea typeface="宋体" panose="02010600030101010101" pitchFamily="2" charset="-122"/>
              </a:rPr>
              <a:t>  </a:t>
            </a:r>
            <a:r>
              <a:rPr lang="zh-CN" sz="2800" b="0">
                <a:ea typeface="宋体" panose="02010600030101010101" pitchFamily="2" charset="-122"/>
              </a:rPr>
              <a:t>C.词的下阕写对月怀人，以积极乐观的旷达情怀作结。</a:t>
            </a:r>
            <a:endParaRPr lang="zh-CN" sz="2800" b="0">
              <a:ea typeface="宋体" panose="02010600030101010101" pitchFamily="2" charset="-122"/>
            </a:endParaRPr>
          </a:p>
          <a:p>
            <a:pPr indent="0">
              <a:lnSpc>
                <a:spcPct val="130000"/>
              </a:lnSpc>
              <a:spcBef>
                <a:spcPts val="0"/>
              </a:spcBef>
              <a:spcAft>
                <a:spcPts val="0"/>
              </a:spcAft>
            </a:pPr>
            <a:r>
              <a:rPr lang="en-US" altLang="zh-CN" sz="2800" b="0">
                <a:ea typeface="宋体" panose="02010600030101010101" pitchFamily="2" charset="-122"/>
              </a:rPr>
              <a:t>  </a:t>
            </a:r>
            <a:r>
              <a:rPr lang="zh-CN" sz="2800" b="0">
                <a:ea typeface="宋体" panose="02010600030101010101" pitchFamily="2" charset="-122"/>
              </a:rPr>
              <a:t>D.全词跌宕有致，情景交融，显示了词人浪漫、洒脱、超逸的词风。</a:t>
            </a:r>
            <a:endParaRPr lang="zh-CN" altLang="en-US" sz="2800" b="0">
              <a:ea typeface="宋体" panose="02010600030101010101" pitchFamily="2" charset="-122"/>
            </a:endParaRPr>
          </a:p>
        </p:txBody>
      </p:sp>
      <p:sp>
        <p:nvSpPr>
          <p:cNvPr id="2" name="文本框 1"/>
          <p:cNvSpPr txBox="1"/>
          <p:nvPr/>
        </p:nvSpPr>
        <p:spPr>
          <a:xfrm>
            <a:off x="4301490" y="683260"/>
            <a:ext cx="1024890" cy="521970"/>
          </a:xfrm>
          <a:prstGeom prst="rect">
            <a:avLst/>
          </a:prstGeom>
          <a:noFill/>
        </p:spPr>
        <p:txBody>
          <a:bodyPr wrap="square" rtlCol="0">
            <a:spAutoFit/>
          </a:bodyPr>
          <a:p>
            <a:r>
              <a:rPr lang="zh-CN" altLang="en-US" sz="2800">
                <a:solidFill>
                  <a:schemeClr val="accent1"/>
                </a:solidFill>
                <a:latin typeface="汉仪大宋简" panose="02010600000101010101" charset="-122"/>
                <a:ea typeface="汉仪大宋简" panose="02010600000101010101" charset="-122"/>
              </a:rPr>
              <a:t>苏轼</a:t>
            </a:r>
            <a:endParaRPr lang="zh-CN" altLang="en-US" sz="2800">
              <a:solidFill>
                <a:schemeClr val="accent1"/>
              </a:solidFill>
              <a:latin typeface="汉仪大宋简" panose="02010600000101010101" charset="-122"/>
              <a:ea typeface="汉仪大宋简" panose="02010600000101010101" charset="-122"/>
            </a:endParaRPr>
          </a:p>
        </p:txBody>
      </p:sp>
      <p:sp>
        <p:nvSpPr>
          <p:cNvPr id="5" name="文本框 4"/>
          <p:cNvSpPr txBox="1"/>
          <p:nvPr>
            <p:custDataLst>
              <p:tags r:id="rId2"/>
            </p:custDataLst>
          </p:nvPr>
        </p:nvSpPr>
        <p:spPr>
          <a:xfrm>
            <a:off x="10375900" y="683260"/>
            <a:ext cx="1024890" cy="521970"/>
          </a:xfrm>
          <a:prstGeom prst="rect">
            <a:avLst/>
          </a:prstGeom>
          <a:noFill/>
        </p:spPr>
        <p:txBody>
          <a:bodyPr wrap="square" rtlCol="0">
            <a:spAutoFit/>
          </a:bodyPr>
          <a:p>
            <a:r>
              <a:rPr lang="zh-CN" altLang="en-US" sz="2800">
                <a:solidFill>
                  <a:schemeClr val="accent1"/>
                </a:solidFill>
                <a:latin typeface="汉仪大宋简" panose="02010600000101010101" charset="-122"/>
                <a:ea typeface="汉仪大宋简" panose="02010600000101010101" charset="-122"/>
              </a:rPr>
              <a:t>苏辙</a:t>
            </a:r>
            <a:endParaRPr lang="zh-CN" altLang="en-US" sz="2800">
              <a:solidFill>
                <a:schemeClr val="accent1"/>
              </a:solidFill>
              <a:latin typeface="汉仪大宋简" panose="02010600000101010101" charset="-122"/>
              <a:ea typeface="汉仪大宋简" panose="02010600000101010101" charset="-122"/>
            </a:endParaRPr>
          </a:p>
        </p:txBody>
      </p:sp>
      <p:sp>
        <p:nvSpPr>
          <p:cNvPr id="6" name="文本框 5"/>
          <p:cNvSpPr txBox="1"/>
          <p:nvPr>
            <p:custDataLst>
              <p:tags r:id="rId3"/>
            </p:custDataLst>
          </p:nvPr>
        </p:nvSpPr>
        <p:spPr>
          <a:xfrm>
            <a:off x="1454150" y="2412365"/>
            <a:ext cx="2966720" cy="521970"/>
          </a:xfrm>
          <a:prstGeom prst="rect">
            <a:avLst/>
          </a:prstGeom>
          <a:noFill/>
        </p:spPr>
        <p:txBody>
          <a:bodyPr wrap="square" rtlCol="0">
            <a:spAutoFit/>
          </a:bodyPr>
          <a:p>
            <a:r>
              <a:rPr lang="zh-CN" altLang="en-US" sz="2800">
                <a:solidFill>
                  <a:schemeClr val="accent1"/>
                </a:solidFill>
                <a:latin typeface="汉仪大宋简" panose="02010600000101010101" charset="-122"/>
                <a:ea typeface="汉仪大宋简" panose="02010600000101010101" charset="-122"/>
              </a:rPr>
              <a:t>但愿人长久</a:t>
            </a:r>
            <a:endParaRPr lang="zh-CN" altLang="en-US" sz="2800">
              <a:solidFill>
                <a:schemeClr val="accent1"/>
              </a:solidFill>
              <a:latin typeface="汉仪大宋简" panose="02010600000101010101" charset="-122"/>
              <a:ea typeface="汉仪大宋简" panose="02010600000101010101" charset="-122"/>
            </a:endParaRPr>
          </a:p>
        </p:txBody>
      </p:sp>
      <p:sp>
        <p:nvSpPr>
          <p:cNvPr id="7" name="文本框 6"/>
          <p:cNvSpPr txBox="1"/>
          <p:nvPr>
            <p:custDataLst>
              <p:tags r:id="rId4"/>
            </p:custDataLst>
          </p:nvPr>
        </p:nvSpPr>
        <p:spPr>
          <a:xfrm>
            <a:off x="4668520" y="2412365"/>
            <a:ext cx="2966720" cy="521970"/>
          </a:xfrm>
          <a:prstGeom prst="rect">
            <a:avLst/>
          </a:prstGeom>
          <a:noFill/>
        </p:spPr>
        <p:txBody>
          <a:bodyPr wrap="square" rtlCol="0">
            <a:spAutoFit/>
          </a:bodyPr>
          <a:p>
            <a:r>
              <a:rPr lang="zh-CN" altLang="en-US" sz="2800">
                <a:solidFill>
                  <a:schemeClr val="accent1"/>
                </a:solidFill>
                <a:latin typeface="汉仪大宋简" panose="02010600000101010101" charset="-122"/>
                <a:ea typeface="汉仪大宋简" panose="02010600000101010101" charset="-122"/>
              </a:rPr>
              <a:t>千里共婵娟</a:t>
            </a:r>
            <a:endParaRPr lang="zh-CN" altLang="en-US" sz="2800">
              <a:solidFill>
                <a:schemeClr val="accent1"/>
              </a:solidFill>
              <a:latin typeface="汉仪大宋简" panose="02010600000101010101" charset="-122"/>
              <a:ea typeface="汉仪大宋简" panose="02010600000101010101" charset="-122"/>
            </a:endParaRPr>
          </a:p>
        </p:txBody>
      </p:sp>
      <p:pic>
        <p:nvPicPr>
          <p:cNvPr id="8" name="图片 7" descr="3b32313539383234353b4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16800" y="2999105"/>
            <a:ext cx="497205" cy="497205"/>
          </a:xfrm>
          <a:prstGeom prst="rect">
            <a:avLst/>
          </a:prstGeom>
        </p:spPr>
      </p:pic>
      <p:cxnSp>
        <p:nvCxnSpPr>
          <p:cNvPr id="9" name="直接连接符 8"/>
          <p:cNvCxnSpPr/>
          <p:nvPr/>
        </p:nvCxnSpPr>
        <p:spPr>
          <a:xfrm>
            <a:off x="5991225" y="4044950"/>
            <a:ext cx="1053465" cy="0"/>
          </a:xfrm>
          <a:prstGeom prst="line">
            <a:avLst/>
          </a:prstGeom>
          <a:ln w="31750">
            <a:gradFill>
              <a:gsLst>
                <a:gs pos="0">
                  <a:schemeClr val="accent1">
                    <a:hueOff val="-4200000"/>
                  </a:schemeClr>
                </a:gs>
                <a:gs pos="100000">
                  <a:schemeClr val="accent1"/>
                </a:gs>
              </a:gsLst>
            </a:gradFill>
          </a:ln>
        </p:spPr>
        <p:style>
          <a:lnRef idx="0">
            <a:srgbClr val="FFFFFF"/>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5" grpId="0"/>
      <p:bldP spid="5" grpId="1"/>
      <p:bldP spid="6" grpId="0"/>
      <p:bldP spid="6" grpId="1"/>
      <p:bldP spid="7" grpId="0"/>
      <p:bldP spid="7"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4" name="矩形 3"/>
          <p:cNvSpPr/>
          <p:nvPr/>
        </p:nvSpPr>
        <p:spPr>
          <a:xfrm>
            <a:off x="399822" y="384631"/>
            <a:ext cx="11392354" cy="608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81660" y="728980"/>
            <a:ext cx="10676255" cy="521970"/>
          </a:xfrm>
          <a:prstGeom prst="rect">
            <a:avLst/>
          </a:prstGeom>
          <a:noFill/>
          <a:ln w="9525">
            <a:noFill/>
          </a:ln>
        </p:spPr>
        <p:txBody>
          <a:bodyPr wrap="square">
            <a:spAutoFit/>
          </a:bodyPr>
          <a:p>
            <a:pPr indent="0" algn="ctr"/>
            <a:r>
              <a:rPr lang="zh-CN" sz="2800" b="1">
                <a:ea typeface="宋体" panose="02010600030101010101" pitchFamily="2" charset="-122"/>
              </a:rPr>
              <a:t>【甲】行路难</a:t>
            </a:r>
            <a:r>
              <a:rPr lang="en-US" sz="2800" b="1">
                <a:latin typeface="宋体" panose="02010600030101010101" pitchFamily="2" charset="-122"/>
                <a:ea typeface="宋体" panose="02010600030101010101" pitchFamily="2" charset="-122"/>
              </a:rPr>
              <a:t>  </a:t>
            </a:r>
            <a:r>
              <a:rPr lang="zh-CN" sz="2800" b="1">
                <a:ea typeface="宋体" panose="02010600030101010101" pitchFamily="2" charset="-122"/>
              </a:rPr>
              <a:t>【乙】酬乐天扬州初逢席上见赠</a:t>
            </a:r>
            <a:r>
              <a:rPr lang="en-US" sz="2800" b="1">
                <a:latin typeface="宋体" panose="02010600030101010101" pitchFamily="2" charset="-122"/>
                <a:ea typeface="宋体" panose="02010600030101010101" pitchFamily="2" charset="-122"/>
              </a:rPr>
              <a:t>  </a:t>
            </a:r>
            <a:r>
              <a:rPr lang="zh-CN" sz="2800" b="1">
                <a:ea typeface="宋体" panose="02010600030101010101" pitchFamily="2" charset="-122"/>
              </a:rPr>
              <a:t>【丙】岳阳楼记</a:t>
            </a:r>
            <a:endParaRPr lang="zh-CN" altLang="en-US" sz="2800" b="0">
              <a:ea typeface="宋体" panose="02010600030101010101" pitchFamily="2" charset="-122"/>
            </a:endParaRPr>
          </a:p>
        </p:txBody>
      </p:sp>
      <p:graphicFrame>
        <p:nvGraphicFramePr>
          <p:cNvPr id="11" name="表格 10"/>
          <p:cNvGraphicFramePr/>
          <p:nvPr/>
        </p:nvGraphicFramePr>
        <p:xfrm>
          <a:off x="538480" y="1350645"/>
          <a:ext cx="11130280" cy="3794760"/>
        </p:xfrm>
        <a:graphic>
          <a:graphicData uri="http://schemas.openxmlformats.org/drawingml/2006/table">
            <a:tbl>
              <a:tblPr/>
              <a:tblGrid>
                <a:gridCol w="922655"/>
                <a:gridCol w="1926590"/>
                <a:gridCol w="2976245"/>
                <a:gridCol w="5304790"/>
              </a:tblGrid>
              <a:tr h="521970">
                <a:tc>
                  <a:txBody>
                    <a:bodyPr/>
                    <a:p>
                      <a:pPr indent="0" algn="ctr" fontAlgn="auto">
                        <a:lnSpc>
                          <a:spcPct val="130000"/>
                        </a:lnSpc>
                        <a:buNone/>
                      </a:pPr>
                      <a:r>
                        <a:rPr lang="en-US" sz="2800" b="1">
                          <a:latin typeface="宋体" panose="02010600030101010101" pitchFamily="2" charset="-122"/>
                          <a:ea typeface="宋体" panose="02010600030101010101" pitchFamily="2" charset="-122"/>
                          <a:cs typeface="Times New Roman" panose="02020603050405020304" charset="0"/>
                        </a:rPr>
                        <a:t>篇目</a:t>
                      </a:r>
                      <a:endParaRPr lang="en-US" altLang="en-US" sz="2800" b="1">
                        <a:latin typeface="宋体" panose="02010600030101010101" pitchFamily="2" charset="-122"/>
                        <a:ea typeface="宋体" panose="02010600030101010101" pitchFamily="2" charset="-122"/>
                        <a:cs typeface="Times New Roman" panose="02020603050405020304" charset="0"/>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fontAlgn="auto">
                        <a:lnSpc>
                          <a:spcPct val="130000"/>
                        </a:lnSpc>
                        <a:buNone/>
                      </a:pPr>
                      <a:r>
                        <a:rPr lang="en-US" sz="2800" b="1">
                          <a:latin typeface="宋体" panose="02010600030101010101" pitchFamily="2" charset="-122"/>
                          <a:ea typeface="宋体" panose="02010600030101010101" pitchFamily="2" charset="-122"/>
                          <a:cs typeface="Times New Roman" panose="02020603050405020304" charset="0"/>
                        </a:rPr>
                        <a:t>作者</a:t>
                      </a:r>
                      <a:endParaRPr lang="en-US" altLang="en-US" sz="2800" b="1">
                        <a:latin typeface="宋体" panose="02010600030101010101" pitchFamily="2" charset="-122"/>
                        <a:ea typeface="宋体" panose="02010600030101010101" pitchFamily="2" charset="-122"/>
                        <a:cs typeface="Times New Roman" panose="02020603050405020304" charset="0"/>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fontAlgn="auto">
                        <a:lnSpc>
                          <a:spcPct val="130000"/>
                        </a:lnSpc>
                        <a:buNone/>
                      </a:pPr>
                      <a:r>
                        <a:rPr lang="en-US" sz="2800" b="1">
                          <a:latin typeface="宋体" panose="02010600030101010101" pitchFamily="2" charset="-122"/>
                          <a:ea typeface="宋体" panose="02010600030101010101" pitchFamily="2" charset="-122"/>
                          <a:cs typeface="Times New Roman" panose="02020603050405020304" charset="0"/>
                        </a:rPr>
                        <a:t>解释加点词语</a:t>
                      </a:r>
                      <a:endParaRPr lang="en-US" altLang="en-US" sz="2800" b="1">
                        <a:latin typeface="宋体" panose="02010600030101010101" pitchFamily="2" charset="-122"/>
                        <a:ea typeface="宋体" panose="02010600030101010101" pitchFamily="2" charset="-122"/>
                        <a:cs typeface="Times New Roman" panose="02020603050405020304" charset="0"/>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fontAlgn="auto">
                        <a:lnSpc>
                          <a:spcPct val="130000"/>
                        </a:lnSpc>
                        <a:buNone/>
                      </a:pPr>
                      <a:r>
                        <a:rPr lang="en-US" sz="2800" b="1">
                          <a:latin typeface="宋体" panose="02010600030101010101" pitchFamily="2" charset="-122"/>
                          <a:ea typeface="宋体" panose="02010600030101010101" pitchFamily="2" charset="-122"/>
                          <a:cs typeface="Times New Roman" panose="02020603050405020304" charset="0"/>
                        </a:rPr>
                        <a:t>文意理解</a:t>
                      </a:r>
                      <a:endParaRPr lang="en-US" altLang="en-US" sz="2800" b="1">
                        <a:latin typeface="宋体" panose="02010600030101010101" pitchFamily="2" charset="-122"/>
                        <a:ea typeface="宋体" panose="02010600030101010101" pitchFamily="2" charset="-122"/>
                        <a:cs typeface="Times New Roman" panose="02020603050405020304" charset="0"/>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0">
                <a:tc>
                  <a:txBody>
                    <a:bodyPr/>
                    <a:p>
                      <a:pPr indent="0" algn="ctr" fontAlgn="auto">
                        <a:lnSpc>
                          <a:spcPct val="130000"/>
                        </a:lnSpc>
                        <a:buNone/>
                      </a:pPr>
                      <a:r>
                        <a:rPr lang="en-US" sz="2800" b="1">
                          <a:latin typeface="宋体" panose="02010600030101010101" pitchFamily="2" charset="-122"/>
                          <a:ea typeface="宋体" panose="02010600030101010101" pitchFamily="2" charset="-122"/>
                          <a:cs typeface="Times New Roman" panose="02020603050405020304" charset="0"/>
                        </a:rPr>
                        <a:t>甲</a:t>
                      </a:r>
                      <a:endParaRPr lang="en-US" altLang="en-US" sz="2800" b="1">
                        <a:latin typeface="宋体" panose="02010600030101010101" pitchFamily="2" charset="-122"/>
                        <a:ea typeface="宋体" panose="02010600030101010101" pitchFamily="2" charset="-122"/>
                        <a:cs typeface="Times New Roman" panose="02020603050405020304" charset="0"/>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fontAlgn="auto">
                        <a:lnSpc>
                          <a:spcPct val="130000"/>
                        </a:lnSpc>
                        <a:buNone/>
                      </a:pPr>
                      <a:r>
                        <a:rPr lang="en-US" sz="2800" b="0">
                          <a:latin typeface="宋体" panose="02010600030101010101" pitchFamily="2" charset="-122"/>
                          <a:ea typeface="宋体" panose="02010600030101010101" pitchFamily="2" charset="-122"/>
                          <a:cs typeface="宋体" panose="02010600030101010101" pitchFamily="2" charset="-122"/>
                        </a:rPr>
                        <a:t>李白，字①______</a:t>
                      </a:r>
                      <a:endParaRPr lang="en-US" altLang="en-US" sz="2800" b="0">
                        <a:latin typeface="宋体" panose="02010600030101010101" pitchFamily="2" charset="-122"/>
                        <a:ea typeface="宋体" panose="02010600030101010101" pitchFamily="2" charset="-122"/>
                        <a:cs typeface="宋体" panose="02010600030101010101" pitchFamily="2" charset="-122"/>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fontAlgn="auto">
                        <a:lnSpc>
                          <a:spcPct val="130000"/>
                        </a:lnSpc>
                        <a:buNone/>
                      </a:pPr>
                      <a:r>
                        <a:rPr lang="en-US" sz="2800" b="0">
                          <a:latin typeface="宋体" panose="02010600030101010101" pitchFamily="2" charset="-122"/>
                          <a:ea typeface="宋体" panose="02010600030101010101" pitchFamily="2" charset="-122"/>
                          <a:cs typeface="宋体" panose="02010600030101010101" pitchFamily="2" charset="-122"/>
                        </a:rPr>
                        <a:t>长风破浪会有时②___________</a:t>
                      </a:r>
                      <a:endParaRPr lang="en-US" altLang="en-US" sz="2800" b="0">
                        <a:latin typeface="宋体" panose="02010600030101010101" pitchFamily="2" charset="-122"/>
                        <a:ea typeface="宋体" panose="02010600030101010101" pitchFamily="2" charset="-122"/>
                        <a:cs typeface="宋体" panose="02010600030101010101" pitchFamily="2" charset="-122"/>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fontAlgn="auto">
                        <a:lnSpc>
                          <a:spcPct val="130000"/>
                        </a:lnSpc>
                        <a:buNone/>
                      </a:pPr>
                      <a:r>
                        <a:rPr lang="en-US" sz="2800" b="0">
                          <a:latin typeface="宋体" panose="02010600030101010101" pitchFamily="2" charset="-122"/>
                          <a:ea typeface="宋体" panose="02010600030101010101" pitchFamily="2" charset="-122"/>
                          <a:cs typeface="Times New Roman" panose="02020603050405020304" charset="0"/>
                        </a:rPr>
                        <a:t>垂钓碧溪：诗人借此表明对从政仍有期待</a:t>
                      </a:r>
                      <a:endParaRPr lang="en-US" altLang="en-US" sz="2800" b="0">
                        <a:latin typeface="宋体" panose="02010600030101010101" pitchFamily="2" charset="-122"/>
                        <a:ea typeface="宋体" panose="02010600030101010101" pitchFamily="2" charset="-122"/>
                        <a:cs typeface="Times New Roman" panose="02020603050405020304" charset="0"/>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0">
                <a:tc>
                  <a:txBody>
                    <a:bodyPr/>
                    <a:p>
                      <a:pPr indent="0" algn="ctr" fontAlgn="auto">
                        <a:lnSpc>
                          <a:spcPct val="130000"/>
                        </a:lnSpc>
                        <a:buNone/>
                      </a:pPr>
                      <a:r>
                        <a:rPr lang="en-US" sz="2800" b="1">
                          <a:latin typeface="宋体" panose="02010600030101010101" pitchFamily="2" charset="-122"/>
                          <a:ea typeface="宋体" panose="02010600030101010101" pitchFamily="2" charset="-122"/>
                          <a:cs typeface="Times New Roman" panose="02020603050405020304" charset="0"/>
                        </a:rPr>
                        <a:t>乙</a:t>
                      </a:r>
                      <a:endParaRPr lang="en-US" altLang="en-US" sz="2800" b="1">
                        <a:latin typeface="宋体" panose="02010600030101010101" pitchFamily="2" charset="-122"/>
                        <a:ea typeface="宋体" panose="02010600030101010101" pitchFamily="2" charset="-122"/>
                        <a:cs typeface="Times New Roman" panose="02020603050405020304" charset="0"/>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fontAlgn="auto">
                        <a:lnSpc>
                          <a:spcPct val="130000"/>
                        </a:lnSpc>
                        <a:buNone/>
                      </a:pPr>
                      <a:r>
                        <a:rPr lang="en-US" sz="2800" b="0">
                          <a:latin typeface="宋体" panose="02010600030101010101" pitchFamily="2" charset="-122"/>
                          <a:ea typeface="宋体" panose="02010600030101010101" pitchFamily="2" charset="-122"/>
                          <a:cs typeface="宋体" panose="02010600030101010101" pitchFamily="2" charset="-122"/>
                        </a:rPr>
                        <a:t>③______</a:t>
                      </a:r>
                      <a:endParaRPr lang="en-US" altLang="en-US" sz="2800" b="0">
                        <a:latin typeface="宋体" panose="02010600030101010101" pitchFamily="2" charset="-122"/>
                        <a:ea typeface="宋体" panose="02010600030101010101" pitchFamily="2" charset="-122"/>
                        <a:cs typeface="宋体" panose="02010600030101010101" pitchFamily="2" charset="-122"/>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fontAlgn="auto">
                        <a:lnSpc>
                          <a:spcPct val="130000"/>
                        </a:lnSpc>
                        <a:buNone/>
                      </a:pPr>
                      <a:r>
                        <a:rPr lang="en-US" sz="2800" b="0">
                          <a:latin typeface="宋体" panose="02010600030101010101" pitchFamily="2" charset="-122"/>
                          <a:ea typeface="宋体" panose="02010600030101010101" pitchFamily="2" charset="-122"/>
                          <a:cs typeface="宋体" panose="02010600030101010101" pitchFamily="2" charset="-122"/>
                        </a:rPr>
                        <a:t>酬乐天④___________</a:t>
                      </a:r>
                      <a:endParaRPr lang="en-US" altLang="en-US" sz="2800" b="0">
                        <a:latin typeface="宋体" panose="02010600030101010101" pitchFamily="2" charset="-122"/>
                        <a:ea typeface="宋体" panose="02010600030101010101" pitchFamily="2" charset="-122"/>
                        <a:cs typeface="宋体" panose="02010600030101010101" pitchFamily="2" charset="-122"/>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fontAlgn="auto">
                        <a:lnSpc>
                          <a:spcPct val="130000"/>
                        </a:lnSpc>
                        <a:buNone/>
                      </a:pPr>
                      <a:r>
                        <a:rPr lang="en-US" sz="2800" b="0">
                          <a:latin typeface="宋体" panose="02010600030101010101" pitchFamily="2" charset="-122"/>
                          <a:ea typeface="宋体" panose="02010600030101010101" pitchFamily="2" charset="-122"/>
                          <a:cs typeface="宋体" panose="02010600030101010101" pitchFamily="2" charset="-122"/>
                        </a:rPr>
                        <a:t>闻笛赋：诗人借此⑤_____</a:t>
                      </a:r>
                      <a:endParaRPr lang="en-US" altLang="en-US" sz="2800" b="0">
                        <a:latin typeface="宋体" panose="02010600030101010101" pitchFamily="2" charset="-122"/>
                        <a:ea typeface="宋体" panose="02010600030101010101" pitchFamily="2" charset="-122"/>
                        <a:cs typeface="宋体" panose="02010600030101010101" pitchFamily="2" charset="-122"/>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0">
                <a:tc>
                  <a:txBody>
                    <a:bodyPr/>
                    <a:p>
                      <a:pPr indent="0" algn="ctr" fontAlgn="auto">
                        <a:lnSpc>
                          <a:spcPct val="130000"/>
                        </a:lnSpc>
                        <a:buNone/>
                      </a:pPr>
                      <a:r>
                        <a:rPr lang="en-US" sz="2800" b="1">
                          <a:latin typeface="宋体" panose="02010600030101010101" pitchFamily="2" charset="-122"/>
                          <a:ea typeface="宋体" panose="02010600030101010101" pitchFamily="2" charset="-122"/>
                          <a:cs typeface="Times New Roman" panose="02020603050405020304" charset="0"/>
                        </a:rPr>
                        <a:t>丙</a:t>
                      </a:r>
                      <a:endParaRPr lang="en-US" altLang="en-US" sz="2800" b="1">
                        <a:latin typeface="宋体" panose="02010600030101010101" pitchFamily="2" charset="-122"/>
                        <a:ea typeface="宋体" panose="02010600030101010101" pitchFamily="2" charset="-122"/>
                        <a:cs typeface="Times New Roman" panose="02020603050405020304" charset="0"/>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fontAlgn="auto">
                        <a:lnSpc>
                          <a:spcPct val="130000"/>
                        </a:lnSpc>
                        <a:buNone/>
                      </a:pPr>
                      <a:r>
                        <a:rPr lang="en-US" sz="2800" b="0">
                          <a:latin typeface="宋体" panose="02010600030101010101" pitchFamily="2" charset="-122"/>
                          <a:ea typeface="宋体" panose="02010600030101010101" pitchFamily="2" charset="-122"/>
                          <a:cs typeface="Times New Roman" panose="02020603050405020304" charset="0"/>
                        </a:rPr>
                        <a:t>范仲淹</a:t>
                      </a:r>
                      <a:endParaRPr lang="en-US" altLang="en-US" sz="2800" b="0">
                        <a:latin typeface="宋体" panose="02010600030101010101" pitchFamily="2" charset="-122"/>
                        <a:ea typeface="宋体" panose="02010600030101010101" pitchFamily="2" charset="-122"/>
                        <a:cs typeface="Times New Roman" panose="02020603050405020304" charset="0"/>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fontAlgn="auto">
                        <a:lnSpc>
                          <a:spcPct val="130000"/>
                        </a:lnSpc>
                        <a:buNone/>
                      </a:pPr>
                      <a:r>
                        <a:rPr lang="en-US" sz="2800" b="0">
                          <a:latin typeface="宋体" panose="02010600030101010101" pitchFamily="2" charset="-122"/>
                          <a:ea typeface="宋体" panose="02010600030101010101" pitchFamily="2" charset="-122"/>
                          <a:cs typeface="宋体" panose="02010600030101010101" pitchFamily="2" charset="-122"/>
                        </a:rPr>
                        <a:t>不以物喜⑥___________</a:t>
                      </a:r>
                      <a:endParaRPr lang="en-US" altLang="en-US" sz="2800" b="0">
                        <a:latin typeface="宋体" panose="02010600030101010101" pitchFamily="2" charset="-122"/>
                        <a:ea typeface="宋体" panose="02010600030101010101" pitchFamily="2" charset="-122"/>
                        <a:cs typeface="宋体" panose="02010600030101010101" pitchFamily="2" charset="-122"/>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fontAlgn="auto">
                        <a:lnSpc>
                          <a:spcPct val="130000"/>
                        </a:lnSpc>
                        <a:buNone/>
                      </a:pPr>
                      <a:r>
                        <a:rPr lang="en-US" sz="2800" b="0">
                          <a:latin typeface="宋体" panose="02010600030101010101" pitchFamily="2" charset="-122"/>
                          <a:ea typeface="宋体" panose="02010600030101010101" pitchFamily="2" charset="-122"/>
                          <a:cs typeface="宋体" panose="02010600030101010101" pitchFamily="2" charset="-122"/>
                        </a:rPr>
                        <a:t>政通人和，百废具兴：作者⑦______</a:t>
                      </a:r>
                      <a:endParaRPr lang="en-US" altLang="en-US" sz="2800" b="0">
                        <a:latin typeface="宋体" panose="02010600030101010101" pitchFamily="2" charset="-122"/>
                        <a:ea typeface="宋体" panose="02010600030101010101" pitchFamily="2" charset="-122"/>
                        <a:cs typeface="宋体" panose="02010600030101010101" pitchFamily="2" charset="-122"/>
                      </a:endParaRPr>
                    </a:p>
                  </a:txBody>
                  <a:tcPr marL="76200" marR="76200" marT="47625" marB="47625"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12" name="文本框 11"/>
          <p:cNvSpPr txBox="1"/>
          <p:nvPr/>
        </p:nvSpPr>
        <p:spPr>
          <a:xfrm>
            <a:off x="1931035" y="2628265"/>
            <a:ext cx="1013460" cy="521970"/>
          </a:xfrm>
          <a:prstGeom prst="rect">
            <a:avLst/>
          </a:prstGeom>
          <a:noFill/>
        </p:spPr>
        <p:txBody>
          <a:bodyPr wrap="square" rtlCol="0">
            <a:spAutoFit/>
          </a:bodyPr>
          <a:p>
            <a:pPr lvl="0" algn="l">
              <a:buClrTx/>
              <a:buSzTx/>
              <a:buFontTx/>
            </a:pPr>
            <a:r>
              <a:rPr lang="zh-CN" altLang="en-US" sz="2800">
                <a:solidFill>
                  <a:schemeClr val="accent1"/>
                </a:solidFill>
                <a:latin typeface="汉仪大宋简" panose="02010600000101010101" charset="-122"/>
                <a:ea typeface="汉仪大宋简" panose="02010600000101010101" charset="-122"/>
                <a:sym typeface="+mn-ea"/>
              </a:rPr>
              <a:t>太白</a:t>
            </a:r>
            <a:endParaRPr lang="zh-CN" altLang="en-US" sz="2800">
              <a:solidFill>
                <a:schemeClr val="accent1"/>
              </a:solidFill>
              <a:latin typeface="汉仪大宋简" panose="02010600000101010101" charset="-122"/>
              <a:ea typeface="汉仪大宋简" panose="02010600000101010101" charset="-122"/>
              <a:sym typeface="+mn-ea"/>
            </a:endParaRPr>
          </a:p>
        </p:txBody>
      </p:sp>
      <p:sp>
        <p:nvSpPr>
          <p:cNvPr id="13" name="文本框 12"/>
          <p:cNvSpPr txBox="1"/>
          <p:nvPr>
            <p:custDataLst>
              <p:tags r:id="rId2"/>
            </p:custDataLst>
          </p:nvPr>
        </p:nvSpPr>
        <p:spPr>
          <a:xfrm>
            <a:off x="3924935" y="2628265"/>
            <a:ext cx="1463675" cy="521970"/>
          </a:xfrm>
          <a:prstGeom prst="rect">
            <a:avLst/>
          </a:prstGeom>
          <a:noFill/>
        </p:spPr>
        <p:txBody>
          <a:bodyPr wrap="square" rtlCol="0">
            <a:spAutoFit/>
          </a:bodyPr>
          <a:p>
            <a:pPr lvl="0" algn="l">
              <a:buClrTx/>
              <a:buSzTx/>
              <a:buFontTx/>
            </a:pPr>
            <a:r>
              <a:rPr lang="zh-CN" altLang="en-US" sz="2800">
                <a:solidFill>
                  <a:schemeClr val="accent1"/>
                </a:solidFill>
                <a:latin typeface="汉仪大宋简" panose="02010600000101010101" charset="-122"/>
                <a:ea typeface="汉仪大宋简" panose="02010600000101010101" charset="-122"/>
                <a:sym typeface="+mn-ea"/>
              </a:rPr>
              <a:t>终将</a:t>
            </a:r>
            <a:endParaRPr lang="zh-CN" altLang="en-US" sz="2800">
              <a:solidFill>
                <a:schemeClr val="accent1"/>
              </a:solidFill>
              <a:latin typeface="汉仪大宋简" panose="02010600000101010101" charset="-122"/>
              <a:ea typeface="汉仪大宋简" panose="02010600000101010101" charset="-122"/>
              <a:sym typeface="+mn-ea"/>
            </a:endParaRPr>
          </a:p>
        </p:txBody>
      </p:sp>
      <p:sp>
        <p:nvSpPr>
          <p:cNvPr id="14" name="文本框 13"/>
          <p:cNvSpPr txBox="1"/>
          <p:nvPr>
            <p:custDataLst>
              <p:tags r:id="rId3"/>
            </p:custDataLst>
          </p:nvPr>
        </p:nvSpPr>
        <p:spPr>
          <a:xfrm>
            <a:off x="1931035" y="3560445"/>
            <a:ext cx="1463675" cy="521970"/>
          </a:xfrm>
          <a:prstGeom prst="rect">
            <a:avLst/>
          </a:prstGeom>
          <a:noFill/>
        </p:spPr>
        <p:txBody>
          <a:bodyPr wrap="square" rtlCol="0">
            <a:spAutoFit/>
          </a:bodyPr>
          <a:p>
            <a:pPr lvl="0" algn="l">
              <a:buClrTx/>
              <a:buSzTx/>
              <a:buFontTx/>
            </a:pPr>
            <a:r>
              <a:rPr lang="zh-CN" altLang="en-US" sz="2800">
                <a:solidFill>
                  <a:schemeClr val="accent1"/>
                </a:solidFill>
                <a:latin typeface="汉仪大宋简" panose="02010600000101010101" charset="-122"/>
                <a:ea typeface="汉仪大宋简" panose="02010600000101010101" charset="-122"/>
                <a:sym typeface="+mn-ea"/>
              </a:rPr>
              <a:t>刘禹锡</a:t>
            </a:r>
            <a:endParaRPr lang="zh-CN" altLang="en-US" sz="2800">
              <a:solidFill>
                <a:schemeClr val="accent1"/>
              </a:solidFill>
              <a:latin typeface="汉仪大宋简" panose="02010600000101010101" charset="-122"/>
              <a:ea typeface="汉仪大宋简" panose="02010600000101010101" charset="-122"/>
              <a:sym typeface="+mn-ea"/>
            </a:endParaRPr>
          </a:p>
        </p:txBody>
      </p:sp>
      <p:sp>
        <p:nvSpPr>
          <p:cNvPr id="15" name="文本框 14"/>
          <p:cNvSpPr txBox="1"/>
          <p:nvPr>
            <p:custDataLst>
              <p:tags r:id="rId4"/>
            </p:custDataLst>
          </p:nvPr>
        </p:nvSpPr>
        <p:spPr>
          <a:xfrm>
            <a:off x="3924935" y="3818890"/>
            <a:ext cx="2022475" cy="521970"/>
          </a:xfrm>
          <a:prstGeom prst="rect">
            <a:avLst/>
          </a:prstGeom>
          <a:noFill/>
        </p:spPr>
        <p:txBody>
          <a:bodyPr wrap="square" rtlCol="0">
            <a:spAutoFit/>
          </a:bodyPr>
          <a:p>
            <a:pPr lvl="0" algn="l">
              <a:buClrTx/>
              <a:buSzTx/>
              <a:buFontTx/>
            </a:pPr>
            <a:r>
              <a:rPr lang="zh-CN" altLang="en-US" sz="2800">
                <a:solidFill>
                  <a:schemeClr val="accent1"/>
                </a:solidFill>
                <a:latin typeface="汉仪大宋简" panose="02010600000101010101" charset="-122"/>
                <a:ea typeface="汉仪大宋简" panose="02010600000101010101" charset="-122"/>
                <a:sym typeface="+mn-ea"/>
              </a:rPr>
              <a:t>以诗相答</a:t>
            </a:r>
            <a:endParaRPr lang="zh-CN" altLang="en-US" sz="2800">
              <a:solidFill>
                <a:schemeClr val="accent1"/>
              </a:solidFill>
              <a:latin typeface="汉仪大宋简" panose="02010600000101010101" charset="-122"/>
              <a:ea typeface="汉仪大宋简" panose="02010600000101010101" charset="-122"/>
              <a:sym typeface="+mn-ea"/>
            </a:endParaRPr>
          </a:p>
        </p:txBody>
      </p:sp>
      <p:sp>
        <p:nvSpPr>
          <p:cNvPr id="16" name="文本框 15"/>
          <p:cNvSpPr txBox="1"/>
          <p:nvPr>
            <p:custDataLst>
              <p:tags r:id="rId5"/>
            </p:custDataLst>
          </p:nvPr>
        </p:nvSpPr>
        <p:spPr>
          <a:xfrm>
            <a:off x="3924935" y="5009515"/>
            <a:ext cx="2022475" cy="521970"/>
          </a:xfrm>
          <a:prstGeom prst="rect">
            <a:avLst/>
          </a:prstGeom>
          <a:noFill/>
        </p:spPr>
        <p:txBody>
          <a:bodyPr wrap="square" rtlCol="0">
            <a:spAutoFit/>
          </a:bodyPr>
          <a:p>
            <a:pPr lvl="0" algn="l">
              <a:buClrTx/>
              <a:buSzTx/>
              <a:buFontTx/>
            </a:pPr>
            <a:r>
              <a:rPr lang="zh-CN" altLang="en-US" sz="2800">
                <a:solidFill>
                  <a:schemeClr val="accent1"/>
                </a:solidFill>
                <a:latin typeface="汉仪大宋简" panose="02010600000101010101" charset="-122"/>
                <a:ea typeface="汉仪大宋简" panose="02010600000101010101" charset="-122"/>
                <a:sym typeface="+mn-ea"/>
              </a:rPr>
              <a:t>因为</a:t>
            </a:r>
            <a:endParaRPr lang="zh-CN" altLang="en-US" sz="2800">
              <a:solidFill>
                <a:schemeClr val="accent1"/>
              </a:solidFill>
              <a:latin typeface="汉仪大宋简" panose="02010600000101010101" charset="-122"/>
              <a:ea typeface="汉仪大宋简" panose="02010600000101010101" charset="-122"/>
              <a:sym typeface="+mn-ea"/>
            </a:endParaRPr>
          </a:p>
        </p:txBody>
      </p:sp>
      <p:sp>
        <p:nvSpPr>
          <p:cNvPr id="17" name="文本框 16"/>
          <p:cNvSpPr txBox="1"/>
          <p:nvPr>
            <p:custDataLst>
              <p:tags r:id="rId6"/>
            </p:custDataLst>
          </p:nvPr>
        </p:nvSpPr>
        <p:spPr>
          <a:xfrm>
            <a:off x="9561195" y="3150235"/>
            <a:ext cx="1539875" cy="953135"/>
          </a:xfrm>
          <a:prstGeom prst="rect">
            <a:avLst/>
          </a:prstGeom>
          <a:noFill/>
        </p:spPr>
        <p:txBody>
          <a:bodyPr wrap="square" rtlCol="0">
            <a:spAutoFit/>
          </a:bodyPr>
          <a:p>
            <a:pPr lvl="0" algn="l">
              <a:buClrTx/>
              <a:buSzTx/>
              <a:buFontTx/>
            </a:pPr>
            <a:r>
              <a:rPr lang="zh-CN" altLang="en-US" sz="2800">
                <a:solidFill>
                  <a:schemeClr val="accent1"/>
                </a:solidFill>
                <a:latin typeface="汉仪大宋简" panose="02010600000101010101" charset="-122"/>
                <a:ea typeface="汉仪大宋简" panose="02010600000101010101" charset="-122"/>
                <a:sym typeface="+mn-ea"/>
              </a:rPr>
              <a:t>怀念已故老友</a:t>
            </a:r>
            <a:endParaRPr lang="zh-CN" altLang="en-US" sz="2800">
              <a:solidFill>
                <a:schemeClr val="accent1"/>
              </a:solidFill>
              <a:latin typeface="汉仪大宋简" panose="02010600000101010101" charset="-122"/>
              <a:ea typeface="汉仪大宋简" panose="02010600000101010101" charset="-122"/>
              <a:sym typeface="+mn-ea"/>
            </a:endParaRPr>
          </a:p>
        </p:txBody>
      </p:sp>
      <p:sp>
        <p:nvSpPr>
          <p:cNvPr id="18" name="文本框 17"/>
          <p:cNvSpPr txBox="1"/>
          <p:nvPr>
            <p:custDataLst>
              <p:tags r:id="rId7"/>
            </p:custDataLst>
          </p:nvPr>
        </p:nvSpPr>
        <p:spPr>
          <a:xfrm>
            <a:off x="6725285" y="5009515"/>
            <a:ext cx="4161790" cy="521970"/>
          </a:xfrm>
          <a:prstGeom prst="rect">
            <a:avLst/>
          </a:prstGeom>
          <a:noFill/>
        </p:spPr>
        <p:txBody>
          <a:bodyPr wrap="square" rtlCol="0">
            <a:spAutoFit/>
          </a:bodyPr>
          <a:p>
            <a:pPr lvl="0" algn="l">
              <a:buClrTx/>
              <a:buSzTx/>
              <a:buFontTx/>
            </a:pPr>
            <a:r>
              <a:rPr lang="zh-CN" altLang="en-US" sz="2800">
                <a:solidFill>
                  <a:schemeClr val="accent1"/>
                </a:solidFill>
                <a:latin typeface="汉仪大宋简" panose="02010600000101010101" charset="-122"/>
                <a:ea typeface="汉仪大宋简" panose="02010600000101010101" charset="-122"/>
                <a:sym typeface="+mn-ea"/>
              </a:rPr>
              <a:t>表达对滕子京政绩的赞赏</a:t>
            </a:r>
            <a:endParaRPr lang="zh-CN" altLang="en-US" sz="2800">
              <a:solidFill>
                <a:schemeClr val="accent1"/>
              </a:solidFill>
              <a:latin typeface="汉仪大宋简" panose="02010600000101010101" charset="-122"/>
              <a:ea typeface="汉仪大宋简" panose="0201060000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down)">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down)">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down)">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down)">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down)">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4" name="矩形 3"/>
          <p:cNvSpPr/>
          <p:nvPr/>
        </p:nvSpPr>
        <p:spPr>
          <a:xfrm>
            <a:off x="399822" y="384631"/>
            <a:ext cx="11392354" cy="608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818515" y="1528445"/>
            <a:ext cx="10554970" cy="4615815"/>
          </a:xfrm>
          <a:prstGeom prst="rect">
            <a:avLst/>
          </a:prstGeom>
          <a:noFill/>
          <a:ln w="9525">
            <a:noFill/>
          </a:ln>
        </p:spPr>
        <p:txBody>
          <a:bodyPr wrap="square">
            <a:spAutoFit/>
          </a:bodyPr>
          <a:p>
            <a:pPr indent="0">
              <a:lnSpc>
                <a:spcPct val="150000"/>
              </a:lnSpc>
            </a:pPr>
            <a:r>
              <a:rPr lang="en-US" sz="2800" b="0">
                <a:latin typeface="宋体" panose="02010600030101010101" pitchFamily="2" charset="-122"/>
                <a:ea typeface="宋体" panose="02010600030101010101" pitchFamily="2" charset="-122"/>
                <a:cs typeface="宋体" panose="02010600030101010101" pitchFamily="2" charset="-122"/>
              </a:rPr>
              <a:t>2. </a:t>
            </a:r>
            <a:r>
              <a:rPr lang="zh-CN" sz="2800" b="0">
                <a:latin typeface="宋体" panose="02010600030101010101" pitchFamily="2" charset="-122"/>
                <a:ea typeface="宋体" panose="02010600030101010101" pitchFamily="2" charset="-122"/>
                <a:cs typeface="宋体" panose="02010600030101010101" pitchFamily="2" charset="-122"/>
              </a:rPr>
              <a:t>下列对以上诗文理解最恰当的一项是（</a:t>
            </a:r>
            <a:r>
              <a:rPr lang="en-US" sz="2800" b="0">
                <a:latin typeface="宋体" panose="02010600030101010101" pitchFamily="2" charset="-122"/>
                <a:ea typeface="宋体" panose="02010600030101010101" pitchFamily="2" charset="-122"/>
                <a:cs typeface="宋体" panose="02010600030101010101" pitchFamily="2" charset="-122"/>
              </a:rPr>
              <a:t>  </a:t>
            </a:r>
            <a:r>
              <a:rPr lang="en-US" sz="2800" b="0">
                <a:latin typeface="宋体" panose="02010600030101010101" pitchFamily="2" charset="-122"/>
                <a:ea typeface="宋体" panose="02010600030101010101" pitchFamily="2" charset="-122"/>
                <a:cs typeface="宋体" panose="02010600030101010101" pitchFamily="2" charset="-122"/>
              </a:rPr>
              <a:t>   </a:t>
            </a:r>
            <a:r>
              <a:rPr lang="zh-CN" sz="2800" b="0">
                <a:latin typeface="宋体" panose="02010600030101010101" pitchFamily="2" charset="-122"/>
                <a:ea typeface="宋体" panose="02010600030101010101" pitchFamily="2" charset="-122"/>
                <a:cs typeface="宋体" panose="02010600030101010101" pitchFamily="2" charset="-122"/>
              </a:rPr>
              <a:t>）</a:t>
            </a:r>
            <a:r>
              <a:rPr lang="en-US" sz="2800" b="0">
                <a:latin typeface="宋体" panose="02010600030101010101" pitchFamily="2" charset="-122"/>
                <a:ea typeface="宋体" panose="02010600030101010101" pitchFamily="2" charset="-122"/>
                <a:cs typeface="宋体" panose="02010600030101010101" pitchFamily="2" charset="-122"/>
              </a:rPr>
              <a:t>A</a:t>
            </a:r>
            <a:r>
              <a:rPr lang="zh-CN" sz="2800" b="0">
                <a:latin typeface="宋体" panose="02010600030101010101" pitchFamily="2" charset="-122"/>
                <a:ea typeface="宋体" panose="02010600030101010101" pitchFamily="2" charset="-122"/>
                <a:cs typeface="宋体" panose="02010600030101010101" pitchFamily="2" charset="-122"/>
              </a:rPr>
              <a:t>．甲乙两诗和丙文都是作者被贬后所作。</a:t>
            </a:r>
            <a:r>
              <a:rPr lang="en-US" sz="2800" b="0">
                <a:latin typeface="宋体" panose="02010600030101010101" pitchFamily="2" charset="-122"/>
                <a:ea typeface="宋体" panose="02010600030101010101" pitchFamily="2" charset="-122"/>
                <a:cs typeface="宋体" panose="02010600030101010101" pitchFamily="2" charset="-122"/>
              </a:rPr>
              <a:t>B</a:t>
            </a:r>
            <a:r>
              <a:rPr lang="zh-CN" sz="2800" b="0">
                <a:latin typeface="宋体" panose="02010600030101010101" pitchFamily="2" charset="-122"/>
                <a:ea typeface="宋体" panose="02010600030101010101" pitchFamily="2" charset="-122"/>
                <a:cs typeface="宋体" panose="02010600030101010101" pitchFamily="2" charset="-122"/>
              </a:rPr>
              <a:t>．甲乙两诗和丙文都表现了作者乐观豁达的浪漫主义情怀。</a:t>
            </a:r>
            <a:r>
              <a:rPr lang="en-US" sz="2800" b="0">
                <a:latin typeface="宋体" panose="02010600030101010101" pitchFamily="2" charset="-122"/>
                <a:ea typeface="宋体" panose="02010600030101010101" pitchFamily="2" charset="-122"/>
                <a:cs typeface="宋体" panose="02010600030101010101" pitchFamily="2" charset="-122"/>
              </a:rPr>
              <a:t>C</a:t>
            </a:r>
            <a:r>
              <a:rPr lang="zh-CN" sz="2800" b="0">
                <a:latin typeface="宋体" panose="02010600030101010101" pitchFamily="2" charset="-122"/>
                <a:ea typeface="宋体" panose="02010600030101010101" pitchFamily="2" charset="-122"/>
                <a:cs typeface="宋体" panose="02010600030101010101" pitchFamily="2" charset="-122"/>
              </a:rPr>
              <a:t>．</a:t>
            </a:r>
            <a:r>
              <a:rPr lang="en-US" sz="2800" b="0">
                <a:latin typeface="宋体" panose="02010600030101010101" pitchFamily="2" charset="-122"/>
                <a:ea typeface="宋体" panose="02010600030101010101" pitchFamily="2" charset="-122"/>
                <a:cs typeface="宋体" panose="02010600030101010101" pitchFamily="2" charset="-122"/>
              </a:rPr>
              <a:t>“</a:t>
            </a:r>
            <a:r>
              <a:rPr lang="zh-CN" sz="2800" b="0">
                <a:latin typeface="宋体" panose="02010600030101010101" pitchFamily="2" charset="-122"/>
                <a:ea typeface="宋体" panose="02010600030101010101" pitchFamily="2" charset="-122"/>
                <a:cs typeface="宋体" panose="02010600030101010101" pitchFamily="2" charset="-122"/>
              </a:rPr>
              <a:t>行路难</a:t>
            </a:r>
            <a:r>
              <a:rPr lang="en-US" sz="2800" b="0">
                <a:latin typeface="宋体" panose="02010600030101010101" pitchFamily="2" charset="-122"/>
                <a:ea typeface="宋体" panose="02010600030101010101" pitchFamily="2" charset="-122"/>
                <a:cs typeface="宋体" panose="02010600030101010101" pitchFamily="2" charset="-122"/>
              </a:rPr>
              <a:t>”“</a:t>
            </a:r>
            <a:r>
              <a:rPr lang="zh-CN" sz="2800" b="0">
                <a:latin typeface="宋体" panose="02010600030101010101" pitchFamily="2" charset="-122"/>
                <a:ea typeface="宋体" panose="02010600030101010101" pitchFamily="2" charset="-122"/>
                <a:cs typeface="宋体" panose="02010600030101010101" pitchFamily="2" charset="-122"/>
              </a:rPr>
              <a:t>弃置身</a:t>
            </a:r>
            <a:r>
              <a:rPr lang="en-US" sz="2800" b="0">
                <a:latin typeface="宋体" panose="02010600030101010101" pitchFamily="2" charset="-122"/>
                <a:ea typeface="宋体" panose="02010600030101010101" pitchFamily="2" charset="-122"/>
                <a:cs typeface="宋体" panose="02010600030101010101" pitchFamily="2" charset="-122"/>
              </a:rPr>
              <a:t>”</a:t>
            </a:r>
            <a:r>
              <a:rPr lang="zh-CN" sz="2800" b="0">
                <a:latin typeface="宋体" panose="02010600030101010101" pitchFamily="2" charset="-122"/>
                <a:ea typeface="宋体" panose="02010600030101010101" pitchFamily="2" charset="-122"/>
                <a:cs typeface="宋体" panose="02010600030101010101" pitchFamily="2" charset="-122"/>
              </a:rPr>
              <a:t>和</a:t>
            </a:r>
            <a:r>
              <a:rPr lang="en-US" sz="2800" b="0">
                <a:latin typeface="宋体" panose="02010600030101010101" pitchFamily="2" charset="-122"/>
                <a:ea typeface="宋体" panose="02010600030101010101" pitchFamily="2" charset="-122"/>
                <a:cs typeface="宋体" panose="02010600030101010101" pitchFamily="2" charset="-122"/>
              </a:rPr>
              <a:t>“</a:t>
            </a:r>
            <a:r>
              <a:rPr lang="zh-CN" sz="2800" b="0">
                <a:latin typeface="宋体" panose="02010600030101010101" pitchFamily="2" charset="-122"/>
                <a:ea typeface="宋体" panose="02010600030101010101" pitchFamily="2" charset="-122"/>
                <a:cs typeface="宋体" panose="02010600030101010101" pitchFamily="2" charset="-122"/>
              </a:rPr>
              <a:t>处江湖之远</a:t>
            </a:r>
            <a:r>
              <a:rPr lang="en-US" sz="2800" b="0">
                <a:latin typeface="宋体" panose="02010600030101010101" pitchFamily="2" charset="-122"/>
                <a:ea typeface="宋体" panose="02010600030101010101" pitchFamily="2" charset="-122"/>
                <a:cs typeface="宋体" panose="02010600030101010101" pitchFamily="2" charset="-122"/>
              </a:rPr>
              <a:t>”</a:t>
            </a:r>
            <a:r>
              <a:rPr lang="zh-CN" sz="2800" b="0">
                <a:latin typeface="宋体" panose="02010600030101010101" pitchFamily="2" charset="-122"/>
                <a:ea typeface="宋体" panose="02010600030101010101" pitchFamily="2" charset="-122"/>
                <a:cs typeface="宋体" panose="02010600030101010101" pitchFamily="2" charset="-122"/>
              </a:rPr>
              <a:t>都表现了人生境遇的艰难。</a:t>
            </a:r>
            <a:r>
              <a:rPr lang="en-US" sz="2800" b="0">
                <a:latin typeface="宋体" panose="02010600030101010101" pitchFamily="2" charset="-122"/>
                <a:ea typeface="宋体" panose="02010600030101010101" pitchFamily="2" charset="-122"/>
                <a:cs typeface="宋体" panose="02010600030101010101" pitchFamily="2" charset="-122"/>
              </a:rPr>
              <a:t>D</a:t>
            </a:r>
            <a:r>
              <a:rPr lang="zh-CN" sz="2800" b="0">
                <a:latin typeface="宋体" panose="02010600030101010101" pitchFamily="2" charset="-122"/>
                <a:ea typeface="宋体" panose="02010600030101010101" pitchFamily="2" charset="-122"/>
                <a:cs typeface="宋体" panose="02010600030101010101" pitchFamily="2" charset="-122"/>
              </a:rPr>
              <a:t>．丙文表达了作者</a:t>
            </a:r>
            <a:r>
              <a:rPr lang="en-US" sz="2800" b="0">
                <a:latin typeface="宋体" panose="02010600030101010101" pitchFamily="2" charset="-122"/>
                <a:ea typeface="宋体" panose="02010600030101010101" pitchFamily="2" charset="-122"/>
                <a:cs typeface="宋体" panose="02010600030101010101" pitchFamily="2" charset="-122"/>
              </a:rPr>
              <a:t>“</a:t>
            </a:r>
            <a:r>
              <a:rPr lang="zh-CN" sz="2800" b="0">
                <a:latin typeface="宋体" panose="02010600030101010101" pitchFamily="2" charset="-122"/>
                <a:ea typeface="宋体" panose="02010600030101010101" pitchFamily="2" charset="-122"/>
                <a:cs typeface="宋体" panose="02010600030101010101" pitchFamily="2" charset="-122"/>
              </a:rPr>
              <a:t>以天下为己任</a:t>
            </a:r>
            <a:r>
              <a:rPr lang="en-US" sz="2800" b="0">
                <a:latin typeface="宋体" panose="02010600030101010101" pitchFamily="2" charset="-122"/>
                <a:ea typeface="宋体" panose="02010600030101010101" pitchFamily="2" charset="-122"/>
                <a:cs typeface="宋体" panose="02010600030101010101" pitchFamily="2" charset="-122"/>
              </a:rPr>
              <a:t>”</a:t>
            </a:r>
            <a:r>
              <a:rPr lang="zh-CN" sz="2800" b="0">
                <a:latin typeface="宋体" panose="02010600030101010101" pitchFamily="2" charset="-122"/>
                <a:ea typeface="宋体" panose="02010600030101010101" pitchFamily="2" charset="-122"/>
                <a:cs typeface="宋体" panose="02010600030101010101" pitchFamily="2" charset="-122"/>
              </a:rPr>
              <a:t>的思想情怀，境界高于甲乙两诗。</a:t>
            </a:r>
            <a:endParaRPr lang="zh-CN" altLang="en-US" sz="2800" b="0">
              <a:latin typeface="宋体" panose="02010600030101010101" pitchFamily="2" charset="-122"/>
              <a:ea typeface="宋体" panose="02010600030101010101" pitchFamily="2" charset="-122"/>
              <a:cs typeface="宋体" panose="02010600030101010101" pitchFamily="2" charset="-122"/>
            </a:endParaRPr>
          </a:p>
        </p:txBody>
      </p:sp>
      <p:cxnSp>
        <p:nvCxnSpPr>
          <p:cNvPr id="2" name="直接连接符 1"/>
          <p:cNvCxnSpPr/>
          <p:nvPr/>
        </p:nvCxnSpPr>
        <p:spPr>
          <a:xfrm flipV="1">
            <a:off x="4564380" y="2823845"/>
            <a:ext cx="2721610" cy="11430"/>
          </a:xfrm>
          <a:prstGeom prst="line">
            <a:avLst/>
          </a:prstGeom>
          <a:ln w="31750">
            <a:gradFill>
              <a:gsLst>
                <a:gs pos="0">
                  <a:schemeClr val="accent1">
                    <a:hueOff val="-4200000"/>
                  </a:schemeClr>
                </a:gs>
                <a:gs pos="100000">
                  <a:schemeClr val="accent1"/>
                </a:gs>
              </a:gsLst>
            </a:gradFill>
          </a:ln>
        </p:spPr>
        <p:style>
          <a:lnRef idx="0">
            <a:srgbClr val="FFFFFF"/>
          </a:lnRef>
          <a:fillRef idx="0">
            <a:srgbClr val="FFFFFF"/>
          </a:fillRef>
          <a:effectRef idx="0">
            <a:srgbClr val="FFFFFF"/>
          </a:effectRef>
          <a:fontRef idx="minor">
            <a:schemeClr val="tx1"/>
          </a:fontRef>
        </p:style>
      </p:cxnSp>
      <p:cxnSp>
        <p:nvCxnSpPr>
          <p:cNvPr id="5" name="直接连接符 4"/>
          <p:cNvCxnSpPr/>
          <p:nvPr>
            <p:custDataLst>
              <p:tags r:id="rId2"/>
            </p:custDataLst>
          </p:nvPr>
        </p:nvCxnSpPr>
        <p:spPr>
          <a:xfrm flipV="1">
            <a:off x="7797165" y="3482340"/>
            <a:ext cx="1518920" cy="6350"/>
          </a:xfrm>
          <a:prstGeom prst="line">
            <a:avLst/>
          </a:prstGeom>
          <a:ln w="31750">
            <a:gradFill>
              <a:gsLst>
                <a:gs pos="0">
                  <a:schemeClr val="accent1">
                    <a:hueOff val="-4200000"/>
                  </a:schemeClr>
                </a:gs>
                <a:gs pos="100000">
                  <a:schemeClr val="accent1"/>
                </a:gs>
              </a:gsLst>
            </a:gradFill>
          </a:ln>
        </p:spPr>
        <p:style>
          <a:lnRef idx="0">
            <a:srgbClr val="FFFFFF"/>
          </a:lnRef>
          <a:fillRef idx="0">
            <a:srgbClr val="FFFFFF"/>
          </a:fillRef>
          <a:effectRef idx="0">
            <a:srgbClr val="FFFFFF"/>
          </a:effectRef>
          <a:fontRef idx="minor">
            <a:schemeClr val="tx1"/>
          </a:fontRef>
        </p:style>
      </p:cxnSp>
      <p:cxnSp>
        <p:nvCxnSpPr>
          <p:cNvPr id="6" name="直接连接符 5"/>
          <p:cNvCxnSpPr/>
          <p:nvPr>
            <p:custDataLst>
              <p:tags r:id="rId3"/>
            </p:custDataLst>
          </p:nvPr>
        </p:nvCxnSpPr>
        <p:spPr>
          <a:xfrm flipV="1">
            <a:off x="6069330" y="3488690"/>
            <a:ext cx="1518920" cy="6350"/>
          </a:xfrm>
          <a:prstGeom prst="line">
            <a:avLst/>
          </a:prstGeom>
          <a:ln w="31750">
            <a:gradFill>
              <a:gsLst>
                <a:gs pos="0">
                  <a:schemeClr val="accent1">
                    <a:hueOff val="-4200000"/>
                  </a:schemeClr>
                </a:gs>
                <a:gs pos="100000">
                  <a:schemeClr val="accent1"/>
                </a:gs>
              </a:gsLst>
            </a:gradFill>
          </a:ln>
        </p:spPr>
        <p:style>
          <a:lnRef idx="0">
            <a:srgbClr val="FFFFFF"/>
          </a:lnRef>
          <a:fillRef idx="0">
            <a:srgbClr val="FFFFFF"/>
          </a:fillRef>
          <a:effectRef idx="0">
            <a:srgbClr val="FFFFFF"/>
          </a:effectRef>
          <a:fontRef idx="minor">
            <a:schemeClr val="tx1"/>
          </a:fontRef>
        </p:style>
      </p:cxnSp>
      <p:sp>
        <p:nvSpPr>
          <p:cNvPr id="9" name="文本框 8"/>
          <p:cNvSpPr txBox="1"/>
          <p:nvPr/>
        </p:nvSpPr>
        <p:spPr>
          <a:xfrm>
            <a:off x="615315" y="909320"/>
            <a:ext cx="11176635" cy="953135"/>
          </a:xfrm>
          <a:prstGeom prst="rect">
            <a:avLst/>
          </a:prstGeom>
          <a:noFill/>
        </p:spPr>
        <p:txBody>
          <a:bodyPr wrap="square" rtlCol="0" anchor="t">
            <a:spAutoFit/>
          </a:bodyPr>
          <a:p>
            <a:r>
              <a:rPr lang="zh-CN" sz="2800" b="1">
                <a:ea typeface="宋体" panose="02010600030101010101" pitchFamily="2" charset="-122"/>
                <a:sym typeface="+mn-ea"/>
              </a:rPr>
              <a:t>【甲】行路难</a:t>
            </a:r>
            <a:r>
              <a:rPr lang="en-US" sz="2800" b="1">
                <a:latin typeface="宋体" panose="02010600030101010101" pitchFamily="2" charset="-122"/>
                <a:ea typeface="宋体" panose="02010600030101010101" pitchFamily="2" charset="-122"/>
                <a:sym typeface="+mn-ea"/>
              </a:rPr>
              <a:t>  </a:t>
            </a:r>
            <a:r>
              <a:rPr lang="zh-CN" sz="2800" b="1">
                <a:ea typeface="宋体" panose="02010600030101010101" pitchFamily="2" charset="-122"/>
                <a:sym typeface="+mn-ea"/>
              </a:rPr>
              <a:t>【乙】</a:t>
            </a:r>
            <a:r>
              <a:rPr lang="zh-CN" altLang="en-US" sz="2800" b="1">
                <a:ea typeface="宋体" panose="02010600030101010101" pitchFamily="2" charset="-122"/>
                <a:sym typeface="+mn-ea"/>
              </a:rPr>
              <a:t>酬乐天扬州初逢席上见赠</a:t>
            </a:r>
            <a:r>
              <a:rPr lang="en-US" sz="2800" b="1">
                <a:latin typeface="宋体" panose="02010600030101010101" pitchFamily="2" charset="-122"/>
                <a:ea typeface="宋体" panose="02010600030101010101" pitchFamily="2" charset="-122"/>
                <a:sym typeface="+mn-ea"/>
              </a:rPr>
              <a:t>  </a:t>
            </a:r>
            <a:r>
              <a:rPr lang="zh-CN" sz="2800" b="1">
                <a:ea typeface="宋体" panose="02010600030101010101" pitchFamily="2" charset="-122"/>
                <a:sym typeface="+mn-ea"/>
              </a:rPr>
              <a:t>【丙】岳阳楼记</a:t>
            </a:r>
            <a:endParaRPr lang="zh-CN" sz="2800">
              <a:ea typeface="宋体" panose="02010600030101010101" pitchFamily="2" charset="-122"/>
              <a:sym typeface="+mn-ea"/>
            </a:endParaRPr>
          </a:p>
          <a:p>
            <a:endParaRPr lang="zh-CN" altLang="en-US" sz="2800">
              <a:ea typeface="宋体" panose="02010600030101010101" pitchFamily="2" charset="-122"/>
              <a:sym typeface="+mn-ea"/>
            </a:endParaRPr>
          </a:p>
        </p:txBody>
      </p:sp>
      <p:sp>
        <p:nvSpPr>
          <p:cNvPr id="10" name="文本框 9"/>
          <p:cNvSpPr txBox="1"/>
          <p:nvPr/>
        </p:nvSpPr>
        <p:spPr>
          <a:xfrm>
            <a:off x="7285990" y="1740535"/>
            <a:ext cx="1936115" cy="335915"/>
          </a:xfrm>
          <a:prstGeom prst="rect">
            <a:avLst/>
          </a:prstGeom>
          <a:noFill/>
        </p:spPr>
        <p:txBody>
          <a:bodyPr wrap="square" rtlCol="0">
            <a:noAutofit/>
          </a:bodyPr>
          <a:p>
            <a:pPr indent="457200"/>
            <a:r>
              <a:rPr lang="en-US" altLang="zh-CN" sz="2000" b="1">
                <a:solidFill>
                  <a:srgbClr val="FF0000"/>
                </a:solidFill>
              </a:rPr>
              <a:t>C/D</a:t>
            </a:r>
            <a:endParaRPr lang="en-US" altLang="zh-CN" sz="20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6" name="矩形 5"/>
          <p:cNvSpPr/>
          <p:nvPr/>
        </p:nvSpPr>
        <p:spPr>
          <a:xfrm>
            <a:off x="0" y="217805"/>
            <a:ext cx="11856720" cy="6421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000">
                <a:solidFill>
                  <a:schemeClr val="tx1"/>
                </a:solidFill>
              </a:rPr>
              <a:t>（三）阅读下面的文言文，完成下面小题。</a:t>
            </a:r>
            <a:endParaRPr lang="zh-CN" altLang="en-US" sz="2000">
              <a:solidFill>
                <a:schemeClr val="tx1"/>
              </a:solidFill>
            </a:endParaRPr>
          </a:p>
          <a:p>
            <a:pPr algn="l"/>
            <a:endParaRPr lang="zh-CN" altLang="en-US">
              <a:solidFill>
                <a:schemeClr val="tx1"/>
              </a:solidFill>
            </a:endParaRPr>
          </a:p>
          <a:p>
            <a:pPr algn="ctr"/>
            <a:r>
              <a:rPr lang="zh-CN" altLang="en-US" sz="2800">
                <a:solidFill>
                  <a:schemeClr val="tx1"/>
                </a:solidFill>
              </a:rPr>
              <a:t>【</a:t>
            </a:r>
            <a:r>
              <a:rPr lang="zh-CN" altLang="en-US" sz="2800">
                <a:solidFill>
                  <a:schemeClr val="tx1"/>
                </a:solidFill>
                <a:latin typeface="楷体" panose="02010609060101010101" charset="-122"/>
                <a:ea typeface="楷体" panose="02010609060101010101" charset="-122"/>
              </a:rPr>
              <a:t>甲】醉翁亭记（节选）</a:t>
            </a:r>
            <a:endParaRPr lang="zh-CN" altLang="en-US" sz="2800">
              <a:solidFill>
                <a:schemeClr val="tx1"/>
              </a:solidFill>
              <a:latin typeface="楷体" panose="02010609060101010101" charset="-122"/>
              <a:ea typeface="楷体" panose="02010609060101010101" charset="-122"/>
            </a:endParaRPr>
          </a:p>
          <a:p>
            <a:pPr algn="just"/>
            <a:r>
              <a:rPr lang="en-US" altLang="zh-CN" sz="2800">
                <a:solidFill>
                  <a:schemeClr val="tx1"/>
                </a:solidFill>
                <a:latin typeface="楷体" panose="02010609060101010101" charset="-122"/>
                <a:ea typeface="楷体" panose="02010609060101010101" charset="-122"/>
              </a:rPr>
              <a:t>        </a:t>
            </a:r>
            <a:r>
              <a:rPr lang="zh-CN" altLang="en-US" sz="2800">
                <a:solidFill>
                  <a:schemeClr val="tx1"/>
                </a:solidFill>
                <a:latin typeface="楷体" panose="02010609060101010101" charset="-122"/>
                <a:ea typeface="楷体" panose="02010609060101010101" charset="-122"/>
              </a:rPr>
              <a:t>环滁皆山也。其西南诸峰，林壑尤美，望之蔚然而深秀者，琅琊也。山行六七里，渐闻水声潺潺，而泻出于两峰之间者，醉泉也。峰回路转，有亭翼然临于泉上者，醉翁亭也。作亭者谁？山之僧智仙也。名之者谁？太守自谓也。太守与客来饮于此，饮少辄醉，而年又最高，故自号曰醉翁也。醉翁之意不在酒，在乎山水之间也。山水之乐，得之心而寓之酒也。</a:t>
            </a:r>
            <a:endParaRPr lang="zh-CN" altLang="en-US" sz="2800">
              <a:solidFill>
                <a:schemeClr val="tx1"/>
              </a:solidFill>
              <a:latin typeface="楷体" panose="02010609060101010101" charset="-122"/>
              <a:ea typeface="楷体" panose="02010609060101010101" charset="-122"/>
            </a:endParaRPr>
          </a:p>
          <a:p>
            <a:pPr algn="just"/>
            <a:r>
              <a:rPr lang="zh-CN" altLang="en-US" sz="2800">
                <a:latin typeface="楷体" panose="02010609060101010101" charset="-122"/>
                <a:ea typeface="楷体" panose="02010609060101010101" charset="-122"/>
              </a:rPr>
              <a:t>大的样子。</a:t>
            </a:r>
            <a:endParaRPr lang="zh-CN" altLang="en-US" sz="2800">
              <a:latin typeface="楷体" panose="02010609060101010101" charset="-122"/>
              <a:ea typeface="楷体" panose="02010609060101010101"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6" name="矩形 5"/>
          <p:cNvSpPr/>
          <p:nvPr/>
        </p:nvSpPr>
        <p:spPr>
          <a:xfrm>
            <a:off x="0" y="217805"/>
            <a:ext cx="11856720" cy="6421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800">
                <a:solidFill>
                  <a:schemeClr val="tx1"/>
                </a:solidFill>
                <a:latin typeface="楷体" panose="02010609060101010101" charset="-122"/>
                <a:ea typeface="楷体" panose="02010609060101010101" charset="-122"/>
                <a:cs typeface="楷体" panose="02010609060101010101" charset="-122"/>
              </a:rPr>
              <a:t>【乙】丰乐亭记（节选）</a:t>
            </a:r>
            <a:endParaRPr lang="zh-CN" altLang="en-US" sz="2800">
              <a:solidFill>
                <a:schemeClr val="tx1"/>
              </a:solidFill>
              <a:latin typeface="楷体" panose="02010609060101010101" charset="-122"/>
              <a:ea typeface="楷体" panose="02010609060101010101" charset="-122"/>
              <a:cs typeface="楷体" panose="02010609060101010101" charset="-122"/>
            </a:endParaRPr>
          </a:p>
          <a:p>
            <a:pPr algn="ctr">
              <a:lnSpc>
                <a:spcPct val="150000"/>
              </a:lnSpc>
            </a:pPr>
            <a:endParaRPr lang="zh-CN" altLang="en-US" sz="2800">
              <a:solidFill>
                <a:schemeClr val="tx1"/>
              </a:solidFill>
              <a:latin typeface="楷体" panose="02010609060101010101" charset="-122"/>
              <a:ea typeface="楷体" panose="02010609060101010101" charset="-122"/>
              <a:cs typeface="楷体" panose="02010609060101010101" charset="-122"/>
            </a:endParaRPr>
          </a:p>
          <a:p>
            <a:pPr algn="just">
              <a:lnSpc>
                <a:spcPct val="150000"/>
              </a:lnSpc>
            </a:pPr>
            <a:r>
              <a:rPr lang="en-US" altLang="zh-CN" sz="2800">
                <a:solidFill>
                  <a:schemeClr val="tx1"/>
                </a:solidFill>
                <a:latin typeface="楷体" panose="02010609060101010101" charset="-122"/>
                <a:ea typeface="楷体" panose="02010609060101010101" charset="-122"/>
                <a:cs typeface="楷体" panose="02010609060101010101" charset="-122"/>
              </a:rPr>
              <a:t>     </a:t>
            </a:r>
            <a:r>
              <a:rPr lang="zh-CN" altLang="en-US" sz="2800">
                <a:solidFill>
                  <a:schemeClr val="tx1"/>
                </a:solidFill>
                <a:latin typeface="楷体" panose="02010609060101010101" charset="-122"/>
                <a:ea typeface="楷体" panose="02010609060101010101" charset="-122"/>
                <a:cs typeface="楷体" panose="02010609060101010101" charset="-122"/>
              </a:rPr>
              <a:t>修</a:t>
            </a:r>
            <a:r>
              <a:rPr lang="zh-CN" altLang="en-US" sz="2800" b="1">
                <a:solidFill>
                  <a:schemeClr val="tx1"/>
                </a:solidFill>
                <a:latin typeface="楷体" panose="02010609060101010101" charset="-122"/>
                <a:ea typeface="楷体" panose="02010609060101010101" charset="-122"/>
                <a:cs typeface="楷体" panose="02010609060101010101" charset="-122"/>
              </a:rPr>
              <a:t>既</a:t>
            </a:r>
            <a:r>
              <a:rPr lang="zh-CN" altLang="en-US" sz="2800">
                <a:solidFill>
                  <a:schemeClr val="tx1"/>
                </a:solidFill>
                <a:latin typeface="楷体" panose="02010609060101010101" charset="-122"/>
                <a:ea typeface="楷体" panose="02010609060101010101" charset="-122"/>
                <a:cs typeface="楷体" panose="02010609060101010101" charset="-122"/>
              </a:rPr>
              <a:t>治滁之</a:t>
            </a:r>
            <a:r>
              <a:rPr lang="zh-CN" altLang="en-US" sz="2800" b="1">
                <a:solidFill>
                  <a:schemeClr val="tx1"/>
                </a:solidFill>
                <a:latin typeface="楷体" panose="02010609060101010101" charset="-122"/>
                <a:ea typeface="楷体" panose="02010609060101010101" charset="-122"/>
                <a:cs typeface="楷体" panose="02010609060101010101" charset="-122"/>
              </a:rPr>
              <a:t>明年</a:t>
            </a:r>
            <a:r>
              <a:rPr lang="zh-CN" altLang="en-US" sz="2800">
                <a:solidFill>
                  <a:schemeClr val="tx1"/>
                </a:solidFill>
                <a:latin typeface="楷体" panose="02010609060101010101" charset="-122"/>
                <a:ea typeface="楷体" panose="02010609060101010101" charset="-122"/>
                <a:cs typeface="楷体" panose="02010609060101010101" charset="-122"/>
              </a:rPr>
              <a:t>，夏，</a:t>
            </a:r>
            <a:r>
              <a:rPr lang="zh-CN" altLang="en-US" sz="2800" b="1">
                <a:solidFill>
                  <a:schemeClr val="tx1"/>
                </a:solidFill>
                <a:latin typeface="楷体" panose="02010609060101010101" charset="-122"/>
                <a:ea typeface="楷体" panose="02010609060101010101" charset="-122"/>
                <a:cs typeface="楷体" panose="02010609060101010101" charset="-122"/>
              </a:rPr>
              <a:t>始</a:t>
            </a:r>
            <a:r>
              <a:rPr lang="zh-CN" altLang="en-US" sz="2800">
                <a:solidFill>
                  <a:schemeClr val="tx1"/>
                </a:solidFill>
                <a:latin typeface="楷体" panose="02010609060101010101" charset="-122"/>
                <a:ea typeface="楷体" panose="02010609060101010101" charset="-122"/>
                <a:cs typeface="楷体" panose="02010609060101010101" charset="-122"/>
              </a:rPr>
              <a:t>饮滁水而甘。问</a:t>
            </a:r>
            <a:r>
              <a:rPr lang="zh-CN" altLang="en-US" sz="2800" b="1">
                <a:solidFill>
                  <a:schemeClr val="tx1"/>
                </a:solidFill>
                <a:latin typeface="楷体" panose="02010609060101010101" charset="-122"/>
                <a:ea typeface="楷体" panose="02010609060101010101" charset="-122"/>
                <a:cs typeface="楷体" panose="02010609060101010101" charset="-122"/>
              </a:rPr>
              <a:t>诸</a:t>
            </a:r>
            <a:r>
              <a:rPr lang="zh-CN" altLang="en-US" sz="2800">
                <a:solidFill>
                  <a:schemeClr val="tx1"/>
                </a:solidFill>
                <a:latin typeface="楷体" panose="02010609060101010101" charset="-122"/>
                <a:ea typeface="楷体" panose="02010609060101010101" charset="-122"/>
                <a:cs typeface="楷体" panose="02010609060101010101" charset="-122"/>
              </a:rPr>
              <a:t>滁人，得于州南百步之近。其上则丰山，耸然而</a:t>
            </a:r>
            <a:r>
              <a:rPr lang="zh-CN" altLang="en-US" sz="2800" b="1">
                <a:solidFill>
                  <a:schemeClr val="tx1"/>
                </a:solidFill>
                <a:latin typeface="楷体" panose="02010609060101010101" charset="-122"/>
                <a:ea typeface="楷体" panose="02010609060101010101" charset="-122"/>
                <a:cs typeface="楷体" panose="02010609060101010101" charset="-122"/>
              </a:rPr>
              <a:t>特</a:t>
            </a:r>
            <a:r>
              <a:rPr lang="zh-CN" altLang="en-US" sz="2800">
                <a:solidFill>
                  <a:schemeClr val="tx1"/>
                </a:solidFill>
                <a:latin typeface="楷体" panose="02010609060101010101" charset="-122"/>
                <a:ea typeface="楷体" panose="02010609060101010101" charset="-122"/>
                <a:cs typeface="楷体" panose="02010609060101010101" charset="-122"/>
              </a:rPr>
              <a:t>立；下则幽谷，窈然</a:t>
            </a:r>
            <a:r>
              <a:rPr lang="en-US" altLang="en-US" sz="2800" baseline="30000">
                <a:solidFill>
                  <a:schemeClr val="tx1"/>
                </a:solidFill>
                <a:latin typeface="楷体" panose="02010609060101010101" charset="-122"/>
                <a:ea typeface="楷体" panose="02010609060101010101" charset="-122"/>
                <a:cs typeface="楷体" panose="02010609060101010101" charset="-122"/>
              </a:rPr>
              <a:t>①</a:t>
            </a:r>
            <a:r>
              <a:rPr lang="zh-CN" altLang="en-US" sz="2800">
                <a:solidFill>
                  <a:schemeClr val="tx1"/>
                </a:solidFill>
                <a:latin typeface="楷体" panose="02010609060101010101" charset="-122"/>
                <a:ea typeface="楷体" panose="02010609060101010101" charset="-122"/>
                <a:cs typeface="楷体" panose="02010609060101010101" charset="-122"/>
              </a:rPr>
              <a:t>而深藏；中有清泉，滃然</a:t>
            </a:r>
            <a:r>
              <a:rPr lang="en-US" altLang="en-US" sz="2800" baseline="30000">
                <a:solidFill>
                  <a:schemeClr val="tx1"/>
                </a:solidFill>
                <a:latin typeface="楷体" panose="02010609060101010101" charset="-122"/>
                <a:ea typeface="楷体" panose="02010609060101010101" charset="-122"/>
                <a:cs typeface="楷体" panose="02010609060101010101" charset="-122"/>
              </a:rPr>
              <a:t>②</a:t>
            </a:r>
            <a:r>
              <a:rPr lang="zh-CN" altLang="en-US" sz="2800">
                <a:solidFill>
                  <a:schemeClr val="tx1"/>
                </a:solidFill>
                <a:latin typeface="楷体" panose="02010609060101010101" charset="-122"/>
                <a:ea typeface="楷体" panose="02010609060101010101" charset="-122"/>
                <a:cs typeface="楷体" panose="02010609060101010101" charset="-122"/>
              </a:rPr>
              <a:t>而仰出。俯仰左右，</a:t>
            </a:r>
            <a:r>
              <a:rPr lang="zh-CN" altLang="en-US" sz="2800" b="1">
                <a:solidFill>
                  <a:schemeClr val="tx1"/>
                </a:solidFill>
                <a:latin typeface="楷体" panose="02010609060101010101" charset="-122"/>
                <a:ea typeface="楷体" panose="02010609060101010101" charset="-122"/>
                <a:cs typeface="楷体" panose="02010609060101010101" charset="-122"/>
              </a:rPr>
              <a:t>顾</a:t>
            </a:r>
            <a:r>
              <a:rPr lang="zh-CN" altLang="en-US" sz="2800">
                <a:solidFill>
                  <a:schemeClr val="tx1"/>
                </a:solidFill>
                <a:latin typeface="楷体" panose="02010609060101010101" charset="-122"/>
                <a:ea typeface="楷体" panose="02010609060101010101" charset="-122"/>
                <a:cs typeface="楷体" panose="02010609060101010101" charset="-122"/>
              </a:rPr>
              <a:t>而乐之。于是疏泉凿石，辟地以</a:t>
            </a:r>
            <a:r>
              <a:rPr lang="zh-CN" altLang="en-US" sz="2800" b="1">
                <a:solidFill>
                  <a:schemeClr val="tx1"/>
                </a:solidFill>
                <a:latin typeface="楷体" panose="02010609060101010101" charset="-122"/>
                <a:ea typeface="楷体" panose="02010609060101010101" charset="-122"/>
                <a:cs typeface="楷体" panose="02010609060101010101" charset="-122"/>
              </a:rPr>
              <a:t>为</a:t>
            </a:r>
            <a:r>
              <a:rPr lang="zh-CN" altLang="en-US" sz="2800">
                <a:solidFill>
                  <a:schemeClr val="tx1"/>
                </a:solidFill>
                <a:latin typeface="楷体" panose="02010609060101010101" charset="-122"/>
                <a:ea typeface="楷体" panose="02010609060101010101" charset="-122"/>
                <a:cs typeface="楷体" panose="02010609060101010101" charset="-122"/>
              </a:rPr>
              <a:t>亭，而与滁人往游其间。</a:t>
            </a:r>
            <a:r>
              <a:rPr lang="en-US" altLang="zh-CN" sz="2800">
                <a:solidFill>
                  <a:schemeClr val="tx1"/>
                </a:solidFill>
                <a:latin typeface="楷体" panose="02010609060101010101" charset="-122"/>
                <a:ea typeface="楷体" panose="02010609060101010101" charset="-122"/>
                <a:cs typeface="楷体" panose="02010609060101010101" charset="-122"/>
              </a:rPr>
              <a:t>……</a:t>
            </a:r>
            <a:endParaRPr lang="en-US" altLang="zh-CN" sz="2800">
              <a:solidFill>
                <a:schemeClr val="tx1"/>
              </a:solidFill>
              <a:latin typeface="楷体" panose="02010609060101010101" charset="-122"/>
              <a:ea typeface="楷体" panose="02010609060101010101" charset="-122"/>
              <a:cs typeface="楷体" panose="02010609060101010101" charset="-122"/>
            </a:endParaRPr>
          </a:p>
          <a:p>
            <a:pPr algn="just">
              <a:lnSpc>
                <a:spcPct val="150000"/>
              </a:lnSpc>
            </a:pPr>
            <a:r>
              <a:rPr lang="zh-CN" altLang="en-US"/>
              <a:t>子。</a:t>
            </a:r>
            <a:endParaRPr lang="zh-CN" altLang="en-US"/>
          </a:p>
        </p:txBody>
      </p:sp>
      <p:sp>
        <p:nvSpPr>
          <p:cNvPr id="2" name="文本框 1"/>
          <p:cNvSpPr txBox="1"/>
          <p:nvPr/>
        </p:nvSpPr>
        <p:spPr>
          <a:xfrm>
            <a:off x="816610" y="2381885"/>
            <a:ext cx="809625" cy="335915"/>
          </a:xfrm>
          <a:prstGeom prst="rect">
            <a:avLst/>
          </a:prstGeom>
          <a:noFill/>
        </p:spPr>
        <p:txBody>
          <a:bodyPr wrap="square" rtlCol="0">
            <a:noAutofit/>
          </a:bodyPr>
          <a:p>
            <a:r>
              <a:rPr lang="zh-CN" altLang="en-US" sz="2000" b="1">
                <a:solidFill>
                  <a:srgbClr val="FF0000"/>
                </a:solidFill>
              </a:rPr>
              <a:t>已经</a:t>
            </a:r>
            <a:endParaRPr lang="zh-CN" altLang="en-US" sz="2000" b="1">
              <a:solidFill>
                <a:srgbClr val="FF0000"/>
              </a:solidFill>
            </a:endParaRPr>
          </a:p>
        </p:txBody>
      </p:sp>
      <p:sp>
        <p:nvSpPr>
          <p:cNvPr id="3" name="文本框 2"/>
          <p:cNvSpPr txBox="1"/>
          <p:nvPr/>
        </p:nvSpPr>
        <p:spPr>
          <a:xfrm>
            <a:off x="6944360" y="2381885"/>
            <a:ext cx="1222375" cy="335915"/>
          </a:xfrm>
          <a:prstGeom prst="rect">
            <a:avLst/>
          </a:prstGeom>
          <a:noFill/>
        </p:spPr>
        <p:txBody>
          <a:bodyPr wrap="square" rtlCol="0">
            <a:noAutofit/>
          </a:bodyPr>
          <a:p>
            <a:r>
              <a:rPr lang="zh-CN" altLang="en-US" sz="2000" b="1">
                <a:solidFill>
                  <a:srgbClr val="FF0000"/>
                </a:solidFill>
              </a:rPr>
              <a:t>之</a:t>
            </a:r>
            <a:r>
              <a:rPr lang="zh-CN" altLang="en-US" sz="2000" b="1">
                <a:solidFill>
                  <a:srgbClr val="FF0000"/>
                </a:solidFill>
              </a:rPr>
              <a:t>于</a:t>
            </a:r>
            <a:endParaRPr lang="zh-CN" altLang="en-US" sz="2000" b="1">
              <a:solidFill>
                <a:srgbClr val="FF0000"/>
              </a:solidFill>
            </a:endParaRPr>
          </a:p>
        </p:txBody>
      </p:sp>
      <p:sp>
        <p:nvSpPr>
          <p:cNvPr id="4" name="文本框 3"/>
          <p:cNvSpPr txBox="1"/>
          <p:nvPr/>
        </p:nvSpPr>
        <p:spPr>
          <a:xfrm>
            <a:off x="9135110" y="2381885"/>
            <a:ext cx="1222375" cy="335915"/>
          </a:xfrm>
          <a:prstGeom prst="rect">
            <a:avLst/>
          </a:prstGeom>
          <a:noFill/>
        </p:spPr>
        <p:txBody>
          <a:bodyPr wrap="square" rtlCol="0">
            <a:noAutofit/>
          </a:bodyPr>
          <a:p>
            <a:endParaRPr lang="zh-CN" altLang="en-US" sz="2000" b="1">
              <a:solidFill>
                <a:srgbClr val="FF0000"/>
              </a:solidFill>
            </a:endParaRPr>
          </a:p>
        </p:txBody>
      </p:sp>
      <p:sp>
        <p:nvSpPr>
          <p:cNvPr id="8" name="文本框 7"/>
          <p:cNvSpPr txBox="1"/>
          <p:nvPr/>
        </p:nvSpPr>
        <p:spPr>
          <a:xfrm>
            <a:off x="3230245" y="4461510"/>
            <a:ext cx="1539875" cy="335915"/>
          </a:xfrm>
          <a:prstGeom prst="rect">
            <a:avLst/>
          </a:prstGeom>
          <a:noFill/>
        </p:spPr>
        <p:txBody>
          <a:bodyPr wrap="square" rtlCol="0">
            <a:noAutofit/>
          </a:bodyPr>
          <a:p>
            <a:r>
              <a:rPr lang="zh-CN" altLang="en-US" sz="2000" b="1">
                <a:solidFill>
                  <a:srgbClr val="FF0000"/>
                </a:solidFill>
              </a:rPr>
              <a:t>看，</a:t>
            </a:r>
            <a:r>
              <a:rPr lang="zh-CN" altLang="en-US" sz="2000" b="1">
                <a:solidFill>
                  <a:srgbClr val="FF0000"/>
                </a:solidFill>
              </a:rPr>
              <a:t>环视</a:t>
            </a:r>
            <a:endParaRPr lang="zh-CN" altLang="en-US" sz="2000" b="1">
              <a:solidFill>
                <a:srgbClr val="FF0000"/>
              </a:solidFill>
            </a:endParaRPr>
          </a:p>
        </p:txBody>
      </p:sp>
      <p:sp>
        <p:nvSpPr>
          <p:cNvPr id="9" name="文本框 8"/>
          <p:cNvSpPr txBox="1"/>
          <p:nvPr/>
        </p:nvSpPr>
        <p:spPr>
          <a:xfrm>
            <a:off x="8388985" y="4461510"/>
            <a:ext cx="1222375" cy="335915"/>
          </a:xfrm>
          <a:prstGeom prst="rect">
            <a:avLst/>
          </a:prstGeom>
          <a:noFill/>
        </p:spPr>
        <p:txBody>
          <a:bodyPr wrap="square" rtlCol="0">
            <a:noAutofit/>
          </a:bodyPr>
          <a:p>
            <a:r>
              <a:rPr lang="zh-CN" altLang="en-US" sz="2000" b="1">
                <a:solidFill>
                  <a:srgbClr val="FF0000"/>
                </a:solidFill>
              </a:rPr>
              <a:t>作为</a:t>
            </a:r>
            <a:endParaRPr lang="zh-CN" altLang="en-US" sz="2000" b="1">
              <a:solidFill>
                <a:srgbClr val="FF0000"/>
              </a:solidFill>
            </a:endParaRPr>
          </a:p>
        </p:txBody>
      </p:sp>
      <p:sp>
        <p:nvSpPr>
          <p:cNvPr id="10" name="文本框 9"/>
          <p:cNvSpPr txBox="1"/>
          <p:nvPr/>
        </p:nvSpPr>
        <p:spPr>
          <a:xfrm>
            <a:off x="9246870" y="2382520"/>
            <a:ext cx="1222375" cy="335280"/>
          </a:xfrm>
          <a:prstGeom prst="rect">
            <a:avLst/>
          </a:prstGeom>
          <a:noFill/>
        </p:spPr>
        <p:txBody>
          <a:bodyPr wrap="square" rtlCol="0">
            <a:noAutofit/>
          </a:bodyPr>
          <a:p>
            <a:r>
              <a:rPr lang="zh-CN" altLang="en-US" sz="2000" b="1">
                <a:solidFill>
                  <a:schemeClr val="accent1"/>
                </a:solidFill>
              </a:rPr>
              <a:t>状语后置</a:t>
            </a:r>
            <a:endParaRPr lang="zh-CN" altLang="en-US" sz="2000" b="1">
              <a:solidFill>
                <a:schemeClr val="accent1"/>
              </a:solidFill>
            </a:endParaRPr>
          </a:p>
        </p:txBody>
      </p:sp>
      <p:sp>
        <p:nvSpPr>
          <p:cNvPr id="11" name="文本框 10"/>
          <p:cNvSpPr txBox="1"/>
          <p:nvPr/>
        </p:nvSpPr>
        <p:spPr>
          <a:xfrm>
            <a:off x="5198110" y="4462145"/>
            <a:ext cx="1222375" cy="335280"/>
          </a:xfrm>
          <a:prstGeom prst="rect">
            <a:avLst/>
          </a:prstGeom>
          <a:noFill/>
        </p:spPr>
        <p:txBody>
          <a:bodyPr wrap="square" rtlCol="0">
            <a:noAutofit/>
          </a:bodyPr>
          <a:p>
            <a:r>
              <a:rPr lang="zh-CN" altLang="en-US" sz="2000" b="1">
                <a:solidFill>
                  <a:schemeClr val="accent1"/>
                </a:solidFill>
              </a:rPr>
              <a:t>省略</a:t>
            </a:r>
            <a:endParaRPr lang="zh-CN" altLang="en-US" sz="2000" b="1">
              <a:solidFill>
                <a:schemeClr val="accent1"/>
              </a:solidFill>
            </a:endParaRPr>
          </a:p>
        </p:txBody>
      </p:sp>
      <p:sp>
        <p:nvSpPr>
          <p:cNvPr id="12" name="文本框 11"/>
          <p:cNvSpPr txBox="1"/>
          <p:nvPr/>
        </p:nvSpPr>
        <p:spPr>
          <a:xfrm>
            <a:off x="3118485" y="3093085"/>
            <a:ext cx="2412365" cy="336550"/>
          </a:xfrm>
          <a:prstGeom prst="rect">
            <a:avLst/>
          </a:prstGeom>
          <a:noFill/>
        </p:spPr>
        <p:txBody>
          <a:bodyPr wrap="square" rtlCol="0">
            <a:noAutofit/>
          </a:bodyPr>
          <a:p>
            <a:r>
              <a:rPr lang="zh-CN" altLang="en-US" sz="2000" b="1">
                <a:solidFill>
                  <a:srgbClr val="FF0000"/>
                </a:solidFill>
              </a:rPr>
              <a:t>突出</a:t>
            </a:r>
            <a:endParaRPr lang="zh-CN" altLang="en-US" sz="2000" b="1">
              <a:solidFill>
                <a:srgbClr val="FF0000"/>
              </a:solidFill>
            </a:endParaRPr>
          </a:p>
        </p:txBody>
      </p:sp>
      <p:sp>
        <p:nvSpPr>
          <p:cNvPr id="7" name="文本框 6"/>
          <p:cNvSpPr txBox="1"/>
          <p:nvPr/>
        </p:nvSpPr>
        <p:spPr>
          <a:xfrm>
            <a:off x="2545715" y="2382520"/>
            <a:ext cx="1016000" cy="335280"/>
          </a:xfrm>
          <a:prstGeom prst="rect">
            <a:avLst/>
          </a:prstGeom>
          <a:noFill/>
        </p:spPr>
        <p:txBody>
          <a:bodyPr wrap="square" rtlCol="0">
            <a:noAutofit/>
          </a:bodyPr>
          <a:p>
            <a:r>
              <a:rPr lang="zh-CN" altLang="en-US" sz="2000" b="1">
                <a:solidFill>
                  <a:srgbClr val="FF0000"/>
                </a:solidFill>
              </a:rPr>
              <a:t>第二年</a:t>
            </a:r>
            <a:endParaRPr lang="zh-CN" altLang="en-US" sz="2000" b="1">
              <a:solidFill>
                <a:srgbClr val="FF0000"/>
              </a:solidFill>
            </a:endParaRPr>
          </a:p>
        </p:txBody>
      </p:sp>
      <p:sp>
        <p:nvSpPr>
          <p:cNvPr id="13" name="文本框 12"/>
          <p:cNvSpPr txBox="1"/>
          <p:nvPr/>
        </p:nvSpPr>
        <p:spPr>
          <a:xfrm>
            <a:off x="4481195" y="2382520"/>
            <a:ext cx="603250" cy="335915"/>
          </a:xfrm>
          <a:prstGeom prst="rect">
            <a:avLst/>
          </a:prstGeom>
          <a:noFill/>
        </p:spPr>
        <p:txBody>
          <a:bodyPr wrap="square" rtlCol="0">
            <a:noAutofit/>
          </a:bodyPr>
          <a:p>
            <a:r>
              <a:rPr lang="zh-CN" altLang="en-US" sz="2000" b="1">
                <a:solidFill>
                  <a:srgbClr val="FF0000"/>
                </a:solidFill>
              </a:rPr>
              <a:t>才</a:t>
            </a:r>
            <a:endParaRPr lang="zh-CN" altLang="en-US" sz="20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ppt_x</p:attrName>
                                        </p:attrNameLst>
                                      </p:cBhvr>
                                      <p:tavLst>
                                        <p:tav tm="0">
                                          <p:val>
                                            <p:strVal val="#ppt_x"/>
                                          </p:val>
                                        </p:tav>
                                        <p:tav tm="100000">
                                          <p:val>
                                            <p:strVal val="#ppt_x"/>
                                          </p:val>
                                        </p:tav>
                                      </p:tavLst>
                                    </p:anim>
                                    <p:anim calcmode="lin" valueType="num">
                                      <p:cBhvr additive="base">
                                        <p:cTn id="5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ppt_x"/>
                                          </p:val>
                                        </p:tav>
                                        <p:tav tm="100000">
                                          <p:val>
                                            <p:strVal val="#ppt_x"/>
                                          </p:val>
                                        </p:tav>
                                      </p:tavLst>
                                    </p:anim>
                                    <p:anim calcmode="lin" valueType="num">
                                      <p:cBhvr additive="base">
                                        <p:cTn id="5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10" grpId="0"/>
      <p:bldP spid="10" grpId="1"/>
      <p:bldP spid="12" grpId="0"/>
      <p:bldP spid="12" grpId="1"/>
      <p:bldP spid="8" grpId="0"/>
      <p:bldP spid="8" grpId="1"/>
      <p:bldP spid="11" grpId="0"/>
      <p:bldP spid="11" grpId="1"/>
      <p:bldP spid="9" grpId="0"/>
      <p:bldP spid="9" grpId="1"/>
      <p:bldP spid="7" grpId="0"/>
      <p:bldP spid="7" grpId="1"/>
      <p:bldP spid="13" grpId="0"/>
      <p:bldP spid="13"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6" name="矩形 5"/>
          <p:cNvSpPr/>
          <p:nvPr/>
        </p:nvSpPr>
        <p:spPr>
          <a:xfrm>
            <a:off x="0" y="217805"/>
            <a:ext cx="12094210" cy="6421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gn="just" fontAlgn="auto">
              <a:lnSpc>
                <a:spcPct val="150000"/>
              </a:lnSpc>
            </a:pPr>
            <a:r>
              <a:rPr lang="zh-CN" altLang="en-US" sz="2800">
                <a:solidFill>
                  <a:schemeClr val="tx1"/>
                </a:solidFill>
                <a:latin typeface="楷体" panose="02010609060101010101" charset="-122"/>
                <a:ea typeface="楷体" panose="02010609060101010101" charset="-122"/>
                <a:cs typeface="楷体" panose="02010609060101010101" charset="-122"/>
              </a:rPr>
              <a:t>修</a:t>
            </a:r>
            <a:r>
              <a:rPr lang="zh-CN" altLang="en-US" sz="2800" b="1">
                <a:solidFill>
                  <a:schemeClr val="tx1"/>
                </a:solidFill>
                <a:latin typeface="楷体" panose="02010609060101010101" charset="-122"/>
                <a:ea typeface="楷体" panose="02010609060101010101" charset="-122"/>
                <a:cs typeface="楷体" panose="02010609060101010101" charset="-122"/>
              </a:rPr>
              <a:t>之</a:t>
            </a:r>
            <a:r>
              <a:rPr lang="zh-CN" altLang="en-US" sz="2800">
                <a:solidFill>
                  <a:schemeClr val="tx1"/>
                </a:solidFill>
                <a:latin typeface="楷体" panose="02010609060101010101" charset="-122"/>
                <a:ea typeface="楷体" panose="02010609060101010101" charset="-122"/>
                <a:cs typeface="楷体" panose="02010609060101010101" charset="-122"/>
              </a:rPr>
              <a:t>来此，</a:t>
            </a:r>
            <a:r>
              <a:rPr lang="zh-CN" altLang="en-US" sz="2800" b="1">
                <a:solidFill>
                  <a:schemeClr val="tx1"/>
                </a:solidFill>
                <a:latin typeface="楷体" panose="02010609060101010101" charset="-122"/>
                <a:ea typeface="楷体" panose="02010609060101010101" charset="-122"/>
                <a:cs typeface="楷体" panose="02010609060101010101" charset="-122"/>
              </a:rPr>
              <a:t>乐</a:t>
            </a:r>
            <a:r>
              <a:rPr lang="zh-CN" altLang="en-US" sz="2800">
                <a:solidFill>
                  <a:schemeClr val="tx1"/>
                </a:solidFill>
                <a:latin typeface="楷体" panose="02010609060101010101" charset="-122"/>
                <a:ea typeface="楷体" panose="02010609060101010101" charset="-122"/>
                <a:cs typeface="楷体" panose="02010609060101010101" charset="-122"/>
              </a:rPr>
              <a:t>其地僻而事简，又爱其</a:t>
            </a:r>
            <a:r>
              <a:rPr lang="zh-CN" altLang="en-US" sz="2800" b="1">
                <a:solidFill>
                  <a:schemeClr val="tx1"/>
                </a:solidFill>
                <a:latin typeface="楷体" panose="02010609060101010101" charset="-122"/>
                <a:ea typeface="楷体" panose="02010609060101010101" charset="-122"/>
                <a:cs typeface="楷体" panose="02010609060101010101" charset="-122"/>
              </a:rPr>
              <a:t>俗</a:t>
            </a:r>
            <a:r>
              <a:rPr lang="zh-CN" altLang="en-US" sz="2800">
                <a:solidFill>
                  <a:schemeClr val="tx1"/>
                </a:solidFill>
                <a:latin typeface="楷体" panose="02010609060101010101" charset="-122"/>
                <a:ea typeface="楷体" panose="02010609060101010101" charset="-122"/>
                <a:cs typeface="楷体" panose="02010609060101010101" charset="-122"/>
              </a:rPr>
              <a:t>之安闲。既得</a:t>
            </a:r>
            <a:r>
              <a:rPr lang="zh-CN" altLang="en-US" sz="2800" b="1">
                <a:solidFill>
                  <a:schemeClr val="tx1"/>
                </a:solidFill>
                <a:latin typeface="楷体" panose="02010609060101010101" charset="-122"/>
                <a:ea typeface="楷体" panose="02010609060101010101" charset="-122"/>
                <a:cs typeface="楷体" panose="02010609060101010101" charset="-122"/>
              </a:rPr>
              <a:t>斯</a:t>
            </a:r>
            <a:r>
              <a:rPr lang="zh-CN" altLang="en-US" sz="2800">
                <a:solidFill>
                  <a:schemeClr val="tx1"/>
                </a:solidFill>
                <a:latin typeface="楷体" panose="02010609060101010101" charset="-122"/>
                <a:ea typeface="楷体" panose="02010609060101010101" charset="-122"/>
                <a:cs typeface="楷体" panose="02010609060101010101" charset="-122"/>
              </a:rPr>
              <a:t>泉于山谷之间，</a:t>
            </a:r>
            <a:r>
              <a:rPr lang="zh-CN" altLang="en-US" sz="2800" b="1">
                <a:solidFill>
                  <a:schemeClr val="tx1"/>
                </a:solidFill>
                <a:latin typeface="楷体" panose="02010609060101010101" charset="-122"/>
                <a:ea typeface="楷体" panose="02010609060101010101" charset="-122"/>
                <a:cs typeface="楷体" panose="02010609060101010101" charset="-122"/>
              </a:rPr>
              <a:t>乃日</a:t>
            </a:r>
            <a:r>
              <a:rPr lang="zh-CN" altLang="en-US" sz="2800">
                <a:solidFill>
                  <a:schemeClr val="tx1"/>
                </a:solidFill>
                <a:latin typeface="楷体" panose="02010609060101010101" charset="-122"/>
                <a:ea typeface="楷体" panose="02010609060101010101" charset="-122"/>
                <a:cs typeface="楷体" panose="02010609060101010101" charset="-122"/>
              </a:rPr>
              <a:t>与滁人仰而望山，俯而听泉。</a:t>
            </a:r>
            <a:r>
              <a:rPr lang="zh-CN" altLang="en-US" sz="2800" b="1" u="sng">
                <a:solidFill>
                  <a:schemeClr val="tx1"/>
                </a:solidFill>
                <a:latin typeface="楷体" panose="02010609060101010101" charset="-122"/>
                <a:ea typeface="楷体" panose="02010609060101010101" charset="-122"/>
                <a:cs typeface="楷体" panose="02010609060101010101" charset="-122"/>
              </a:rPr>
              <a:t>掇</a:t>
            </a:r>
            <a:r>
              <a:rPr lang="zh-CN" altLang="en-US" sz="2800" u="sng">
                <a:solidFill>
                  <a:schemeClr val="tx1"/>
                </a:solidFill>
                <a:latin typeface="楷体" panose="02010609060101010101" charset="-122"/>
                <a:ea typeface="楷体" panose="02010609060101010101" charset="-122"/>
                <a:cs typeface="楷体" panose="02010609060101010101" charset="-122"/>
              </a:rPr>
              <a:t>幽芳而</a:t>
            </a:r>
            <a:r>
              <a:rPr lang="zh-CN" altLang="en-US" sz="2800" b="1" u="sng">
                <a:solidFill>
                  <a:schemeClr val="tx1"/>
                </a:solidFill>
                <a:latin typeface="楷体" panose="02010609060101010101" charset="-122"/>
                <a:ea typeface="楷体" panose="02010609060101010101" charset="-122"/>
                <a:cs typeface="楷体" panose="02010609060101010101" charset="-122"/>
              </a:rPr>
              <a:t>荫</a:t>
            </a:r>
            <a:r>
              <a:rPr lang="zh-CN" altLang="en-US" sz="2800" u="sng">
                <a:solidFill>
                  <a:schemeClr val="tx1"/>
                </a:solidFill>
                <a:latin typeface="楷体" panose="02010609060101010101" charset="-122"/>
                <a:ea typeface="楷体" panose="02010609060101010101" charset="-122"/>
                <a:cs typeface="楷体" panose="02010609060101010101" charset="-122"/>
              </a:rPr>
              <a:t>乔木，风霜冰雪，</a:t>
            </a:r>
            <a:r>
              <a:rPr lang="zh-CN" altLang="en-US" sz="2800" b="1" u="sng">
                <a:solidFill>
                  <a:schemeClr val="tx1"/>
                </a:solidFill>
                <a:latin typeface="楷体" panose="02010609060101010101" charset="-122"/>
                <a:ea typeface="楷体" panose="02010609060101010101" charset="-122"/>
                <a:cs typeface="楷体" panose="02010609060101010101" charset="-122"/>
              </a:rPr>
              <a:t>刻露</a:t>
            </a:r>
            <a:r>
              <a:rPr lang="zh-CN" altLang="en-US" sz="2800" u="sng">
                <a:solidFill>
                  <a:schemeClr val="tx1"/>
                </a:solidFill>
                <a:latin typeface="楷体" panose="02010609060101010101" charset="-122"/>
                <a:ea typeface="楷体" panose="02010609060101010101" charset="-122"/>
                <a:cs typeface="楷体" panose="02010609060101010101" charset="-122"/>
              </a:rPr>
              <a:t>清秀</a:t>
            </a:r>
            <a:r>
              <a:rPr lang="zh-CN" altLang="en-US" sz="2800">
                <a:solidFill>
                  <a:schemeClr val="tx1"/>
                </a:solidFill>
                <a:latin typeface="楷体" panose="02010609060101010101" charset="-122"/>
                <a:ea typeface="楷体" panose="02010609060101010101" charset="-122"/>
                <a:cs typeface="楷体" panose="02010609060101010101" charset="-122"/>
              </a:rPr>
              <a:t>，四时之景，无不</a:t>
            </a:r>
            <a:r>
              <a:rPr lang="zh-CN" altLang="en-US" sz="2800" b="1">
                <a:solidFill>
                  <a:schemeClr val="tx1"/>
                </a:solidFill>
                <a:latin typeface="楷体" panose="02010609060101010101" charset="-122"/>
                <a:ea typeface="楷体" panose="02010609060101010101" charset="-122"/>
                <a:cs typeface="楷体" panose="02010609060101010101" charset="-122"/>
              </a:rPr>
              <a:t>可</a:t>
            </a:r>
            <a:r>
              <a:rPr lang="zh-CN" altLang="en-US" sz="2800">
                <a:solidFill>
                  <a:schemeClr val="tx1"/>
                </a:solidFill>
                <a:latin typeface="楷体" panose="02010609060101010101" charset="-122"/>
                <a:ea typeface="楷体" panose="02010609060101010101" charset="-122"/>
                <a:cs typeface="楷体" panose="02010609060101010101" charset="-122"/>
              </a:rPr>
              <a:t>爱。又</a:t>
            </a:r>
            <a:r>
              <a:rPr lang="zh-CN" altLang="en-US" sz="2800" b="1">
                <a:solidFill>
                  <a:schemeClr val="tx1"/>
                </a:solidFill>
                <a:latin typeface="楷体" panose="02010609060101010101" charset="-122"/>
                <a:ea typeface="楷体" panose="02010609060101010101" charset="-122"/>
                <a:cs typeface="楷体" panose="02010609060101010101" charset="-122"/>
              </a:rPr>
              <a:t>幸</a:t>
            </a:r>
            <a:r>
              <a:rPr lang="zh-CN" altLang="en-US" sz="2800">
                <a:solidFill>
                  <a:schemeClr val="tx1"/>
                </a:solidFill>
                <a:latin typeface="楷体" panose="02010609060101010101" charset="-122"/>
                <a:ea typeface="楷体" panose="02010609060101010101" charset="-122"/>
                <a:cs typeface="楷体" panose="02010609060101010101" charset="-122"/>
              </a:rPr>
              <a:t>其民乐其岁物之丰成，而喜与予游也。</a:t>
            </a:r>
            <a:r>
              <a:rPr lang="zh-CN" altLang="en-US" sz="2800" b="1">
                <a:solidFill>
                  <a:schemeClr val="tx1"/>
                </a:solidFill>
                <a:latin typeface="楷体" panose="02010609060101010101" charset="-122"/>
                <a:ea typeface="楷体" panose="02010609060101010101" charset="-122"/>
                <a:cs typeface="楷体" panose="02010609060101010101" charset="-122"/>
              </a:rPr>
              <a:t>因为</a:t>
            </a:r>
            <a:r>
              <a:rPr lang="en-US" altLang="zh-CN" sz="2800" b="1">
                <a:solidFill>
                  <a:schemeClr val="tx1"/>
                </a:solidFill>
                <a:latin typeface="楷体" panose="02010609060101010101" charset="-122"/>
                <a:ea typeface="楷体" panose="02010609060101010101" charset="-122"/>
                <a:cs typeface="楷体" panose="02010609060101010101" charset="-122"/>
              </a:rPr>
              <a:t> </a:t>
            </a:r>
            <a:r>
              <a:rPr lang="zh-CN" altLang="en-US" sz="2800" b="1">
                <a:solidFill>
                  <a:schemeClr val="tx1"/>
                </a:solidFill>
                <a:latin typeface="楷体" panose="02010609060101010101" charset="-122"/>
                <a:ea typeface="楷体" panose="02010609060101010101" charset="-122"/>
                <a:cs typeface="楷体" panose="02010609060101010101" charset="-122"/>
              </a:rPr>
              <a:t>本</a:t>
            </a:r>
            <a:r>
              <a:rPr lang="zh-CN" altLang="en-US" sz="2800">
                <a:solidFill>
                  <a:schemeClr val="tx1"/>
                </a:solidFill>
                <a:latin typeface="楷体" panose="02010609060101010101" charset="-122"/>
                <a:ea typeface="楷体" panose="02010609060101010101" charset="-122"/>
                <a:cs typeface="楷体" panose="02010609060101010101" charset="-122"/>
              </a:rPr>
              <a:t>其山川，</a:t>
            </a:r>
            <a:r>
              <a:rPr lang="zh-CN" altLang="en-US" sz="2800" b="1">
                <a:solidFill>
                  <a:schemeClr val="tx1"/>
                </a:solidFill>
                <a:latin typeface="楷体" panose="02010609060101010101" charset="-122"/>
                <a:ea typeface="楷体" panose="02010609060101010101" charset="-122"/>
                <a:cs typeface="楷体" panose="02010609060101010101" charset="-122"/>
              </a:rPr>
              <a:t>道</a:t>
            </a:r>
            <a:r>
              <a:rPr lang="zh-CN" altLang="en-US" sz="2800">
                <a:solidFill>
                  <a:schemeClr val="tx1"/>
                </a:solidFill>
                <a:latin typeface="楷体" panose="02010609060101010101" charset="-122"/>
                <a:ea typeface="楷体" panose="02010609060101010101" charset="-122"/>
                <a:cs typeface="楷体" panose="02010609060101010101" charset="-122"/>
              </a:rPr>
              <a:t>其风俗之美，使民知所以安此丰年之乐</a:t>
            </a:r>
            <a:r>
              <a:rPr lang="zh-CN" altLang="en-US" sz="2800" b="1">
                <a:solidFill>
                  <a:schemeClr val="tx1"/>
                </a:solidFill>
                <a:latin typeface="楷体" panose="02010609060101010101" charset="-122"/>
                <a:ea typeface="楷体" panose="02010609060101010101" charset="-122"/>
                <a:cs typeface="楷体" panose="02010609060101010101" charset="-122"/>
              </a:rPr>
              <a:t>者</a:t>
            </a:r>
            <a:r>
              <a:rPr lang="zh-CN" altLang="en-US" sz="2800">
                <a:solidFill>
                  <a:schemeClr val="tx1"/>
                </a:solidFill>
                <a:latin typeface="楷体" panose="02010609060101010101" charset="-122"/>
                <a:ea typeface="楷体" panose="02010609060101010101" charset="-122"/>
                <a:cs typeface="楷体" panose="02010609060101010101" charset="-122"/>
              </a:rPr>
              <a:t>，幸生无事之时</a:t>
            </a:r>
            <a:r>
              <a:rPr lang="zh-CN" altLang="en-US" sz="2800" b="1">
                <a:solidFill>
                  <a:schemeClr val="tx1"/>
                </a:solidFill>
                <a:latin typeface="楷体" panose="02010609060101010101" charset="-122"/>
                <a:ea typeface="楷体" panose="02010609060101010101" charset="-122"/>
                <a:cs typeface="楷体" panose="02010609060101010101" charset="-122"/>
              </a:rPr>
              <a:t>也</a:t>
            </a:r>
            <a:r>
              <a:rPr lang="zh-CN" altLang="en-US" sz="2800">
                <a:solidFill>
                  <a:schemeClr val="tx1"/>
                </a:solidFill>
                <a:latin typeface="楷体" panose="02010609060101010101" charset="-122"/>
                <a:ea typeface="楷体" panose="02010609060101010101" charset="-122"/>
                <a:cs typeface="楷体" panose="02010609060101010101" charset="-122"/>
              </a:rPr>
              <a:t>。</a:t>
            </a:r>
            <a:endParaRPr lang="zh-CN" altLang="en-US" sz="2800">
              <a:solidFill>
                <a:schemeClr val="tx1"/>
              </a:solidFill>
              <a:latin typeface="楷体" panose="02010609060101010101" charset="-122"/>
              <a:ea typeface="楷体" panose="02010609060101010101" charset="-122"/>
              <a:cs typeface="楷体" panose="02010609060101010101" charset="-122"/>
            </a:endParaRPr>
          </a:p>
          <a:p>
            <a:pPr indent="457200" algn="just" fontAlgn="auto">
              <a:lnSpc>
                <a:spcPct val="150000"/>
              </a:lnSpc>
            </a:pPr>
            <a:r>
              <a:rPr lang="zh-CN" altLang="en-US" sz="2800">
                <a:solidFill>
                  <a:schemeClr val="tx1"/>
                </a:solidFill>
                <a:latin typeface="楷体" panose="02010609060101010101" charset="-122"/>
                <a:ea typeface="楷体" panose="02010609060101010101" charset="-122"/>
                <a:cs typeface="楷体" panose="02010609060101010101" charset="-122"/>
              </a:rPr>
              <a:t>夫</a:t>
            </a:r>
            <a:r>
              <a:rPr lang="zh-CN" altLang="en-US" sz="2800" b="1">
                <a:solidFill>
                  <a:schemeClr val="tx1"/>
                </a:solidFill>
                <a:latin typeface="楷体" panose="02010609060101010101" charset="-122"/>
                <a:ea typeface="楷体" panose="02010609060101010101" charset="-122"/>
                <a:cs typeface="楷体" panose="02010609060101010101" charset="-122"/>
              </a:rPr>
              <a:t>宣</a:t>
            </a:r>
            <a:r>
              <a:rPr lang="zh-CN" altLang="en-US" sz="2800">
                <a:solidFill>
                  <a:schemeClr val="tx1"/>
                </a:solidFill>
                <a:latin typeface="楷体" panose="02010609060101010101" charset="-122"/>
                <a:ea typeface="楷体" panose="02010609060101010101" charset="-122"/>
                <a:cs typeface="楷体" panose="02010609060101010101" charset="-122"/>
              </a:rPr>
              <a:t>上恩德，以与民共乐，刺史之</a:t>
            </a:r>
            <a:r>
              <a:rPr lang="zh-CN" altLang="en-US" sz="2800" b="1">
                <a:solidFill>
                  <a:schemeClr val="tx1"/>
                </a:solidFill>
                <a:latin typeface="楷体" panose="02010609060101010101" charset="-122"/>
                <a:ea typeface="楷体" panose="02010609060101010101" charset="-122"/>
                <a:cs typeface="楷体" panose="02010609060101010101" charset="-122"/>
              </a:rPr>
              <a:t>事</a:t>
            </a:r>
            <a:r>
              <a:rPr lang="zh-CN" altLang="en-US" sz="2800">
                <a:solidFill>
                  <a:schemeClr val="tx1"/>
                </a:solidFill>
                <a:latin typeface="楷体" panose="02010609060101010101" charset="-122"/>
                <a:ea typeface="楷体" panose="02010609060101010101" charset="-122"/>
                <a:cs typeface="楷体" panose="02010609060101010101" charset="-122"/>
              </a:rPr>
              <a:t>也。遂书以</a:t>
            </a:r>
            <a:r>
              <a:rPr lang="zh-CN" altLang="en-US" sz="2800" b="1">
                <a:solidFill>
                  <a:schemeClr val="tx1"/>
                </a:solidFill>
                <a:latin typeface="楷体" panose="02010609060101010101" charset="-122"/>
                <a:ea typeface="楷体" panose="02010609060101010101" charset="-122"/>
                <a:cs typeface="楷体" panose="02010609060101010101" charset="-122"/>
              </a:rPr>
              <a:t>名</a:t>
            </a:r>
            <a:r>
              <a:rPr lang="zh-CN" altLang="en-US" sz="2800">
                <a:solidFill>
                  <a:schemeClr val="tx1"/>
                </a:solidFill>
                <a:latin typeface="楷体" panose="02010609060101010101" charset="-122"/>
                <a:ea typeface="楷体" panose="02010609060101010101" charset="-122"/>
                <a:cs typeface="楷体" panose="02010609060101010101" charset="-122"/>
              </a:rPr>
              <a:t>其亭焉。</a:t>
            </a:r>
            <a:endParaRPr lang="zh-CN" altLang="en-US" sz="2800">
              <a:solidFill>
                <a:schemeClr val="tx1"/>
              </a:solidFill>
              <a:latin typeface="楷体" panose="02010609060101010101" charset="-122"/>
              <a:ea typeface="楷体" panose="02010609060101010101" charset="-122"/>
              <a:cs typeface="楷体" panose="02010609060101010101" charset="-122"/>
            </a:endParaRPr>
          </a:p>
          <a:p>
            <a:pPr indent="457200" algn="l" fontAlgn="auto">
              <a:lnSpc>
                <a:spcPct val="150000"/>
              </a:lnSpc>
            </a:pPr>
            <a:r>
              <a:rPr lang="zh-CN" altLang="en-US" sz="2800">
                <a:solidFill>
                  <a:schemeClr val="tx1"/>
                </a:solidFill>
                <a:latin typeface="楷体" panose="02010609060101010101" charset="-122"/>
                <a:ea typeface="楷体" panose="02010609060101010101" charset="-122"/>
                <a:cs typeface="楷体" panose="02010609060101010101" charset="-122"/>
              </a:rPr>
              <a:t>【注】</a:t>
            </a:r>
            <a:r>
              <a:rPr lang="en-US" altLang="en-US" sz="2800">
                <a:solidFill>
                  <a:schemeClr val="tx1"/>
                </a:solidFill>
                <a:latin typeface="楷体" panose="02010609060101010101" charset="-122"/>
                <a:ea typeface="楷体" panose="02010609060101010101" charset="-122"/>
                <a:cs typeface="楷体" panose="02010609060101010101" charset="-122"/>
              </a:rPr>
              <a:t>①</a:t>
            </a:r>
            <a:r>
              <a:rPr lang="zh-CN" altLang="en-US" sz="2800">
                <a:solidFill>
                  <a:schemeClr val="tx1"/>
                </a:solidFill>
                <a:latin typeface="楷体" panose="02010609060101010101" charset="-122"/>
                <a:ea typeface="楷体" panose="02010609060101010101" charset="-122"/>
                <a:cs typeface="楷体" panose="02010609060101010101" charset="-122"/>
              </a:rPr>
              <a:t>窈然：深幽的样子。</a:t>
            </a:r>
            <a:r>
              <a:rPr lang="en-US" altLang="en-US" sz="2800">
                <a:solidFill>
                  <a:schemeClr val="tx1"/>
                </a:solidFill>
                <a:latin typeface="楷体" panose="02010609060101010101" charset="-122"/>
                <a:ea typeface="楷体" panose="02010609060101010101" charset="-122"/>
                <a:cs typeface="楷体" panose="02010609060101010101" charset="-122"/>
              </a:rPr>
              <a:t>②</a:t>
            </a:r>
            <a:r>
              <a:rPr lang="zh-CN" altLang="en-US" sz="2800">
                <a:solidFill>
                  <a:schemeClr val="tx1"/>
                </a:solidFill>
                <a:latin typeface="楷体" panose="02010609060101010101" charset="-122"/>
                <a:ea typeface="楷体" panose="02010609060101010101" charset="-122"/>
                <a:cs typeface="楷体" panose="02010609060101010101" charset="-122"/>
              </a:rPr>
              <a:t>滃然：水势盛大的样子。</a:t>
            </a:r>
            <a:r>
              <a:rPr lang="zh-CN" altLang="en-US" sz="2800">
                <a:latin typeface="楷体" panose="02010609060101010101" charset="-122"/>
                <a:ea typeface="楷体" panose="02010609060101010101" charset="-122"/>
                <a:cs typeface="楷体" panose="02010609060101010101" charset="-122"/>
              </a:rPr>
              <a:t>水势盛大</a:t>
            </a:r>
            <a:r>
              <a:rPr lang="zh-CN" altLang="en-US" sz="2800">
                <a:latin typeface="楷体" panose="02010609060101010101" charset="-122"/>
                <a:ea typeface="楷体" panose="02010609060101010101" charset="-122"/>
              </a:rPr>
              <a:t>的样子</a:t>
            </a:r>
            <a:r>
              <a:rPr lang="zh-CN" altLang="en-US"/>
              <a:t>。</a:t>
            </a:r>
            <a:endParaRPr lang="zh-CN" altLang="en-US"/>
          </a:p>
        </p:txBody>
      </p:sp>
      <p:sp>
        <p:nvSpPr>
          <p:cNvPr id="11" name="文本框 10"/>
          <p:cNvSpPr txBox="1"/>
          <p:nvPr/>
        </p:nvSpPr>
        <p:spPr>
          <a:xfrm>
            <a:off x="800735" y="1304925"/>
            <a:ext cx="1222375" cy="335280"/>
          </a:xfrm>
          <a:prstGeom prst="rect">
            <a:avLst/>
          </a:prstGeom>
          <a:noFill/>
        </p:spPr>
        <p:txBody>
          <a:bodyPr wrap="square" rtlCol="0">
            <a:noAutofit/>
          </a:bodyPr>
          <a:p>
            <a:r>
              <a:rPr lang="zh-CN" altLang="en-US" sz="2000" b="1">
                <a:solidFill>
                  <a:srgbClr val="FF0000"/>
                </a:solidFill>
              </a:rPr>
              <a:t>取独</a:t>
            </a:r>
            <a:endParaRPr lang="zh-CN" altLang="en-US" sz="2000" b="1">
              <a:solidFill>
                <a:srgbClr val="FF0000"/>
              </a:solidFill>
            </a:endParaRPr>
          </a:p>
        </p:txBody>
      </p:sp>
      <p:sp>
        <p:nvSpPr>
          <p:cNvPr id="2" name="文本框 1"/>
          <p:cNvSpPr txBox="1"/>
          <p:nvPr/>
        </p:nvSpPr>
        <p:spPr>
          <a:xfrm>
            <a:off x="2023110" y="1304925"/>
            <a:ext cx="1936115" cy="335280"/>
          </a:xfrm>
          <a:prstGeom prst="rect">
            <a:avLst/>
          </a:prstGeom>
          <a:noFill/>
        </p:spPr>
        <p:txBody>
          <a:bodyPr wrap="square" rtlCol="0">
            <a:noAutofit/>
          </a:bodyPr>
          <a:p>
            <a:r>
              <a:rPr lang="zh-CN" altLang="en-US" sz="2000" b="1">
                <a:solidFill>
                  <a:srgbClr val="FF0000"/>
                </a:solidFill>
              </a:rPr>
              <a:t>以</a:t>
            </a:r>
            <a:r>
              <a:rPr lang="en-US" altLang="zh-CN" sz="2000" b="1">
                <a:solidFill>
                  <a:srgbClr val="FF0000"/>
                </a:solidFill>
              </a:rPr>
              <a:t>...</a:t>
            </a:r>
            <a:r>
              <a:rPr lang="zh-CN" altLang="en-US" sz="2000" b="1">
                <a:solidFill>
                  <a:srgbClr val="FF0000"/>
                </a:solidFill>
              </a:rPr>
              <a:t>为</a:t>
            </a:r>
            <a:r>
              <a:rPr lang="zh-CN" altLang="en-US" sz="2000" b="1">
                <a:solidFill>
                  <a:srgbClr val="FF0000"/>
                </a:solidFill>
              </a:rPr>
              <a:t>乐</a:t>
            </a:r>
            <a:endParaRPr lang="zh-CN" altLang="en-US" sz="2000" b="1">
              <a:solidFill>
                <a:srgbClr val="FF0000"/>
              </a:solidFill>
            </a:endParaRPr>
          </a:p>
        </p:txBody>
      </p:sp>
      <p:sp>
        <p:nvSpPr>
          <p:cNvPr id="3" name="文本框 2"/>
          <p:cNvSpPr txBox="1"/>
          <p:nvPr/>
        </p:nvSpPr>
        <p:spPr>
          <a:xfrm>
            <a:off x="11380470" y="1304925"/>
            <a:ext cx="713740" cy="335915"/>
          </a:xfrm>
          <a:prstGeom prst="rect">
            <a:avLst/>
          </a:prstGeom>
          <a:noFill/>
        </p:spPr>
        <p:txBody>
          <a:bodyPr wrap="square" rtlCol="0">
            <a:noAutofit/>
          </a:bodyPr>
          <a:p>
            <a:r>
              <a:rPr lang="zh-CN" altLang="en-US" sz="2000" b="1">
                <a:solidFill>
                  <a:srgbClr val="FF0000"/>
                </a:solidFill>
              </a:rPr>
              <a:t>于是</a:t>
            </a:r>
            <a:endParaRPr lang="zh-CN" altLang="en-US" sz="2000" b="1">
              <a:solidFill>
                <a:srgbClr val="FF0000"/>
              </a:solidFill>
            </a:endParaRPr>
          </a:p>
        </p:txBody>
      </p:sp>
      <p:sp>
        <p:nvSpPr>
          <p:cNvPr id="4" name="文本框 3"/>
          <p:cNvSpPr txBox="1"/>
          <p:nvPr/>
        </p:nvSpPr>
        <p:spPr>
          <a:xfrm>
            <a:off x="0" y="2082800"/>
            <a:ext cx="1222375" cy="334645"/>
          </a:xfrm>
          <a:prstGeom prst="rect">
            <a:avLst/>
          </a:prstGeom>
          <a:noFill/>
        </p:spPr>
        <p:txBody>
          <a:bodyPr wrap="square" rtlCol="0">
            <a:noAutofit/>
          </a:bodyPr>
          <a:p>
            <a:r>
              <a:rPr lang="zh-CN" altLang="en-US" sz="2000" b="1">
                <a:solidFill>
                  <a:srgbClr val="FF0000"/>
                </a:solidFill>
              </a:rPr>
              <a:t>每日</a:t>
            </a:r>
            <a:endParaRPr lang="zh-CN" altLang="en-US" sz="2000" b="1">
              <a:solidFill>
                <a:srgbClr val="FF0000"/>
              </a:solidFill>
            </a:endParaRPr>
          </a:p>
        </p:txBody>
      </p:sp>
      <p:sp>
        <p:nvSpPr>
          <p:cNvPr id="7" name="文本框 6"/>
          <p:cNvSpPr txBox="1"/>
          <p:nvPr/>
        </p:nvSpPr>
        <p:spPr>
          <a:xfrm>
            <a:off x="9777095" y="2081530"/>
            <a:ext cx="1223010" cy="334645"/>
          </a:xfrm>
          <a:prstGeom prst="rect">
            <a:avLst/>
          </a:prstGeom>
          <a:noFill/>
        </p:spPr>
        <p:txBody>
          <a:bodyPr wrap="square" rtlCol="0">
            <a:noAutofit/>
          </a:bodyPr>
          <a:p>
            <a:r>
              <a:rPr lang="zh-CN" altLang="en-US" sz="2000" b="1">
                <a:solidFill>
                  <a:srgbClr val="FF0000"/>
                </a:solidFill>
              </a:rPr>
              <a:t>完全</a:t>
            </a:r>
            <a:r>
              <a:rPr lang="zh-CN" altLang="en-US" sz="2000" b="1">
                <a:solidFill>
                  <a:srgbClr val="FF0000"/>
                </a:solidFill>
              </a:rPr>
              <a:t>显露</a:t>
            </a:r>
            <a:endParaRPr lang="zh-CN" altLang="en-US" sz="2000" b="1">
              <a:solidFill>
                <a:srgbClr val="FF0000"/>
              </a:solidFill>
            </a:endParaRPr>
          </a:p>
        </p:txBody>
      </p:sp>
      <p:sp>
        <p:nvSpPr>
          <p:cNvPr id="8" name="文本框 7"/>
          <p:cNvSpPr txBox="1"/>
          <p:nvPr/>
        </p:nvSpPr>
        <p:spPr>
          <a:xfrm>
            <a:off x="9919335" y="2716530"/>
            <a:ext cx="1223010" cy="334645"/>
          </a:xfrm>
          <a:prstGeom prst="rect">
            <a:avLst/>
          </a:prstGeom>
          <a:noFill/>
        </p:spPr>
        <p:txBody>
          <a:bodyPr wrap="square" rtlCol="0">
            <a:noAutofit/>
          </a:bodyPr>
          <a:p>
            <a:r>
              <a:rPr lang="zh-CN" altLang="en-US" sz="2000" b="1">
                <a:solidFill>
                  <a:srgbClr val="FF0000"/>
                </a:solidFill>
              </a:rPr>
              <a:t>于是给</a:t>
            </a:r>
            <a:endParaRPr lang="zh-CN" altLang="en-US" sz="2000" b="1">
              <a:solidFill>
                <a:srgbClr val="FF0000"/>
              </a:solidFill>
            </a:endParaRPr>
          </a:p>
        </p:txBody>
      </p:sp>
      <p:sp>
        <p:nvSpPr>
          <p:cNvPr id="9" name="文本框 8"/>
          <p:cNvSpPr txBox="1"/>
          <p:nvPr/>
        </p:nvSpPr>
        <p:spPr>
          <a:xfrm>
            <a:off x="6855460" y="3261995"/>
            <a:ext cx="1223010" cy="334645"/>
          </a:xfrm>
          <a:prstGeom prst="rect">
            <a:avLst/>
          </a:prstGeom>
          <a:noFill/>
        </p:spPr>
        <p:txBody>
          <a:bodyPr wrap="square" rtlCol="0">
            <a:noAutofit/>
          </a:bodyPr>
          <a:p>
            <a:r>
              <a:rPr lang="en-US" altLang="zh-CN" sz="2000" b="1">
                <a:solidFill>
                  <a:srgbClr val="FF0000"/>
                </a:solidFill>
              </a:rPr>
              <a:t>..</a:t>
            </a:r>
            <a:r>
              <a:rPr lang="zh-CN" altLang="en-US" sz="2000" b="1">
                <a:solidFill>
                  <a:srgbClr val="FF0000"/>
                </a:solidFill>
              </a:rPr>
              <a:t>的</a:t>
            </a:r>
            <a:r>
              <a:rPr lang="zh-CN" altLang="en-US" sz="2000" b="1">
                <a:solidFill>
                  <a:srgbClr val="FF0000"/>
                </a:solidFill>
              </a:rPr>
              <a:t>原因</a:t>
            </a:r>
            <a:endParaRPr lang="zh-CN" altLang="en-US" sz="2000" b="1">
              <a:solidFill>
                <a:srgbClr val="FF0000"/>
              </a:solidFill>
            </a:endParaRPr>
          </a:p>
        </p:txBody>
      </p:sp>
      <p:sp>
        <p:nvSpPr>
          <p:cNvPr id="10" name="文本框 9"/>
          <p:cNvSpPr txBox="1"/>
          <p:nvPr/>
        </p:nvSpPr>
        <p:spPr>
          <a:xfrm>
            <a:off x="7697470" y="3928745"/>
            <a:ext cx="1936115" cy="335915"/>
          </a:xfrm>
          <a:prstGeom prst="rect">
            <a:avLst/>
          </a:prstGeom>
          <a:noFill/>
        </p:spPr>
        <p:txBody>
          <a:bodyPr wrap="square" rtlCol="0">
            <a:noAutofit/>
          </a:bodyPr>
          <a:p>
            <a:r>
              <a:rPr lang="zh-CN" altLang="en-US" sz="2000" b="1">
                <a:solidFill>
                  <a:srgbClr val="FF0000"/>
                </a:solidFill>
              </a:rPr>
              <a:t>给</a:t>
            </a:r>
            <a:r>
              <a:rPr lang="en-US" altLang="zh-CN" sz="2000" b="1">
                <a:solidFill>
                  <a:srgbClr val="FF0000"/>
                </a:solidFill>
              </a:rPr>
              <a:t>...</a:t>
            </a:r>
            <a:r>
              <a:rPr lang="zh-CN" altLang="en-US" sz="2000" b="1">
                <a:solidFill>
                  <a:srgbClr val="FF0000"/>
                </a:solidFill>
              </a:rPr>
              <a:t>命名</a:t>
            </a:r>
            <a:endParaRPr lang="zh-CN" altLang="en-US" sz="2000" b="1">
              <a:solidFill>
                <a:srgbClr val="FF0000"/>
              </a:solidFill>
            </a:endParaRPr>
          </a:p>
        </p:txBody>
      </p:sp>
      <p:sp>
        <p:nvSpPr>
          <p:cNvPr id="12" name="文本框 11"/>
          <p:cNvSpPr txBox="1"/>
          <p:nvPr/>
        </p:nvSpPr>
        <p:spPr>
          <a:xfrm>
            <a:off x="10968990" y="2716530"/>
            <a:ext cx="1223010" cy="334645"/>
          </a:xfrm>
          <a:prstGeom prst="rect">
            <a:avLst/>
          </a:prstGeom>
          <a:noFill/>
        </p:spPr>
        <p:txBody>
          <a:bodyPr wrap="square" rtlCol="0">
            <a:noAutofit/>
          </a:bodyPr>
          <a:p>
            <a:r>
              <a:rPr lang="zh-CN" altLang="en-US" sz="2000" b="1">
                <a:solidFill>
                  <a:srgbClr val="FF0000"/>
                </a:solidFill>
              </a:rPr>
              <a:t>根据</a:t>
            </a:r>
            <a:endParaRPr lang="zh-CN" altLang="en-US" sz="2000" b="1">
              <a:solidFill>
                <a:srgbClr val="FF0000"/>
              </a:solidFill>
            </a:endParaRPr>
          </a:p>
        </p:txBody>
      </p:sp>
      <p:sp>
        <p:nvSpPr>
          <p:cNvPr id="13" name="文本框 12"/>
          <p:cNvSpPr txBox="1"/>
          <p:nvPr/>
        </p:nvSpPr>
        <p:spPr>
          <a:xfrm>
            <a:off x="6141720" y="1304925"/>
            <a:ext cx="713740" cy="335280"/>
          </a:xfrm>
          <a:prstGeom prst="rect">
            <a:avLst/>
          </a:prstGeom>
          <a:noFill/>
        </p:spPr>
        <p:txBody>
          <a:bodyPr wrap="square" rtlCol="0">
            <a:noAutofit/>
          </a:bodyPr>
          <a:p>
            <a:r>
              <a:rPr lang="zh-CN" altLang="en-US" sz="2000" b="1">
                <a:solidFill>
                  <a:srgbClr val="FF0000"/>
                </a:solidFill>
              </a:rPr>
              <a:t>风俗</a:t>
            </a:r>
            <a:endParaRPr lang="zh-CN" altLang="en-US" sz="2000" b="1">
              <a:solidFill>
                <a:srgbClr val="FF0000"/>
              </a:solidFill>
            </a:endParaRPr>
          </a:p>
        </p:txBody>
      </p:sp>
      <p:sp>
        <p:nvSpPr>
          <p:cNvPr id="14" name="文本框 13"/>
          <p:cNvSpPr txBox="1"/>
          <p:nvPr/>
        </p:nvSpPr>
        <p:spPr>
          <a:xfrm>
            <a:off x="8635365" y="1305560"/>
            <a:ext cx="713740" cy="335280"/>
          </a:xfrm>
          <a:prstGeom prst="rect">
            <a:avLst/>
          </a:prstGeom>
          <a:noFill/>
        </p:spPr>
        <p:txBody>
          <a:bodyPr wrap="square" rtlCol="0">
            <a:noAutofit/>
          </a:bodyPr>
          <a:p>
            <a:r>
              <a:rPr lang="zh-CN" altLang="en-US" sz="2000" b="1">
                <a:solidFill>
                  <a:srgbClr val="FF0000"/>
                </a:solidFill>
              </a:rPr>
              <a:t>这</a:t>
            </a:r>
            <a:endParaRPr lang="zh-CN" altLang="en-US" sz="2000" b="1">
              <a:solidFill>
                <a:srgbClr val="FF0000"/>
              </a:solidFill>
            </a:endParaRPr>
          </a:p>
        </p:txBody>
      </p:sp>
      <p:sp>
        <p:nvSpPr>
          <p:cNvPr id="15" name="文本框 14"/>
          <p:cNvSpPr txBox="1"/>
          <p:nvPr/>
        </p:nvSpPr>
        <p:spPr>
          <a:xfrm>
            <a:off x="9458325" y="1305560"/>
            <a:ext cx="1222375" cy="335280"/>
          </a:xfrm>
          <a:prstGeom prst="rect">
            <a:avLst/>
          </a:prstGeom>
          <a:noFill/>
        </p:spPr>
        <p:txBody>
          <a:bodyPr wrap="square" rtlCol="0">
            <a:noAutofit/>
          </a:bodyPr>
          <a:p>
            <a:r>
              <a:rPr lang="zh-CN" altLang="en-US" sz="2000" b="1">
                <a:solidFill>
                  <a:schemeClr val="accent1"/>
                </a:solidFill>
              </a:rPr>
              <a:t>状语后置</a:t>
            </a:r>
            <a:endParaRPr lang="zh-CN" altLang="en-US" sz="2000" b="1">
              <a:solidFill>
                <a:schemeClr val="accent1"/>
              </a:solidFill>
            </a:endParaRPr>
          </a:p>
        </p:txBody>
      </p:sp>
      <p:sp>
        <p:nvSpPr>
          <p:cNvPr id="16" name="文本框 15"/>
          <p:cNvSpPr txBox="1"/>
          <p:nvPr/>
        </p:nvSpPr>
        <p:spPr>
          <a:xfrm>
            <a:off x="4639310" y="2080260"/>
            <a:ext cx="1720850" cy="337185"/>
          </a:xfrm>
          <a:prstGeom prst="rect">
            <a:avLst/>
          </a:prstGeom>
          <a:noFill/>
        </p:spPr>
        <p:txBody>
          <a:bodyPr wrap="square" rtlCol="0">
            <a:noAutofit/>
          </a:bodyPr>
          <a:p>
            <a:r>
              <a:rPr lang="zh-CN" altLang="en-US" sz="2000" b="1">
                <a:solidFill>
                  <a:srgbClr val="FF0000"/>
                </a:solidFill>
              </a:rPr>
              <a:t>拾取，</a:t>
            </a:r>
            <a:r>
              <a:rPr lang="zh-CN" altLang="en-US" sz="2000" b="1">
                <a:solidFill>
                  <a:srgbClr val="FF0000"/>
                </a:solidFill>
              </a:rPr>
              <a:t>摘取</a:t>
            </a:r>
            <a:endParaRPr lang="zh-CN" altLang="en-US" sz="2000" b="1">
              <a:solidFill>
                <a:srgbClr val="FF0000"/>
              </a:solidFill>
            </a:endParaRPr>
          </a:p>
        </p:txBody>
      </p:sp>
      <p:sp>
        <p:nvSpPr>
          <p:cNvPr id="17" name="文本框 16"/>
          <p:cNvSpPr txBox="1"/>
          <p:nvPr/>
        </p:nvSpPr>
        <p:spPr>
          <a:xfrm>
            <a:off x="6367145" y="2078990"/>
            <a:ext cx="883920" cy="339090"/>
          </a:xfrm>
          <a:prstGeom prst="rect">
            <a:avLst/>
          </a:prstGeom>
          <a:noFill/>
        </p:spPr>
        <p:txBody>
          <a:bodyPr wrap="square" rtlCol="0">
            <a:noAutofit/>
          </a:bodyPr>
          <a:p>
            <a:r>
              <a:rPr lang="zh-CN" altLang="en-US" sz="2000" b="1">
                <a:solidFill>
                  <a:srgbClr val="FF0000"/>
                </a:solidFill>
              </a:rPr>
              <a:t>遮蔽</a:t>
            </a:r>
            <a:endParaRPr lang="zh-CN" altLang="en-US" sz="2000" b="1">
              <a:solidFill>
                <a:srgbClr val="FF0000"/>
              </a:solidFill>
            </a:endParaRPr>
          </a:p>
        </p:txBody>
      </p:sp>
      <p:sp>
        <p:nvSpPr>
          <p:cNvPr id="18" name="文本框 17"/>
          <p:cNvSpPr txBox="1"/>
          <p:nvPr/>
        </p:nvSpPr>
        <p:spPr>
          <a:xfrm>
            <a:off x="2023110" y="2716530"/>
            <a:ext cx="713740" cy="334645"/>
          </a:xfrm>
          <a:prstGeom prst="rect">
            <a:avLst/>
          </a:prstGeom>
          <a:noFill/>
        </p:spPr>
        <p:txBody>
          <a:bodyPr wrap="square" rtlCol="0">
            <a:noAutofit/>
          </a:bodyPr>
          <a:p>
            <a:r>
              <a:rPr lang="zh-CN" altLang="en-US" sz="2000" b="1">
                <a:solidFill>
                  <a:srgbClr val="FF0000"/>
                </a:solidFill>
              </a:rPr>
              <a:t>值得</a:t>
            </a:r>
            <a:endParaRPr lang="zh-CN" altLang="en-US" sz="2000" b="1">
              <a:solidFill>
                <a:srgbClr val="FF0000"/>
              </a:solidFill>
            </a:endParaRPr>
          </a:p>
        </p:txBody>
      </p:sp>
      <p:sp>
        <p:nvSpPr>
          <p:cNvPr id="19" name="文本框 18"/>
          <p:cNvSpPr txBox="1"/>
          <p:nvPr/>
        </p:nvSpPr>
        <p:spPr>
          <a:xfrm>
            <a:off x="3294380" y="2716530"/>
            <a:ext cx="1720850" cy="337185"/>
          </a:xfrm>
          <a:prstGeom prst="rect">
            <a:avLst/>
          </a:prstGeom>
          <a:noFill/>
        </p:spPr>
        <p:txBody>
          <a:bodyPr wrap="square" rtlCol="0">
            <a:noAutofit/>
          </a:bodyPr>
          <a:p>
            <a:r>
              <a:rPr lang="zh-CN" altLang="en-US" sz="2000" b="1">
                <a:solidFill>
                  <a:srgbClr val="FF0000"/>
                </a:solidFill>
              </a:rPr>
              <a:t>庆幸，</a:t>
            </a:r>
            <a:r>
              <a:rPr lang="zh-CN" altLang="en-US" sz="2000" b="1">
                <a:solidFill>
                  <a:srgbClr val="FF0000"/>
                </a:solidFill>
              </a:rPr>
              <a:t>幸好</a:t>
            </a:r>
            <a:endParaRPr lang="zh-CN" altLang="en-US" sz="2000" b="1">
              <a:solidFill>
                <a:srgbClr val="FF0000"/>
              </a:solidFill>
            </a:endParaRPr>
          </a:p>
        </p:txBody>
      </p:sp>
      <p:sp>
        <p:nvSpPr>
          <p:cNvPr id="20" name="文本框 19"/>
          <p:cNvSpPr txBox="1"/>
          <p:nvPr/>
        </p:nvSpPr>
        <p:spPr>
          <a:xfrm>
            <a:off x="975995" y="3344545"/>
            <a:ext cx="713740" cy="334645"/>
          </a:xfrm>
          <a:prstGeom prst="rect">
            <a:avLst/>
          </a:prstGeom>
          <a:noFill/>
        </p:spPr>
        <p:txBody>
          <a:bodyPr wrap="square" rtlCol="0">
            <a:noAutofit/>
          </a:bodyPr>
          <a:p>
            <a:r>
              <a:rPr lang="zh-CN" altLang="en-US" sz="2000" b="1">
                <a:solidFill>
                  <a:srgbClr val="FF0000"/>
                </a:solidFill>
              </a:rPr>
              <a:t>陈述</a:t>
            </a:r>
            <a:endParaRPr lang="zh-CN" altLang="en-US" sz="2000" b="1">
              <a:solidFill>
                <a:srgbClr val="FF0000"/>
              </a:solidFill>
            </a:endParaRPr>
          </a:p>
        </p:txBody>
      </p:sp>
      <p:sp>
        <p:nvSpPr>
          <p:cNvPr id="21" name="文本框 20"/>
          <p:cNvSpPr txBox="1"/>
          <p:nvPr/>
        </p:nvSpPr>
        <p:spPr>
          <a:xfrm>
            <a:off x="10807700" y="3596640"/>
            <a:ext cx="1222375" cy="335280"/>
          </a:xfrm>
          <a:prstGeom prst="rect">
            <a:avLst/>
          </a:prstGeom>
          <a:noFill/>
        </p:spPr>
        <p:txBody>
          <a:bodyPr wrap="square" rtlCol="0">
            <a:noAutofit/>
          </a:bodyPr>
          <a:p>
            <a:r>
              <a:rPr lang="zh-CN" altLang="en-US" sz="2000" b="1">
                <a:solidFill>
                  <a:schemeClr val="accent1"/>
                </a:solidFill>
              </a:rPr>
              <a:t>判断句</a:t>
            </a:r>
            <a:endParaRPr lang="zh-CN" altLang="en-US" sz="2000" b="1">
              <a:solidFill>
                <a:schemeClr val="accent1"/>
              </a:solidFill>
            </a:endParaRPr>
          </a:p>
        </p:txBody>
      </p:sp>
      <p:sp>
        <p:nvSpPr>
          <p:cNvPr id="22" name="文本框 21"/>
          <p:cNvSpPr txBox="1"/>
          <p:nvPr/>
        </p:nvSpPr>
        <p:spPr>
          <a:xfrm>
            <a:off x="3959225" y="3931920"/>
            <a:ext cx="1222375" cy="335280"/>
          </a:xfrm>
          <a:prstGeom prst="rect">
            <a:avLst/>
          </a:prstGeom>
          <a:noFill/>
        </p:spPr>
        <p:txBody>
          <a:bodyPr wrap="square" rtlCol="0">
            <a:noAutofit/>
          </a:bodyPr>
          <a:p>
            <a:r>
              <a:rPr lang="zh-CN" altLang="en-US" sz="2000" b="1">
                <a:solidFill>
                  <a:schemeClr val="accent1"/>
                </a:solidFill>
              </a:rPr>
              <a:t>判断句</a:t>
            </a:r>
            <a:endParaRPr lang="zh-CN" altLang="en-US" sz="2000" b="1">
              <a:solidFill>
                <a:schemeClr val="accent1"/>
              </a:solidFill>
            </a:endParaRPr>
          </a:p>
        </p:txBody>
      </p:sp>
      <p:sp>
        <p:nvSpPr>
          <p:cNvPr id="23" name="文本框 22"/>
          <p:cNvSpPr txBox="1"/>
          <p:nvPr/>
        </p:nvSpPr>
        <p:spPr>
          <a:xfrm>
            <a:off x="5702935" y="3928745"/>
            <a:ext cx="883285" cy="250825"/>
          </a:xfrm>
          <a:prstGeom prst="rect">
            <a:avLst/>
          </a:prstGeom>
          <a:noFill/>
        </p:spPr>
        <p:txBody>
          <a:bodyPr wrap="square" rtlCol="0">
            <a:noAutofit/>
          </a:bodyPr>
          <a:p>
            <a:r>
              <a:rPr lang="zh-CN" altLang="en-US" sz="2000" b="1">
                <a:solidFill>
                  <a:srgbClr val="FF0000"/>
                </a:solidFill>
              </a:rPr>
              <a:t>职责</a:t>
            </a:r>
            <a:endParaRPr lang="zh-CN" altLang="en-US" sz="2000" b="1">
              <a:solidFill>
                <a:srgbClr val="FF0000"/>
              </a:solidFill>
            </a:endParaRPr>
          </a:p>
        </p:txBody>
      </p:sp>
      <p:sp>
        <p:nvSpPr>
          <p:cNvPr id="24" name="文本框 23"/>
          <p:cNvSpPr txBox="1"/>
          <p:nvPr/>
        </p:nvSpPr>
        <p:spPr>
          <a:xfrm>
            <a:off x="806450" y="3934460"/>
            <a:ext cx="883285" cy="332740"/>
          </a:xfrm>
          <a:prstGeom prst="rect">
            <a:avLst/>
          </a:prstGeom>
          <a:noFill/>
        </p:spPr>
        <p:txBody>
          <a:bodyPr wrap="square" rtlCol="0">
            <a:noAutofit/>
          </a:bodyPr>
          <a:p>
            <a:r>
              <a:rPr lang="zh-CN" altLang="en-US" sz="2000" b="1">
                <a:solidFill>
                  <a:srgbClr val="FF0000"/>
                </a:solidFill>
              </a:rPr>
              <a:t>宣扬</a:t>
            </a:r>
            <a:endParaRPr lang="zh-CN" altLang="en-US" sz="20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00" fill="hold"/>
                                        <p:tgtEl>
                                          <p:spTgt spid="16"/>
                                        </p:tgtEl>
                                        <p:attrNameLst>
                                          <p:attrName>ppt_x</p:attrName>
                                        </p:attrNameLst>
                                      </p:cBhvr>
                                      <p:tavLst>
                                        <p:tav tm="0">
                                          <p:val>
                                            <p:strVal val="#ppt_x"/>
                                          </p:val>
                                        </p:tav>
                                        <p:tav tm="100000">
                                          <p:val>
                                            <p:strVal val="#ppt_x"/>
                                          </p:val>
                                        </p:tav>
                                      </p:tavLst>
                                    </p:anim>
                                    <p:anim calcmode="lin" valueType="num">
                                      <p:cBhvr additive="base">
                                        <p:cTn id="5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ppt_x"/>
                                          </p:val>
                                        </p:tav>
                                        <p:tav tm="100000">
                                          <p:val>
                                            <p:strVal val="#ppt_x"/>
                                          </p:val>
                                        </p:tav>
                                      </p:tavLst>
                                    </p:anim>
                                    <p:anim calcmode="lin" valueType="num">
                                      <p:cBhvr additive="base">
                                        <p:cTn id="5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500" fill="hold"/>
                                        <p:tgtEl>
                                          <p:spTgt spid="7"/>
                                        </p:tgtEl>
                                        <p:attrNameLst>
                                          <p:attrName>ppt_x</p:attrName>
                                        </p:attrNameLst>
                                      </p:cBhvr>
                                      <p:tavLst>
                                        <p:tav tm="0">
                                          <p:val>
                                            <p:strVal val="#ppt_x"/>
                                          </p:val>
                                        </p:tav>
                                        <p:tav tm="100000">
                                          <p:val>
                                            <p:strVal val="#ppt_x"/>
                                          </p:val>
                                        </p:tav>
                                      </p:tavLst>
                                    </p:anim>
                                    <p:anim calcmode="lin" valueType="num">
                                      <p:cBhvr additive="base">
                                        <p:cTn id="6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9"/>
                                        </p:tgtEl>
                                        <p:attrNameLst>
                                          <p:attrName>style.visibility</p:attrName>
                                        </p:attrNameLst>
                                      </p:cBhvr>
                                      <p:to>
                                        <p:strVal val="visible"/>
                                      </p:to>
                                    </p:set>
                                    <p:anim calcmode="lin" valueType="num">
                                      <p:cBhvr additive="base">
                                        <p:cTn id="73" dur="500" fill="hold"/>
                                        <p:tgtEl>
                                          <p:spTgt spid="19"/>
                                        </p:tgtEl>
                                        <p:attrNameLst>
                                          <p:attrName>ppt_x</p:attrName>
                                        </p:attrNameLst>
                                      </p:cBhvr>
                                      <p:tavLst>
                                        <p:tav tm="0">
                                          <p:val>
                                            <p:strVal val="#ppt_x"/>
                                          </p:val>
                                        </p:tav>
                                        <p:tav tm="100000">
                                          <p:val>
                                            <p:strVal val="#ppt_x"/>
                                          </p:val>
                                        </p:tav>
                                      </p:tavLst>
                                    </p:anim>
                                    <p:anim calcmode="lin" valueType="num">
                                      <p:cBhvr additive="base">
                                        <p:cTn id="7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8"/>
                                        </p:tgtEl>
                                        <p:attrNameLst>
                                          <p:attrName>style.visibility</p:attrName>
                                        </p:attrNameLst>
                                      </p:cBhvr>
                                      <p:to>
                                        <p:strVal val="visible"/>
                                      </p:to>
                                    </p:set>
                                    <p:anim calcmode="lin" valueType="num">
                                      <p:cBhvr additive="base">
                                        <p:cTn id="79" dur="500" fill="hold"/>
                                        <p:tgtEl>
                                          <p:spTgt spid="8"/>
                                        </p:tgtEl>
                                        <p:attrNameLst>
                                          <p:attrName>ppt_x</p:attrName>
                                        </p:attrNameLst>
                                      </p:cBhvr>
                                      <p:tavLst>
                                        <p:tav tm="0">
                                          <p:val>
                                            <p:strVal val="#ppt_x"/>
                                          </p:val>
                                        </p:tav>
                                        <p:tav tm="100000">
                                          <p:val>
                                            <p:strVal val="#ppt_x"/>
                                          </p:val>
                                        </p:tav>
                                      </p:tavLst>
                                    </p:anim>
                                    <p:anim calcmode="lin" valueType="num">
                                      <p:cBhvr additive="base">
                                        <p:cTn id="8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2"/>
                                        </p:tgtEl>
                                        <p:attrNameLst>
                                          <p:attrName>style.visibility</p:attrName>
                                        </p:attrNameLst>
                                      </p:cBhvr>
                                      <p:to>
                                        <p:strVal val="visible"/>
                                      </p:to>
                                    </p:set>
                                    <p:anim calcmode="lin" valueType="num">
                                      <p:cBhvr additive="base">
                                        <p:cTn id="85" dur="500" fill="hold"/>
                                        <p:tgtEl>
                                          <p:spTgt spid="12"/>
                                        </p:tgtEl>
                                        <p:attrNameLst>
                                          <p:attrName>ppt_x</p:attrName>
                                        </p:attrNameLst>
                                      </p:cBhvr>
                                      <p:tavLst>
                                        <p:tav tm="0">
                                          <p:val>
                                            <p:strVal val="#ppt_x"/>
                                          </p:val>
                                        </p:tav>
                                        <p:tav tm="100000">
                                          <p:val>
                                            <p:strVal val="#ppt_x"/>
                                          </p:val>
                                        </p:tav>
                                      </p:tavLst>
                                    </p:anim>
                                    <p:anim calcmode="lin" valueType="num">
                                      <p:cBhvr additive="base">
                                        <p:cTn id="8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500" fill="hold"/>
                                        <p:tgtEl>
                                          <p:spTgt spid="20"/>
                                        </p:tgtEl>
                                        <p:attrNameLst>
                                          <p:attrName>ppt_x</p:attrName>
                                        </p:attrNameLst>
                                      </p:cBhvr>
                                      <p:tavLst>
                                        <p:tav tm="0">
                                          <p:val>
                                            <p:strVal val="#ppt_x"/>
                                          </p:val>
                                        </p:tav>
                                        <p:tav tm="100000">
                                          <p:val>
                                            <p:strVal val="#ppt_x"/>
                                          </p:val>
                                        </p:tav>
                                      </p:tavLst>
                                    </p:anim>
                                    <p:anim calcmode="lin" valueType="num">
                                      <p:cBhvr additive="base">
                                        <p:cTn id="9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9"/>
                                        </p:tgtEl>
                                        <p:attrNameLst>
                                          <p:attrName>style.visibility</p:attrName>
                                        </p:attrNameLst>
                                      </p:cBhvr>
                                      <p:to>
                                        <p:strVal val="visible"/>
                                      </p:to>
                                    </p:set>
                                    <p:anim calcmode="lin" valueType="num">
                                      <p:cBhvr additive="base">
                                        <p:cTn id="97" dur="500" fill="hold"/>
                                        <p:tgtEl>
                                          <p:spTgt spid="9"/>
                                        </p:tgtEl>
                                        <p:attrNameLst>
                                          <p:attrName>ppt_x</p:attrName>
                                        </p:attrNameLst>
                                      </p:cBhvr>
                                      <p:tavLst>
                                        <p:tav tm="0">
                                          <p:val>
                                            <p:strVal val="#ppt_x"/>
                                          </p:val>
                                        </p:tav>
                                        <p:tav tm="100000">
                                          <p:val>
                                            <p:strVal val="#ppt_x"/>
                                          </p:val>
                                        </p:tav>
                                      </p:tavLst>
                                    </p:anim>
                                    <p:anim calcmode="lin" valueType="num">
                                      <p:cBhvr additive="base">
                                        <p:cTn id="9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21"/>
                                        </p:tgtEl>
                                        <p:attrNameLst>
                                          <p:attrName>style.visibility</p:attrName>
                                        </p:attrNameLst>
                                      </p:cBhvr>
                                      <p:to>
                                        <p:strVal val="visible"/>
                                      </p:to>
                                    </p:set>
                                    <p:anim calcmode="lin" valueType="num">
                                      <p:cBhvr additive="base">
                                        <p:cTn id="103" dur="500" fill="hold"/>
                                        <p:tgtEl>
                                          <p:spTgt spid="21"/>
                                        </p:tgtEl>
                                        <p:attrNameLst>
                                          <p:attrName>ppt_x</p:attrName>
                                        </p:attrNameLst>
                                      </p:cBhvr>
                                      <p:tavLst>
                                        <p:tav tm="0">
                                          <p:val>
                                            <p:strVal val="#ppt_x"/>
                                          </p:val>
                                        </p:tav>
                                        <p:tav tm="100000">
                                          <p:val>
                                            <p:strVal val="#ppt_x"/>
                                          </p:val>
                                        </p:tav>
                                      </p:tavLst>
                                    </p:anim>
                                    <p:anim calcmode="lin" valueType="num">
                                      <p:cBhvr additive="base">
                                        <p:cTn id="10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24"/>
                                        </p:tgtEl>
                                        <p:attrNameLst>
                                          <p:attrName>style.visibility</p:attrName>
                                        </p:attrNameLst>
                                      </p:cBhvr>
                                      <p:to>
                                        <p:strVal val="visible"/>
                                      </p:to>
                                    </p:set>
                                    <p:anim calcmode="lin" valueType="num">
                                      <p:cBhvr additive="base">
                                        <p:cTn id="109" dur="500" fill="hold"/>
                                        <p:tgtEl>
                                          <p:spTgt spid="24"/>
                                        </p:tgtEl>
                                        <p:attrNameLst>
                                          <p:attrName>ppt_x</p:attrName>
                                        </p:attrNameLst>
                                      </p:cBhvr>
                                      <p:tavLst>
                                        <p:tav tm="0">
                                          <p:val>
                                            <p:strVal val="#ppt_x"/>
                                          </p:val>
                                        </p:tav>
                                        <p:tav tm="100000">
                                          <p:val>
                                            <p:strVal val="#ppt_x"/>
                                          </p:val>
                                        </p:tav>
                                      </p:tavLst>
                                    </p:anim>
                                    <p:anim calcmode="lin" valueType="num">
                                      <p:cBhvr additive="base">
                                        <p:cTn id="11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23"/>
                                        </p:tgtEl>
                                        <p:attrNameLst>
                                          <p:attrName>style.visibility</p:attrName>
                                        </p:attrNameLst>
                                      </p:cBhvr>
                                      <p:to>
                                        <p:strVal val="visible"/>
                                      </p:to>
                                    </p:set>
                                    <p:anim calcmode="lin" valueType="num">
                                      <p:cBhvr additive="base">
                                        <p:cTn id="115" dur="500" fill="hold"/>
                                        <p:tgtEl>
                                          <p:spTgt spid="23"/>
                                        </p:tgtEl>
                                        <p:attrNameLst>
                                          <p:attrName>ppt_x</p:attrName>
                                        </p:attrNameLst>
                                      </p:cBhvr>
                                      <p:tavLst>
                                        <p:tav tm="0">
                                          <p:val>
                                            <p:strVal val="#ppt_x"/>
                                          </p:val>
                                        </p:tav>
                                        <p:tav tm="100000">
                                          <p:val>
                                            <p:strVal val="#ppt_x"/>
                                          </p:val>
                                        </p:tav>
                                      </p:tavLst>
                                    </p:anim>
                                    <p:anim calcmode="lin" valueType="num">
                                      <p:cBhvr additive="base">
                                        <p:cTn id="11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22"/>
                                        </p:tgtEl>
                                        <p:attrNameLst>
                                          <p:attrName>style.visibility</p:attrName>
                                        </p:attrNameLst>
                                      </p:cBhvr>
                                      <p:to>
                                        <p:strVal val="visible"/>
                                      </p:to>
                                    </p:set>
                                    <p:anim calcmode="lin" valueType="num">
                                      <p:cBhvr additive="base">
                                        <p:cTn id="121" dur="500" fill="hold"/>
                                        <p:tgtEl>
                                          <p:spTgt spid="22"/>
                                        </p:tgtEl>
                                        <p:attrNameLst>
                                          <p:attrName>ppt_x</p:attrName>
                                        </p:attrNameLst>
                                      </p:cBhvr>
                                      <p:tavLst>
                                        <p:tav tm="0">
                                          <p:val>
                                            <p:strVal val="#ppt_x"/>
                                          </p:val>
                                        </p:tav>
                                        <p:tav tm="100000">
                                          <p:val>
                                            <p:strVal val="#ppt_x"/>
                                          </p:val>
                                        </p:tav>
                                      </p:tavLst>
                                    </p:anim>
                                    <p:anim calcmode="lin" valueType="num">
                                      <p:cBhvr additive="base">
                                        <p:cTn id="12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10"/>
                                        </p:tgtEl>
                                        <p:attrNameLst>
                                          <p:attrName>style.visibility</p:attrName>
                                        </p:attrNameLst>
                                      </p:cBhvr>
                                      <p:to>
                                        <p:strVal val="visible"/>
                                      </p:to>
                                    </p:set>
                                    <p:anim calcmode="lin" valueType="num">
                                      <p:cBhvr additive="base">
                                        <p:cTn id="127" dur="500" fill="hold"/>
                                        <p:tgtEl>
                                          <p:spTgt spid="10"/>
                                        </p:tgtEl>
                                        <p:attrNameLst>
                                          <p:attrName>ppt_x</p:attrName>
                                        </p:attrNameLst>
                                      </p:cBhvr>
                                      <p:tavLst>
                                        <p:tav tm="0">
                                          <p:val>
                                            <p:strVal val="#ppt_x"/>
                                          </p:val>
                                        </p:tav>
                                        <p:tav tm="100000">
                                          <p:val>
                                            <p:strVal val="#ppt_x"/>
                                          </p:val>
                                        </p:tav>
                                      </p:tavLst>
                                    </p:anim>
                                    <p:anim calcmode="lin" valueType="num">
                                      <p:cBhvr additive="base">
                                        <p:cTn id="1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2" grpId="0"/>
      <p:bldP spid="2" grpId="1"/>
      <p:bldP spid="3" grpId="0"/>
      <p:bldP spid="3" grpId="1"/>
      <p:bldP spid="4" grpId="0"/>
      <p:bldP spid="4" grpId="1"/>
      <p:bldP spid="7" grpId="0"/>
      <p:bldP spid="7" grpId="1"/>
      <p:bldP spid="8" grpId="0"/>
      <p:bldP spid="8" grpId="1"/>
      <p:bldP spid="12" grpId="0"/>
      <p:bldP spid="12" grpId="1"/>
      <p:bldP spid="9" grpId="0"/>
      <p:bldP spid="9" grpId="1"/>
      <p:bldP spid="10" grpId="0"/>
      <p:bldP spid="10" grpId="1"/>
      <p:bldP spid="13" grpId="0"/>
      <p:bldP spid="13" grpId="1"/>
      <p:bldP spid="14" grpId="0"/>
      <p:bldP spid="14" grpId="1"/>
      <p:bldP spid="15" grpId="0"/>
      <p:bldP spid="15" grpId="1"/>
      <p:bldP spid="16" grpId="0"/>
      <p:bldP spid="16" grpId="1"/>
      <p:bldP spid="17" grpId="0"/>
      <p:bldP spid="17" grpId="1"/>
      <p:bldP spid="18" grpId="0"/>
      <p:bldP spid="18" grpId="1"/>
      <p:bldP spid="19" grpId="0"/>
      <p:bldP spid="19" grpId="1"/>
      <p:bldP spid="20" grpId="0"/>
      <p:bldP spid="20" grpId="1"/>
      <p:bldP spid="21" grpId="0"/>
      <p:bldP spid="21" grpId="1"/>
      <p:bldP spid="22" grpId="0"/>
      <p:bldP spid="22" grpId="1"/>
      <p:bldP spid="23" grpId="0"/>
      <p:bldP spid="23" grpId="1"/>
      <p:bldP spid="24" grpId="0"/>
      <p:bldP spid="2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8010" y="241935"/>
            <a:ext cx="10412730" cy="2388870"/>
          </a:xfrm>
          <a:prstGeom prst="rect">
            <a:avLst/>
          </a:prstGeom>
        </p:spPr>
        <p:txBody>
          <a:bodyPr>
            <a:noAutofit/>
          </a:bodyPr>
          <a:p>
            <a:pPr marL="173355" indent="0" algn="l" defTabSz="266700">
              <a:spcBef>
                <a:spcPts val="500"/>
              </a:spcBef>
              <a:spcAft>
                <a:spcPts val="500"/>
              </a:spcAft>
            </a:pPr>
            <a:r>
              <a:rPr lang="zh-CN" altLang="en-US" sz="2400">
                <a:latin typeface="新宋体" panose="02010609030101010101" pitchFamily="49" charset="-122"/>
                <a:ea typeface="新宋体" panose="02010609030101010101" pitchFamily="49" charset="-122"/>
              </a:rPr>
              <a:t>（</a:t>
            </a:r>
            <a:r>
              <a:rPr lang="en-US" altLang="zh-CN" sz="2400">
                <a:latin typeface="Times New Roman" panose="02020603050405020304"/>
                <a:ea typeface="宋体" panose="02010600030101010101" pitchFamily="2" charset="-122"/>
              </a:rPr>
              <a:t>1</a:t>
            </a:r>
            <a:r>
              <a:rPr lang="zh-CN" altLang="en-US" sz="2400">
                <a:latin typeface="新宋体" panose="02010609030101010101" pitchFamily="49" charset="-122"/>
                <a:ea typeface="新宋体" panose="02010609030101010101" pitchFamily="49" charset="-122"/>
              </a:rPr>
              <a:t>）两文的作者都是</a:t>
            </a:r>
            <a:r>
              <a:rPr lang="en-US" altLang="zh-CN" sz="2400">
                <a:latin typeface="新宋体" panose="02010609030101010101" pitchFamily="49" charset="-122"/>
                <a:ea typeface="新宋体" panose="02010609030101010101" pitchFamily="49" charset="-122"/>
              </a:rPr>
              <a:t> </a:t>
            </a:r>
            <a:r>
              <a:rPr lang="en-US" altLang="zh-CN" sz="2400" u="sng">
                <a:latin typeface="Times New Roman" panose="02020603050405020304"/>
                <a:ea typeface="宋体" panose="02010600030101010101" pitchFamily="2" charset="-122"/>
              </a:rPr>
              <a:t>           </a:t>
            </a:r>
            <a:r>
              <a:rPr lang="zh-CN" altLang="en-US" sz="2400">
                <a:latin typeface="新宋体" panose="02010609030101010101" pitchFamily="49" charset="-122"/>
                <a:ea typeface="新宋体" panose="02010609030101010101" pitchFamily="49" charset="-122"/>
              </a:rPr>
              <a:t>（人名），在甲乙两文中他分别以</a:t>
            </a:r>
            <a:r>
              <a:rPr lang="zh-CN" altLang="en-US" sz="2400">
                <a:latin typeface="Times New Roman" panose="02020603050405020304"/>
                <a:ea typeface="宋体" panose="02010600030101010101" pitchFamily="2" charset="-122"/>
              </a:rPr>
              <a:t>“</a:t>
            </a:r>
            <a:r>
              <a:rPr lang="en-US" altLang="zh-CN" sz="2400" u="sng">
                <a:latin typeface="Times New Roman" panose="02020603050405020304"/>
                <a:ea typeface="宋体" panose="02010600030101010101" pitchFamily="2" charset="-122"/>
              </a:rPr>
              <a:t>        </a:t>
            </a:r>
            <a:r>
              <a:rPr lang="en-US" altLang="zh-CN" sz="2400">
                <a:latin typeface="Times New Roman" panose="02020603050405020304"/>
                <a:ea typeface="宋体" panose="02010600030101010101" pitchFamily="2" charset="-122"/>
              </a:rPr>
              <a:t>”</a:t>
            </a:r>
            <a:r>
              <a:rPr lang="zh-CN" altLang="en-US" sz="2400">
                <a:latin typeface="新宋体" panose="02010609030101010101" pitchFamily="49" charset="-122"/>
                <a:ea typeface="新宋体" panose="02010609030101010101" pitchFamily="49" charset="-122"/>
              </a:rPr>
              <a:t>和</a:t>
            </a:r>
            <a:r>
              <a:rPr lang="zh-CN" altLang="en-US" sz="2400">
                <a:latin typeface="Times New Roman" panose="02020603050405020304"/>
                <a:ea typeface="宋体" panose="02010600030101010101" pitchFamily="2" charset="-122"/>
              </a:rPr>
              <a:t>“</a:t>
            </a:r>
            <a:r>
              <a:rPr lang="en-US" altLang="zh-CN" sz="2400" u="sng">
                <a:latin typeface="Times New Roman" panose="02020603050405020304"/>
                <a:ea typeface="宋体" panose="02010600030101010101" pitchFamily="2" charset="-122"/>
              </a:rPr>
              <a:t>         </a:t>
            </a:r>
            <a:r>
              <a:rPr lang="en-US" altLang="zh-CN" sz="2400">
                <a:latin typeface="Times New Roman" panose="02020603050405020304"/>
                <a:ea typeface="宋体" panose="02010600030101010101" pitchFamily="2" charset="-122"/>
              </a:rPr>
              <a:t>”</a:t>
            </a:r>
            <a:r>
              <a:rPr lang="zh-CN" altLang="en-US" sz="2400">
                <a:latin typeface="新宋体" panose="02010609030101010101" pitchFamily="49" charset="-122"/>
                <a:ea typeface="新宋体" panose="02010609030101010101" pitchFamily="49" charset="-122"/>
              </a:rPr>
              <a:t>自称，体现其官职身份。</a:t>
            </a:r>
            <a:endParaRPr lang="zh-CN" altLang="en-US" sz="2400">
              <a:latin typeface="新宋体" panose="02010609030101010101" pitchFamily="49" charset="-122"/>
              <a:ea typeface="新宋体" panose="02010609030101010101" pitchFamily="49" charset="-122"/>
            </a:endParaRPr>
          </a:p>
          <a:p>
            <a:pPr marL="173355" indent="0" algn="l" defTabSz="266700">
              <a:spcBef>
                <a:spcPts val="500"/>
              </a:spcBef>
              <a:spcAft>
                <a:spcPts val="500"/>
              </a:spcAft>
            </a:pPr>
            <a:endParaRPr lang="zh-CN" altLang="en-US" sz="2400">
              <a:latin typeface="新宋体" panose="02010609030101010101" pitchFamily="49" charset="-122"/>
              <a:ea typeface="新宋体" panose="02010609030101010101" pitchFamily="49" charset="-122"/>
            </a:endParaRPr>
          </a:p>
          <a:p>
            <a:pPr marL="173355" indent="0" algn="l" defTabSz="266700">
              <a:spcBef>
                <a:spcPts val="500"/>
              </a:spcBef>
              <a:spcAft>
                <a:spcPts val="500"/>
              </a:spcAft>
            </a:pPr>
            <a:r>
              <a:rPr lang="zh-CN" altLang="en-US" sz="2400">
                <a:latin typeface="新宋体" panose="02010609030101010101" pitchFamily="49" charset="-122"/>
                <a:ea typeface="新宋体" panose="02010609030101010101" pitchFamily="49" charset="-122"/>
              </a:rPr>
              <a:t>（</a:t>
            </a:r>
            <a:r>
              <a:rPr lang="en-US" altLang="zh-CN" sz="2400">
                <a:latin typeface="Times New Roman" panose="02020603050405020304"/>
                <a:ea typeface="宋体" panose="02010600030101010101" pitchFamily="2" charset="-122"/>
              </a:rPr>
              <a:t>2</a:t>
            </a:r>
            <a:r>
              <a:rPr lang="zh-CN" altLang="en-US" sz="2400">
                <a:latin typeface="新宋体" panose="02010609030101010101" pitchFamily="49" charset="-122"/>
                <a:ea typeface="新宋体" panose="02010609030101010101" pitchFamily="49" charset="-122"/>
              </a:rPr>
              <a:t>）为下列加点词选择最合适的解释。</a:t>
            </a:r>
            <a:endParaRPr lang="zh-CN" altLang="en-US" sz="2400">
              <a:latin typeface="新宋体" panose="02010609030101010101" pitchFamily="49" charset="-122"/>
              <a:ea typeface="新宋体" panose="02010609030101010101" pitchFamily="49" charset="-122"/>
            </a:endParaRPr>
          </a:p>
          <a:p>
            <a:pPr marL="173355" indent="0" algn="l" defTabSz="266700">
              <a:spcBef>
                <a:spcPts val="500"/>
              </a:spcBef>
              <a:spcAft>
                <a:spcPts val="500"/>
              </a:spcAft>
            </a:pPr>
            <a:r>
              <a:rPr lang="en-US" altLang="zh-CN" sz="2400">
                <a:latin typeface="Times New Roman" panose="02020603050405020304"/>
                <a:ea typeface="宋体" panose="02010600030101010101" pitchFamily="2" charset="-122"/>
              </a:rPr>
              <a:t>①</a:t>
            </a:r>
            <a:r>
              <a:rPr lang="zh-CN" altLang="en-US" sz="2400" b="1">
                <a:latin typeface="新宋体" panose="02010609030101010101" pitchFamily="49" charset="-122"/>
                <a:ea typeface="新宋体" panose="02010609030101010101" pitchFamily="49" charset="-122"/>
              </a:rPr>
              <a:t>作</a:t>
            </a:r>
            <a:r>
              <a:rPr lang="zh-CN" altLang="en-US" sz="2400">
                <a:latin typeface="新宋体" panose="02010609030101010101" pitchFamily="49" charset="-122"/>
                <a:ea typeface="新宋体" panose="02010609030101010101" pitchFamily="49" charset="-122"/>
              </a:rPr>
              <a:t>亭者谁</a:t>
            </a:r>
            <a:r>
              <a:rPr lang="en-US" altLang="zh-CN" sz="2400" u="sng">
                <a:latin typeface="Times New Roman" panose="02020603050405020304"/>
                <a:ea typeface="宋体" panose="02010600030101010101" pitchFamily="2" charset="-122"/>
              </a:rPr>
              <a:t>        </a:t>
            </a:r>
            <a:r>
              <a:rPr lang="en-US" altLang="zh-CN" sz="2400">
                <a:latin typeface="Times New Roman" panose="02020603050405020304"/>
                <a:ea typeface="宋体" panose="02010600030101010101" pitchFamily="2" charset="-122"/>
              </a:rPr>
              <a:t>A.</a:t>
            </a:r>
            <a:r>
              <a:rPr lang="zh-CN" altLang="en-US" sz="2400">
                <a:latin typeface="新宋体" panose="02010609030101010101" pitchFamily="49" charset="-122"/>
                <a:ea typeface="新宋体" panose="02010609030101010101" pitchFamily="49" charset="-122"/>
              </a:rPr>
              <a:t>劳作</a:t>
            </a:r>
            <a:r>
              <a:rPr lang="en-US" altLang="zh-CN" sz="2400">
                <a:latin typeface="Times New Roman" panose="02020603050405020304"/>
                <a:ea typeface="宋体" panose="02010600030101010101" pitchFamily="2" charset="-122"/>
              </a:rPr>
              <a:t>B.</a:t>
            </a:r>
            <a:r>
              <a:rPr lang="zh-CN" altLang="en-US" sz="2400">
                <a:latin typeface="新宋体" panose="02010609030101010101" pitchFamily="49" charset="-122"/>
                <a:ea typeface="新宋体" panose="02010609030101010101" pitchFamily="49" charset="-122"/>
              </a:rPr>
              <a:t>建造</a:t>
            </a:r>
            <a:r>
              <a:rPr lang="en-US" altLang="zh-CN" sz="2400">
                <a:latin typeface="Times New Roman" panose="02020603050405020304"/>
                <a:ea typeface="宋体" panose="02010600030101010101" pitchFamily="2" charset="-122"/>
              </a:rPr>
              <a:t>C.</a:t>
            </a:r>
            <a:r>
              <a:rPr lang="zh-CN" altLang="en-US" sz="2400">
                <a:latin typeface="新宋体" panose="02010609030101010101" pitchFamily="49" charset="-122"/>
                <a:ea typeface="新宋体" panose="02010609030101010101" pitchFamily="49" charset="-122"/>
              </a:rPr>
              <a:t>写作</a:t>
            </a:r>
            <a:r>
              <a:rPr lang="en-US" altLang="zh-CN" sz="2400">
                <a:latin typeface="Times New Roman" panose="02020603050405020304"/>
                <a:ea typeface="宋体" panose="02010600030101010101" pitchFamily="2" charset="-122"/>
              </a:rPr>
              <a:t>D.</a:t>
            </a:r>
            <a:r>
              <a:rPr lang="zh-CN" altLang="en-US" sz="2400">
                <a:latin typeface="新宋体" panose="02010609030101010101" pitchFamily="49" charset="-122"/>
                <a:ea typeface="新宋体" panose="02010609030101010101" pitchFamily="49" charset="-122"/>
              </a:rPr>
              <a:t>振作</a:t>
            </a:r>
            <a:endParaRPr lang="zh-CN" altLang="en-US" sz="2400">
              <a:latin typeface="新宋体" panose="02010609030101010101" pitchFamily="49" charset="-122"/>
              <a:ea typeface="新宋体" panose="02010609030101010101" pitchFamily="49" charset="-122"/>
            </a:endParaRPr>
          </a:p>
          <a:p>
            <a:pPr marL="173355" indent="0" algn="l" defTabSz="266700">
              <a:spcBef>
                <a:spcPts val="500"/>
              </a:spcBef>
              <a:spcAft>
                <a:spcPts val="500"/>
              </a:spcAft>
            </a:pPr>
            <a:r>
              <a:rPr lang="en-US" altLang="zh-CN" sz="2400">
                <a:latin typeface="Times New Roman" panose="02020603050405020304"/>
                <a:ea typeface="宋体" panose="02010600030101010101" pitchFamily="2" charset="-122"/>
              </a:rPr>
              <a:t>②</a:t>
            </a:r>
            <a:r>
              <a:rPr lang="zh-CN" altLang="en-US" sz="2400">
                <a:latin typeface="新宋体" panose="02010609030101010101" pitchFamily="49" charset="-122"/>
                <a:ea typeface="新宋体" panose="02010609030101010101" pitchFamily="49" charset="-122"/>
              </a:rPr>
              <a:t>顾而乐之</a:t>
            </a:r>
            <a:r>
              <a:rPr lang="en-US" altLang="zh-CN" sz="2400" u="sng">
                <a:latin typeface="Times New Roman" panose="02020603050405020304"/>
                <a:ea typeface="宋体" panose="02010600030101010101" pitchFamily="2" charset="-122"/>
              </a:rPr>
              <a:t>        </a:t>
            </a:r>
            <a:r>
              <a:rPr lang="en-US" altLang="zh-CN" sz="2400">
                <a:latin typeface="Times New Roman" panose="02020603050405020304"/>
                <a:ea typeface="宋体" panose="02010600030101010101" pitchFamily="2" charset="-122"/>
              </a:rPr>
              <a:t>A.</a:t>
            </a:r>
            <a:r>
              <a:rPr lang="zh-CN" altLang="en-US" sz="2400">
                <a:latin typeface="新宋体" panose="02010609030101010101" pitchFamily="49" charset="-122"/>
                <a:ea typeface="新宋体" panose="02010609030101010101" pitchFamily="49" charset="-122"/>
              </a:rPr>
              <a:t>拜访</a:t>
            </a:r>
            <a:r>
              <a:rPr lang="en-US" altLang="zh-CN" sz="2400">
                <a:latin typeface="Times New Roman" panose="02020603050405020304"/>
                <a:ea typeface="宋体" panose="02010600030101010101" pitchFamily="2" charset="-122"/>
              </a:rPr>
              <a:t>B.</a:t>
            </a:r>
            <a:r>
              <a:rPr lang="zh-CN" altLang="en-US" sz="2400">
                <a:latin typeface="新宋体" panose="02010609030101010101" pitchFamily="49" charset="-122"/>
                <a:ea typeface="新宋体" panose="02010609030101010101" pitchFamily="49" charset="-122"/>
              </a:rPr>
              <a:t>照顾</a:t>
            </a:r>
            <a:r>
              <a:rPr lang="en-US" altLang="zh-CN" sz="2400">
                <a:latin typeface="新宋体" panose="02010609030101010101" pitchFamily="49" charset="-122"/>
                <a:ea typeface="新宋体" panose="02010609030101010101" pitchFamily="49" charset="-122"/>
              </a:rPr>
              <a:t> </a:t>
            </a:r>
            <a:r>
              <a:rPr lang="en-US" altLang="zh-CN" sz="2400">
                <a:latin typeface="Times New Roman" panose="02020603050405020304"/>
                <a:ea typeface="宋体" panose="02010600030101010101" pitchFamily="2" charset="-122"/>
              </a:rPr>
              <a:t>C.</a:t>
            </a:r>
            <a:r>
              <a:rPr lang="zh-CN" altLang="en-US" sz="2400">
                <a:latin typeface="新宋体" panose="02010609030101010101" pitchFamily="49" charset="-122"/>
                <a:ea typeface="新宋体" panose="02010609030101010101" pitchFamily="49" charset="-122"/>
              </a:rPr>
              <a:t>难道</a:t>
            </a:r>
            <a:r>
              <a:rPr lang="en-US" altLang="zh-CN" sz="2400">
                <a:latin typeface="Times New Roman" panose="02020603050405020304"/>
                <a:ea typeface="宋体" panose="02010600030101010101" pitchFamily="2" charset="-122"/>
              </a:rPr>
              <a:t>D.</a:t>
            </a:r>
            <a:r>
              <a:rPr lang="zh-CN" altLang="en-US" sz="2400">
                <a:latin typeface="新宋体" panose="02010609030101010101" pitchFamily="49" charset="-122"/>
                <a:ea typeface="新宋体" panose="02010609030101010101" pitchFamily="49" charset="-122"/>
              </a:rPr>
              <a:t>环顾</a:t>
            </a:r>
            <a:endParaRPr lang="zh-CN" altLang="en-US" sz="2400">
              <a:latin typeface="新宋体" panose="02010609030101010101" pitchFamily="49" charset="-122"/>
              <a:ea typeface="新宋体" panose="02010609030101010101" pitchFamily="49" charset="-122"/>
            </a:endParaRPr>
          </a:p>
        </p:txBody>
      </p:sp>
      <p:sp>
        <p:nvSpPr>
          <p:cNvPr id="3" name="文本框 2"/>
          <p:cNvSpPr txBox="1"/>
          <p:nvPr/>
        </p:nvSpPr>
        <p:spPr>
          <a:xfrm>
            <a:off x="841375" y="2868930"/>
            <a:ext cx="10618470" cy="3119755"/>
          </a:xfrm>
          <a:prstGeom prst="rect">
            <a:avLst/>
          </a:prstGeom>
        </p:spPr>
        <p:txBody>
          <a:bodyPr>
            <a:noAutofit/>
          </a:bodyPr>
          <a:p>
            <a:pPr marL="173355" indent="0" algn="l" defTabSz="266700">
              <a:spcBef>
                <a:spcPts val="500"/>
              </a:spcBef>
              <a:spcAft>
                <a:spcPts val="500"/>
              </a:spcAft>
            </a:pPr>
            <a:endParaRPr lang="zh-CN" altLang="en-US" sz="2400">
              <a:latin typeface="新宋体" panose="02010609030101010101" pitchFamily="49" charset="-122"/>
              <a:ea typeface="新宋体" panose="02010609030101010101" pitchFamily="49" charset="-122"/>
            </a:endParaRPr>
          </a:p>
          <a:p>
            <a:pPr marL="173355" indent="0" algn="l" defTabSz="266700">
              <a:spcBef>
                <a:spcPts val="500"/>
              </a:spcBef>
              <a:spcAft>
                <a:spcPts val="500"/>
              </a:spcAft>
            </a:pPr>
            <a:r>
              <a:rPr lang="zh-CN" altLang="en-US" sz="2400">
                <a:latin typeface="新宋体" panose="02010609030101010101" pitchFamily="49" charset="-122"/>
                <a:ea typeface="新宋体" panose="02010609030101010101" pitchFamily="49" charset="-122"/>
              </a:rPr>
              <a:t>（</a:t>
            </a:r>
            <a:r>
              <a:rPr lang="en-US" altLang="zh-CN" sz="2400">
                <a:latin typeface="Times New Roman" panose="02020603050405020304"/>
                <a:ea typeface="宋体" panose="02010600030101010101" pitchFamily="2" charset="-122"/>
              </a:rPr>
              <a:t>3</a:t>
            </a:r>
            <a:r>
              <a:rPr lang="zh-CN" altLang="en-US" sz="2400">
                <a:latin typeface="新宋体" panose="02010609030101010101" pitchFamily="49" charset="-122"/>
                <a:ea typeface="新宋体" panose="02010609030101010101" pitchFamily="49" charset="-122"/>
              </a:rPr>
              <a:t>）与</a:t>
            </a:r>
            <a:r>
              <a:rPr lang="zh-CN" altLang="en-US" sz="2400">
                <a:latin typeface="Times New Roman" panose="02020603050405020304"/>
                <a:ea typeface="宋体" panose="02010600030101010101" pitchFamily="2" charset="-122"/>
              </a:rPr>
              <a:t>“</a:t>
            </a:r>
            <a:r>
              <a:rPr lang="zh-CN" altLang="en-US" sz="2400">
                <a:latin typeface="新宋体" panose="02010609030101010101" pitchFamily="49" charset="-122"/>
                <a:ea typeface="新宋体" panose="02010609030101010101" pitchFamily="49" charset="-122"/>
              </a:rPr>
              <a:t>而不知太守之</a:t>
            </a:r>
            <a:r>
              <a:rPr lang="zh-CN" altLang="en-US" sz="2400" b="1">
                <a:latin typeface="新宋体" panose="02010609030101010101" pitchFamily="49" charset="-122"/>
                <a:ea typeface="新宋体" panose="02010609030101010101" pitchFamily="49" charset="-122"/>
              </a:rPr>
              <a:t>乐</a:t>
            </a:r>
            <a:r>
              <a:rPr lang="zh-CN" altLang="en-US" sz="2400">
                <a:latin typeface="新宋体" panose="02010609030101010101" pitchFamily="49" charset="-122"/>
                <a:ea typeface="新宋体" panose="02010609030101010101" pitchFamily="49" charset="-122"/>
              </a:rPr>
              <a:t>其乐也</a:t>
            </a:r>
            <a:r>
              <a:rPr lang="zh-CN" altLang="en-US" sz="2400">
                <a:latin typeface="Times New Roman" panose="02020603050405020304"/>
                <a:ea typeface="宋体" panose="02010600030101010101" pitchFamily="2" charset="-122"/>
              </a:rPr>
              <a:t>”</a:t>
            </a:r>
            <a:r>
              <a:rPr lang="zh-CN" altLang="en-US" sz="2400">
                <a:latin typeface="新宋体" panose="02010609030101010101" pitchFamily="49" charset="-122"/>
                <a:ea typeface="新宋体" panose="02010609030101010101" pitchFamily="49" charset="-122"/>
              </a:rPr>
              <a:t>中加点的</a:t>
            </a:r>
            <a:r>
              <a:rPr lang="zh-CN" altLang="en-US" sz="2400">
                <a:latin typeface="Times New Roman" panose="02020603050405020304"/>
                <a:ea typeface="宋体" panose="02010600030101010101" pitchFamily="2" charset="-122"/>
              </a:rPr>
              <a:t>“</a:t>
            </a:r>
            <a:r>
              <a:rPr lang="zh-CN" altLang="en-US" sz="2400">
                <a:latin typeface="新宋体" panose="02010609030101010101" pitchFamily="49" charset="-122"/>
                <a:ea typeface="新宋体" panose="02010609030101010101" pitchFamily="49" charset="-122"/>
              </a:rPr>
              <a:t>乐</a:t>
            </a:r>
            <a:r>
              <a:rPr lang="zh-CN" altLang="en-US" sz="2400">
                <a:latin typeface="Times New Roman" panose="02020603050405020304"/>
                <a:ea typeface="宋体" panose="02010600030101010101" pitchFamily="2" charset="-122"/>
              </a:rPr>
              <a:t>”</a:t>
            </a:r>
            <a:r>
              <a:rPr lang="zh-CN" altLang="en-US" sz="2400">
                <a:latin typeface="新宋体" panose="02010609030101010101" pitchFamily="49" charset="-122"/>
                <a:ea typeface="新宋体" panose="02010609030101010101" pitchFamily="49" charset="-122"/>
              </a:rPr>
              <a:t>字用法相同的一项是</a:t>
            </a:r>
            <a:r>
              <a:rPr lang="en-US" altLang="zh-CN" sz="2400">
                <a:latin typeface="新宋体" panose="02010609030101010101" pitchFamily="49" charset="-122"/>
                <a:ea typeface="新宋体" panose="02010609030101010101" pitchFamily="49" charset="-122"/>
              </a:rPr>
              <a:t> </a:t>
            </a:r>
            <a:r>
              <a:rPr lang="en-US" altLang="zh-CN" sz="2400" u="sng">
                <a:latin typeface="Times New Roman" panose="02020603050405020304"/>
                <a:ea typeface="宋体" panose="02010600030101010101" pitchFamily="2" charset="-122"/>
              </a:rPr>
              <a:t>          </a:t>
            </a:r>
            <a:endParaRPr lang="en-US" altLang="zh-CN" sz="2400" u="sng">
              <a:latin typeface="Times New Roman" panose="02020603050405020304"/>
              <a:ea typeface="宋体" panose="02010600030101010101" pitchFamily="2" charset="-122"/>
            </a:endParaRPr>
          </a:p>
          <a:p>
            <a:pPr marL="173355" indent="0" algn="l" defTabSz="266700">
              <a:spcBef>
                <a:spcPts val="500"/>
              </a:spcBef>
              <a:spcAft>
                <a:spcPts val="500"/>
              </a:spcAft>
            </a:pPr>
            <a:r>
              <a:rPr lang="en-US" altLang="zh-CN" sz="2400">
                <a:latin typeface="Times New Roman" panose="02020603050405020304"/>
                <a:ea typeface="宋体" panose="02010600030101010101" pitchFamily="2" charset="-122"/>
              </a:rPr>
              <a:t>A.</a:t>
            </a:r>
            <a:r>
              <a:rPr lang="zh-CN" altLang="en-US" sz="2400">
                <a:latin typeface="新宋体" panose="02010609030101010101" pitchFamily="49" charset="-122"/>
                <a:ea typeface="新宋体" panose="02010609030101010101" pitchFamily="49" charset="-122"/>
              </a:rPr>
              <a:t>山水之</a:t>
            </a:r>
            <a:r>
              <a:rPr lang="zh-CN" altLang="en-US" sz="2400" b="1">
                <a:latin typeface="新宋体" panose="02010609030101010101" pitchFamily="49" charset="-122"/>
                <a:ea typeface="新宋体" panose="02010609030101010101" pitchFamily="49" charset="-122"/>
              </a:rPr>
              <a:t>乐</a:t>
            </a:r>
            <a:r>
              <a:rPr lang="en-US" altLang="zh-CN" sz="2400">
                <a:latin typeface="新宋体" panose="02010609030101010101" pitchFamily="49" charset="-122"/>
                <a:ea typeface="新宋体" panose="02010609030101010101" pitchFamily="49" charset="-122"/>
              </a:rPr>
              <a:t>   </a:t>
            </a:r>
            <a:r>
              <a:rPr lang="en-US" altLang="zh-CN" sz="2400">
                <a:latin typeface="Times New Roman" panose="02020603050405020304"/>
                <a:ea typeface="宋体" panose="02010600030101010101" pitchFamily="2" charset="-122"/>
              </a:rPr>
              <a:t>B.</a:t>
            </a:r>
            <a:r>
              <a:rPr lang="zh-CN" altLang="en-US" sz="2400">
                <a:latin typeface="新宋体" panose="02010609030101010101" pitchFamily="49" charset="-122"/>
                <a:ea typeface="新宋体" panose="02010609030101010101" pitchFamily="49" charset="-122"/>
              </a:rPr>
              <a:t>顾而</a:t>
            </a:r>
            <a:r>
              <a:rPr lang="zh-CN" altLang="en-US" sz="2400" b="1">
                <a:latin typeface="新宋体" panose="02010609030101010101" pitchFamily="49" charset="-122"/>
                <a:ea typeface="新宋体" panose="02010609030101010101" pitchFamily="49" charset="-122"/>
              </a:rPr>
              <a:t>乐</a:t>
            </a:r>
            <a:r>
              <a:rPr lang="zh-CN" altLang="en-US" sz="2400">
                <a:latin typeface="新宋体" panose="02010609030101010101" pitchFamily="49" charset="-122"/>
                <a:ea typeface="新宋体" panose="02010609030101010101" pitchFamily="49" charset="-122"/>
              </a:rPr>
              <a:t>之</a:t>
            </a:r>
            <a:r>
              <a:rPr lang="en-US" altLang="zh-CN" sz="2400">
                <a:latin typeface="新宋体" panose="02010609030101010101" pitchFamily="49" charset="-122"/>
                <a:ea typeface="新宋体" panose="02010609030101010101" pitchFamily="49" charset="-122"/>
              </a:rPr>
              <a:t>    </a:t>
            </a:r>
            <a:r>
              <a:rPr lang="en-US" altLang="zh-CN" sz="2400">
                <a:latin typeface="Times New Roman" panose="02020603050405020304"/>
                <a:ea typeface="宋体" panose="02010600030101010101" pitchFamily="2" charset="-122"/>
              </a:rPr>
              <a:t>C.</a:t>
            </a:r>
            <a:r>
              <a:rPr lang="zh-CN" altLang="en-US" sz="2400">
                <a:latin typeface="新宋体" panose="02010609030101010101" pitchFamily="49" charset="-122"/>
                <a:ea typeface="新宋体" panose="02010609030101010101" pitchFamily="49" charset="-122"/>
              </a:rPr>
              <a:t>又幸其民</a:t>
            </a:r>
            <a:r>
              <a:rPr lang="zh-CN" altLang="en-US" sz="2400" b="1">
                <a:latin typeface="新宋体" panose="02010609030101010101" pitchFamily="49" charset="-122"/>
                <a:ea typeface="新宋体" panose="02010609030101010101" pitchFamily="49" charset="-122"/>
              </a:rPr>
              <a:t>乐</a:t>
            </a:r>
            <a:r>
              <a:rPr lang="zh-CN" altLang="en-US" sz="2400">
                <a:latin typeface="新宋体" panose="02010609030101010101" pitchFamily="49" charset="-122"/>
                <a:ea typeface="新宋体" panose="02010609030101010101" pitchFamily="49" charset="-122"/>
              </a:rPr>
              <a:t>其岁物之丰成</a:t>
            </a:r>
            <a:r>
              <a:rPr lang="en-US" altLang="zh-CN" sz="2400">
                <a:latin typeface="新宋体" panose="02010609030101010101" pitchFamily="49" charset="-122"/>
                <a:ea typeface="新宋体" panose="02010609030101010101" pitchFamily="49" charset="-122"/>
              </a:rPr>
              <a:t>    </a:t>
            </a:r>
            <a:r>
              <a:rPr lang="en-US" altLang="zh-CN" sz="2400">
                <a:latin typeface="Times New Roman" panose="02020603050405020304"/>
                <a:ea typeface="宋体" panose="02010600030101010101" pitchFamily="2" charset="-122"/>
              </a:rPr>
              <a:t>D.</a:t>
            </a:r>
            <a:r>
              <a:rPr lang="zh-CN" altLang="en-US" sz="2400">
                <a:latin typeface="新宋体" panose="02010609030101010101" pitchFamily="49" charset="-122"/>
                <a:ea typeface="新宋体" panose="02010609030101010101" pitchFamily="49" charset="-122"/>
              </a:rPr>
              <a:t>以与民共</a:t>
            </a:r>
            <a:r>
              <a:rPr lang="zh-CN" altLang="en-US" sz="2400" b="1">
                <a:latin typeface="新宋体" panose="02010609030101010101" pitchFamily="49" charset="-122"/>
                <a:ea typeface="新宋体" panose="02010609030101010101" pitchFamily="49" charset="-122"/>
              </a:rPr>
              <a:t>乐</a:t>
            </a:r>
            <a:endParaRPr lang="zh-CN" altLang="en-US" sz="2400">
              <a:latin typeface="新宋体" panose="02010609030101010101" pitchFamily="49" charset="-122"/>
              <a:ea typeface="新宋体" panose="02010609030101010101" pitchFamily="49" charset="-122"/>
            </a:endParaRPr>
          </a:p>
          <a:p>
            <a:pPr marL="173355" indent="0" algn="l" defTabSz="266700">
              <a:spcBef>
                <a:spcPts val="500"/>
              </a:spcBef>
              <a:spcAft>
                <a:spcPts val="500"/>
              </a:spcAft>
            </a:pPr>
            <a:endParaRPr lang="zh-CN" altLang="en-US" sz="2400">
              <a:latin typeface="新宋体" panose="02010609030101010101" pitchFamily="49" charset="-122"/>
              <a:ea typeface="新宋体" panose="02010609030101010101" pitchFamily="49" charset="-122"/>
            </a:endParaRPr>
          </a:p>
          <a:p>
            <a:pPr marL="173355" indent="0" algn="l" defTabSz="266700">
              <a:spcBef>
                <a:spcPts val="500"/>
              </a:spcBef>
              <a:spcAft>
                <a:spcPts val="500"/>
              </a:spcAft>
            </a:pPr>
            <a:r>
              <a:rPr lang="zh-CN" altLang="en-US" sz="2400">
                <a:latin typeface="新宋体" panose="02010609030101010101" pitchFamily="49" charset="-122"/>
                <a:ea typeface="新宋体" panose="02010609030101010101" pitchFamily="49" charset="-122"/>
              </a:rPr>
              <a:t>（</a:t>
            </a:r>
            <a:r>
              <a:rPr lang="en-US" altLang="zh-CN" sz="2400">
                <a:latin typeface="Times New Roman" panose="02020603050405020304"/>
                <a:ea typeface="宋体" panose="02010600030101010101" pitchFamily="2" charset="-122"/>
              </a:rPr>
              <a:t>4</a:t>
            </a:r>
            <a:r>
              <a:rPr lang="zh-CN" altLang="en-US" sz="2400">
                <a:latin typeface="新宋体" panose="02010609030101010101" pitchFamily="49" charset="-122"/>
                <a:ea typeface="新宋体" panose="02010609030101010101" pitchFamily="49" charset="-122"/>
              </a:rPr>
              <a:t>）用现代汉语翻译甲文画线句。</a:t>
            </a:r>
            <a:endParaRPr lang="zh-CN" altLang="en-US" sz="2400">
              <a:latin typeface="新宋体" panose="02010609030101010101" pitchFamily="49" charset="-122"/>
              <a:ea typeface="新宋体" panose="02010609030101010101" pitchFamily="49" charset="-122"/>
            </a:endParaRPr>
          </a:p>
          <a:p>
            <a:pPr marL="173355" indent="0" algn="l" defTabSz="266700">
              <a:spcBef>
                <a:spcPts val="500"/>
              </a:spcBef>
              <a:spcAft>
                <a:spcPts val="500"/>
              </a:spcAft>
            </a:pPr>
            <a:r>
              <a:rPr lang="zh-CN" altLang="en-US" sz="2400">
                <a:latin typeface="新宋体" panose="02010609030101010101" pitchFamily="49" charset="-122"/>
                <a:ea typeface="新宋体" panose="02010609030101010101" pitchFamily="49" charset="-122"/>
              </a:rPr>
              <a:t>有亭翼然临于泉上者，醉翁亭也。</a:t>
            </a:r>
            <a:r>
              <a:rPr lang="en-US" altLang="zh-CN" sz="2400">
                <a:latin typeface="新宋体" panose="02010609030101010101" pitchFamily="49" charset="-122"/>
                <a:ea typeface="新宋体" panose="02010609030101010101" pitchFamily="49" charset="-122"/>
              </a:rPr>
              <a:t>_____________________________________________</a:t>
            </a:r>
            <a:endParaRPr lang="en-US" altLang="zh-CN" sz="2400">
              <a:latin typeface="新宋体" panose="02010609030101010101" pitchFamily="49" charset="-122"/>
              <a:ea typeface="新宋体" panose="02010609030101010101" pitchFamily="49" charset="-122"/>
            </a:endParaRPr>
          </a:p>
        </p:txBody>
      </p:sp>
      <p:sp>
        <p:nvSpPr>
          <p:cNvPr id="10" name="文本框 9"/>
          <p:cNvSpPr txBox="1"/>
          <p:nvPr/>
        </p:nvSpPr>
        <p:spPr>
          <a:xfrm>
            <a:off x="3744595" y="241935"/>
            <a:ext cx="1936115" cy="335915"/>
          </a:xfrm>
          <a:prstGeom prst="rect">
            <a:avLst/>
          </a:prstGeom>
          <a:noFill/>
        </p:spPr>
        <p:txBody>
          <a:bodyPr wrap="square" rtlCol="0">
            <a:noAutofit/>
          </a:bodyPr>
          <a:p>
            <a:r>
              <a:rPr lang="zh-CN" altLang="en-US" sz="2000" b="1">
                <a:solidFill>
                  <a:srgbClr val="FF0000"/>
                </a:solidFill>
              </a:rPr>
              <a:t>欧阳修</a:t>
            </a:r>
            <a:endParaRPr lang="zh-CN" altLang="en-US" sz="2000" b="1">
              <a:solidFill>
                <a:srgbClr val="FF0000"/>
              </a:solidFill>
            </a:endParaRPr>
          </a:p>
        </p:txBody>
      </p:sp>
      <p:sp>
        <p:nvSpPr>
          <p:cNvPr id="4" name="文本框 3"/>
          <p:cNvSpPr txBox="1"/>
          <p:nvPr/>
        </p:nvSpPr>
        <p:spPr>
          <a:xfrm>
            <a:off x="9523095" y="241935"/>
            <a:ext cx="1936115" cy="335915"/>
          </a:xfrm>
          <a:prstGeom prst="rect">
            <a:avLst/>
          </a:prstGeom>
          <a:noFill/>
        </p:spPr>
        <p:txBody>
          <a:bodyPr wrap="square" rtlCol="0">
            <a:noAutofit/>
          </a:bodyPr>
          <a:p>
            <a:r>
              <a:rPr lang="zh-CN" altLang="en-US" sz="2000" b="1">
                <a:solidFill>
                  <a:srgbClr val="FF0000"/>
                </a:solidFill>
              </a:rPr>
              <a:t>太守</a:t>
            </a:r>
            <a:endParaRPr lang="zh-CN" altLang="en-US" sz="2000" b="1">
              <a:solidFill>
                <a:srgbClr val="FF0000"/>
              </a:solidFill>
            </a:endParaRPr>
          </a:p>
        </p:txBody>
      </p:sp>
      <p:sp>
        <p:nvSpPr>
          <p:cNvPr id="5" name="文本框 4"/>
          <p:cNvSpPr txBox="1"/>
          <p:nvPr/>
        </p:nvSpPr>
        <p:spPr>
          <a:xfrm>
            <a:off x="1053465" y="645795"/>
            <a:ext cx="1936115" cy="335915"/>
          </a:xfrm>
          <a:prstGeom prst="rect">
            <a:avLst/>
          </a:prstGeom>
          <a:noFill/>
        </p:spPr>
        <p:txBody>
          <a:bodyPr wrap="square" rtlCol="0">
            <a:noAutofit/>
          </a:bodyPr>
          <a:p>
            <a:r>
              <a:rPr lang="zh-CN" altLang="en-US" sz="2000" b="1">
                <a:solidFill>
                  <a:srgbClr val="FF0000"/>
                </a:solidFill>
              </a:rPr>
              <a:t>刺史</a:t>
            </a:r>
            <a:endParaRPr lang="zh-CN" altLang="en-US" sz="2000" b="1">
              <a:solidFill>
                <a:srgbClr val="FF0000"/>
              </a:solidFill>
            </a:endParaRPr>
          </a:p>
        </p:txBody>
      </p:sp>
      <p:sp>
        <p:nvSpPr>
          <p:cNvPr id="6" name="文本框 5"/>
          <p:cNvSpPr txBox="1"/>
          <p:nvPr/>
        </p:nvSpPr>
        <p:spPr>
          <a:xfrm>
            <a:off x="1447165" y="3743325"/>
            <a:ext cx="1936115" cy="335915"/>
          </a:xfrm>
          <a:prstGeom prst="rect">
            <a:avLst/>
          </a:prstGeom>
          <a:noFill/>
        </p:spPr>
        <p:txBody>
          <a:bodyPr wrap="square" rtlCol="0">
            <a:noAutofit/>
          </a:bodyPr>
          <a:p>
            <a:pPr indent="457200"/>
            <a:r>
              <a:rPr lang="en-US" altLang="zh-CN" sz="2000" b="1">
                <a:solidFill>
                  <a:srgbClr val="FF0000"/>
                </a:solidFill>
              </a:rPr>
              <a:t>C</a:t>
            </a:r>
            <a:endParaRPr lang="en-US" altLang="zh-CN" sz="2000" b="1">
              <a:solidFill>
                <a:srgbClr val="FF0000"/>
              </a:solidFill>
            </a:endParaRPr>
          </a:p>
        </p:txBody>
      </p:sp>
      <p:sp>
        <p:nvSpPr>
          <p:cNvPr id="7" name="文本框 6"/>
          <p:cNvSpPr txBox="1"/>
          <p:nvPr/>
        </p:nvSpPr>
        <p:spPr>
          <a:xfrm>
            <a:off x="1808480" y="4631055"/>
            <a:ext cx="1936115" cy="335915"/>
          </a:xfrm>
          <a:prstGeom prst="rect">
            <a:avLst/>
          </a:prstGeom>
          <a:noFill/>
        </p:spPr>
        <p:txBody>
          <a:bodyPr wrap="square" rtlCol="0">
            <a:noAutofit/>
          </a:bodyPr>
          <a:p>
            <a:r>
              <a:rPr lang="zh-CN" altLang="en-US" sz="2000" b="1">
                <a:solidFill>
                  <a:srgbClr val="FF0000"/>
                </a:solidFill>
              </a:rPr>
              <a:t>乐趣</a:t>
            </a:r>
            <a:endParaRPr lang="zh-CN" altLang="en-US" sz="2000" b="1">
              <a:solidFill>
                <a:srgbClr val="FF0000"/>
              </a:solidFill>
            </a:endParaRPr>
          </a:p>
        </p:txBody>
      </p:sp>
      <p:sp>
        <p:nvSpPr>
          <p:cNvPr id="8" name="文本框 7"/>
          <p:cNvSpPr txBox="1"/>
          <p:nvPr/>
        </p:nvSpPr>
        <p:spPr>
          <a:xfrm>
            <a:off x="2411095" y="2083435"/>
            <a:ext cx="1936115" cy="335915"/>
          </a:xfrm>
          <a:prstGeom prst="rect">
            <a:avLst/>
          </a:prstGeom>
          <a:noFill/>
        </p:spPr>
        <p:txBody>
          <a:bodyPr wrap="square" rtlCol="0">
            <a:noAutofit/>
          </a:bodyPr>
          <a:p>
            <a:r>
              <a:rPr lang="en-US" altLang="zh-CN" sz="2000" b="1">
                <a:solidFill>
                  <a:srgbClr val="FF0000"/>
                </a:solidFill>
              </a:rPr>
              <a:t>B</a:t>
            </a:r>
            <a:endParaRPr lang="en-US" altLang="zh-CN" sz="2000" b="1">
              <a:solidFill>
                <a:srgbClr val="FF0000"/>
              </a:solidFill>
            </a:endParaRPr>
          </a:p>
        </p:txBody>
      </p:sp>
      <p:sp>
        <p:nvSpPr>
          <p:cNvPr id="9" name="文本框 8"/>
          <p:cNvSpPr txBox="1"/>
          <p:nvPr/>
        </p:nvSpPr>
        <p:spPr>
          <a:xfrm>
            <a:off x="3606800" y="4631055"/>
            <a:ext cx="1936115" cy="335915"/>
          </a:xfrm>
          <a:prstGeom prst="rect">
            <a:avLst/>
          </a:prstGeom>
          <a:noFill/>
        </p:spPr>
        <p:txBody>
          <a:bodyPr wrap="square" rtlCol="0">
            <a:noAutofit/>
          </a:bodyPr>
          <a:p>
            <a:r>
              <a:rPr lang="zh-CN" altLang="en-US" sz="2000" b="1">
                <a:solidFill>
                  <a:srgbClr val="FF0000"/>
                </a:solidFill>
              </a:rPr>
              <a:t>喜爱</a:t>
            </a:r>
            <a:endParaRPr lang="zh-CN" altLang="en-US" sz="2000" b="1">
              <a:solidFill>
                <a:srgbClr val="FF0000"/>
              </a:solidFill>
            </a:endParaRPr>
          </a:p>
        </p:txBody>
      </p:sp>
      <p:sp>
        <p:nvSpPr>
          <p:cNvPr id="11" name="文本框 10"/>
          <p:cNvSpPr txBox="1"/>
          <p:nvPr/>
        </p:nvSpPr>
        <p:spPr>
          <a:xfrm>
            <a:off x="10781665" y="4631055"/>
            <a:ext cx="1147445" cy="335280"/>
          </a:xfrm>
          <a:prstGeom prst="rect">
            <a:avLst/>
          </a:prstGeom>
          <a:noFill/>
        </p:spPr>
        <p:txBody>
          <a:bodyPr wrap="square" rtlCol="0">
            <a:noAutofit/>
          </a:bodyPr>
          <a:p>
            <a:r>
              <a:rPr lang="zh-CN" altLang="en-US" sz="2000" b="1">
                <a:solidFill>
                  <a:srgbClr val="FF0000"/>
                </a:solidFill>
              </a:rPr>
              <a:t>欢乐</a:t>
            </a:r>
            <a:endParaRPr lang="zh-CN" altLang="en-US" sz="2000" b="1">
              <a:solidFill>
                <a:srgbClr val="FF0000"/>
              </a:solidFill>
            </a:endParaRPr>
          </a:p>
        </p:txBody>
      </p:sp>
      <p:sp>
        <p:nvSpPr>
          <p:cNvPr id="12" name="文本框 11"/>
          <p:cNvSpPr txBox="1"/>
          <p:nvPr/>
        </p:nvSpPr>
        <p:spPr>
          <a:xfrm>
            <a:off x="6440805" y="4631055"/>
            <a:ext cx="1936115" cy="335915"/>
          </a:xfrm>
          <a:prstGeom prst="rect">
            <a:avLst/>
          </a:prstGeom>
          <a:noFill/>
        </p:spPr>
        <p:txBody>
          <a:bodyPr wrap="square" rtlCol="0">
            <a:noAutofit/>
          </a:bodyPr>
          <a:p>
            <a:r>
              <a:rPr lang="zh-CN" altLang="en-US" sz="2000" b="1">
                <a:solidFill>
                  <a:srgbClr val="FF0000"/>
                </a:solidFill>
              </a:rPr>
              <a:t>以</a:t>
            </a:r>
            <a:r>
              <a:rPr lang="en-US" altLang="zh-CN" sz="2000" b="1">
                <a:solidFill>
                  <a:srgbClr val="FF0000"/>
                </a:solidFill>
              </a:rPr>
              <a:t>...</a:t>
            </a:r>
            <a:r>
              <a:rPr lang="zh-CN" altLang="en-US" sz="2000" b="1">
                <a:solidFill>
                  <a:srgbClr val="FF0000"/>
                </a:solidFill>
              </a:rPr>
              <a:t>为</a:t>
            </a:r>
            <a:r>
              <a:rPr lang="zh-CN" altLang="en-US" sz="2000" b="1">
                <a:solidFill>
                  <a:srgbClr val="FF0000"/>
                </a:solidFill>
              </a:rPr>
              <a:t>乐</a:t>
            </a:r>
            <a:endParaRPr lang="zh-CN" altLang="en-US" sz="2000" b="1">
              <a:solidFill>
                <a:srgbClr val="FF0000"/>
              </a:solidFill>
            </a:endParaRPr>
          </a:p>
        </p:txBody>
      </p:sp>
      <p:sp>
        <p:nvSpPr>
          <p:cNvPr id="13" name="文本框 12"/>
          <p:cNvSpPr txBox="1"/>
          <p:nvPr/>
        </p:nvSpPr>
        <p:spPr>
          <a:xfrm>
            <a:off x="937260" y="6057265"/>
            <a:ext cx="8840470" cy="716280"/>
          </a:xfrm>
          <a:prstGeom prst="rect">
            <a:avLst/>
          </a:prstGeom>
          <a:noFill/>
        </p:spPr>
        <p:txBody>
          <a:bodyPr wrap="square" rtlCol="0">
            <a:noAutofit/>
          </a:bodyPr>
          <a:p>
            <a:r>
              <a:rPr lang="zh-CN" altLang="en-US" sz="2000" b="1">
                <a:solidFill>
                  <a:srgbClr val="FF0000"/>
                </a:solidFill>
              </a:rPr>
              <a:t>有一座亭子，檐角翘起像鸟儿张开翅膀一样，高踞</a:t>
            </a:r>
            <a:r>
              <a:rPr lang="zh-CN" altLang="en-US" sz="2000" b="1">
                <a:solidFill>
                  <a:srgbClr val="FF0000"/>
                </a:solidFill>
              </a:rPr>
              <a:t>于泉水之上的，是</a:t>
            </a:r>
            <a:r>
              <a:rPr lang="zh-CN" altLang="en-US" sz="2000" b="1">
                <a:solidFill>
                  <a:srgbClr val="FF0000"/>
                </a:solidFill>
              </a:rPr>
              <a:t>醉翁亭。</a:t>
            </a:r>
            <a:endParaRPr lang="zh-CN" altLang="en-US" sz="2000" b="1">
              <a:solidFill>
                <a:srgbClr val="FF0000"/>
              </a:solidFill>
            </a:endParaRPr>
          </a:p>
        </p:txBody>
      </p:sp>
      <p:sp>
        <p:nvSpPr>
          <p:cNvPr id="14" name="文本框 13"/>
          <p:cNvSpPr txBox="1"/>
          <p:nvPr/>
        </p:nvSpPr>
        <p:spPr>
          <a:xfrm>
            <a:off x="2077720" y="2646680"/>
            <a:ext cx="1936115" cy="335915"/>
          </a:xfrm>
          <a:prstGeom prst="rect">
            <a:avLst/>
          </a:prstGeom>
          <a:noFill/>
        </p:spPr>
        <p:txBody>
          <a:bodyPr wrap="square" rtlCol="0">
            <a:noAutofit/>
          </a:bodyPr>
          <a:p>
            <a:pPr indent="457200"/>
            <a:r>
              <a:rPr lang="en-US" altLang="zh-CN" sz="2000" b="1">
                <a:solidFill>
                  <a:srgbClr val="FF0000"/>
                </a:solidFill>
              </a:rPr>
              <a:t>D</a:t>
            </a:r>
            <a:endParaRPr lang="en-US" altLang="zh-CN" sz="20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ppt_x"/>
                                          </p:val>
                                        </p:tav>
                                        <p:tav tm="100000">
                                          <p:val>
                                            <p:strVal val="#ppt_x"/>
                                          </p:val>
                                        </p:tav>
                                      </p:tavLst>
                                    </p:anim>
                                    <p:anim calcmode="lin" valueType="num">
                                      <p:cBhvr additive="base">
                                        <p:cTn id="5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anim calcmode="lin" valueType="num">
                                      <p:cBhvr additive="base">
                                        <p:cTn id="61" dur="500" fill="hold"/>
                                        <p:tgtEl>
                                          <p:spTgt spid="11"/>
                                        </p:tgtEl>
                                        <p:attrNameLst>
                                          <p:attrName>ppt_x</p:attrName>
                                        </p:attrNameLst>
                                      </p:cBhvr>
                                      <p:tavLst>
                                        <p:tav tm="0">
                                          <p:val>
                                            <p:strVal val="#ppt_x"/>
                                          </p:val>
                                        </p:tav>
                                        <p:tav tm="100000">
                                          <p:val>
                                            <p:strVal val="#ppt_x"/>
                                          </p:val>
                                        </p:tav>
                                      </p:tavLst>
                                    </p:anim>
                                    <p:anim calcmode="lin" valueType="num">
                                      <p:cBhvr additive="base">
                                        <p:cTn id="6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additive="base">
                                        <p:cTn id="67" dur="500" fill="hold"/>
                                        <p:tgtEl>
                                          <p:spTgt spid="13"/>
                                        </p:tgtEl>
                                        <p:attrNameLst>
                                          <p:attrName>ppt_x</p:attrName>
                                        </p:attrNameLst>
                                      </p:cBhvr>
                                      <p:tavLst>
                                        <p:tav tm="0">
                                          <p:val>
                                            <p:strVal val="#ppt_x"/>
                                          </p:val>
                                        </p:tav>
                                        <p:tav tm="100000">
                                          <p:val>
                                            <p:strVal val="#ppt_x"/>
                                          </p:val>
                                        </p:tav>
                                      </p:tavLst>
                                    </p:anim>
                                    <p:anim calcmode="lin" valueType="num">
                                      <p:cBhvr additive="base">
                                        <p:cTn id="6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4" grpId="0"/>
      <p:bldP spid="4" grpId="1"/>
      <p:bldP spid="5" grpId="0"/>
      <p:bldP spid="5" grpId="1"/>
      <p:bldP spid="8" grpId="0"/>
      <p:bldP spid="8" grpId="1"/>
      <p:bldP spid="14" grpId="0"/>
      <p:bldP spid="14" grpId="1"/>
      <p:bldP spid="6" grpId="0"/>
      <p:bldP spid="6" grpId="1"/>
      <p:bldP spid="7" grpId="0"/>
      <p:bldP spid="7" grpId="1"/>
      <p:bldP spid="9" grpId="0"/>
      <p:bldP spid="9" grpId="1"/>
      <p:bldP spid="12" grpId="0"/>
      <p:bldP spid="12" grpId="1"/>
      <p:bldP spid="11" grpId="0"/>
      <p:bldP spid="11" grpId="1"/>
      <p:bldP spid="13" grpId="0"/>
      <p:bldP spid="13"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8010" y="241935"/>
            <a:ext cx="10412730" cy="3684905"/>
          </a:xfrm>
          <a:prstGeom prst="rect">
            <a:avLst/>
          </a:prstGeom>
        </p:spPr>
        <p:txBody>
          <a:bodyPr>
            <a:noAutofit/>
          </a:bodyPr>
          <a:p>
            <a:pPr marL="173355" indent="0" algn="l" defTabSz="266700">
              <a:spcBef>
                <a:spcPts val="500"/>
              </a:spcBef>
              <a:spcAft>
                <a:spcPts val="500"/>
              </a:spcAft>
            </a:pPr>
            <a:r>
              <a:rPr lang="zh-CN" altLang="en-US" sz="2400">
                <a:latin typeface="新宋体" panose="02010609030101010101" pitchFamily="49" charset="-122"/>
                <a:ea typeface="新宋体" panose="02010609030101010101" pitchFamily="49" charset="-122"/>
              </a:rPr>
              <a:t>（</a:t>
            </a:r>
            <a:r>
              <a:rPr lang="en-US" altLang="zh-CN" sz="2400">
                <a:latin typeface="新宋体" panose="02010609030101010101" pitchFamily="49" charset="-122"/>
                <a:ea typeface="新宋体" panose="02010609030101010101" pitchFamily="49" charset="-122"/>
              </a:rPr>
              <a:t>5</a:t>
            </a:r>
            <a:r>
              <a:rPr lang="zh-CN" altLang="en-US" sz="2400">
                <a:latin typeface="新宋体" panose="02010609030101010101" pitchFamily="49" charset="-122"/>
                <a:ea typeface="新宋体" panose="02010609030101010101" pitchFamily="49" charset="-122"/>
              </a:rPr>
              <a:t>）甲乙两文在写景上有异曲同工之妙，请完成以下题目。（</a:t>
            </a:r>
            <a:r>
              <a:rPr lang="en-US" altLang="zh-CN" sz="2400">
                <a:latin typeface="新宋体" panose="02010609030101010101" pitchFamily="49" charset="-122"/>
                <a:ea typeface="新宋体" panose="02010609030101010101" pitchFamily="49" charset="-122"/>
              </a:rPr>
              <a:t>6</a:t>
            </a:r>
            <a:r>
              <a:rPr lang="zh-CN" altLang="en-US" sz="2400">
                <a:latin typeface="新宋体" panose="02010609030101010101" pitchFamily="49" charset="-122"/>
                <a:ea typeface="新宋体" panose="02010609030101010101" pitchFamily="49" charset="-122"/>
              </a:rPr>
              <a:t>分）</a:t>
            </a:r>
            <a:endParaRPr lang="zh-CN" altLang="en-US" sz="2400">
              <a:latin typeface="新宋体" panose="02010609030101010101" pitchFamily="49" charset="-122"/>
              <a:ea typeface="新宋体" panose="02010609030101010101" pitchFamily="49" charset="-122"/>
            </a:endParaRPr>
          </a:p>
          <a:p>
            <a:pPr marL="173355" indent="0" algn="l" defTabSz="266700">
              <a:spcBef>
                <a:spcPts val="500"/>
              </a:spcBef>
              <a:spcAft>
                <a:spcPts val="500"/>
              </a:spcAft>
            </a:pPr>
            <a:r>
              <a:rPr lang="en-US" altLang="en-US" sz="2400">
                <a:latin typeface="新宋体" panose="02010609030101010101" pitchFamily="49" charset="-122"/>
                <a:ea typeface="新宋体" panose="02010609030101010101" pitchFamily="49" charset="-122"/>
              </a:rPr>
              <a:t>①</a:t>
            </a:r>
            <a:r>
              <a:rPr lang="zh-CN" altLang="en-US" sz="2400">
                <a:latin typeface="新宋体" panose="02010609030101010101" pitchFamily="49" charset="-122"/>
                <a:ea typeface="新宋体" panose="02010609030101010101" pitchFamily="49" charset="-122"/>
              </a:rPr>
              <a:t>甲文以</a:t>
            </a:r>
            <a:r>
              <a:rPr lang="en-US" altLang="zh-CN" sz="2400">
                <a:latin typeface="新宋体" panose="02010609030101010101" pitchFamily="49" charset="-122"/>
                <a:ea typeface="新宋体" panose="02010609030101010101" pitchFamily="49" charset="-122"/>
              </a:rPr>
              <a:t>“______”</a:t>
            </a:r>
            <a:r>
              <a:rPr lang="zh-CN" altLang="en-US" sz="2400">
                <a:latin typeface="新宋体" panose="02010609030101010101" pitchFamily="49" charset="-122"/>
                <a:ea typeface="新宋体" panose="02010609030101010101" pitchFamily="49" charset="-122"/>
              </a:rPr>
              <a:t>二字领起，移步换景；乙文则通过</a:t>
            </a:r>
            <a:r>
              <a:rPr lang="en-US" altLang="zh-CN" sz="2400">
                <a:latin typeface="新宋体" panose="02010609030101010101" pitchFamily="49" charset="-122"/>
                <a:ea typeface="新宋体" panose="02010609030101010101" pitchFamily="49" charset="-122"/>
              </a:rPr>
              <a:t>“_______”</a:t>
            </a:r>
            <a:r>
              <a:rPr lang="zh-CN" altLang="en-US" sz="2400">
                <a:latin typeface="新宋体" panose="02010609030101010101" pitchFamily="49" charset="-122"/>
                <a:ea typeface="新宋体" panose="02010609030101010101" pitchFamily="49" charset="-122"/>
              </a:rPr>
              <a:t>视角的变化来展现环境。</a:t>
            </a:r>
            <a:endParaRPr lang="zh-CN" altLang="en-US" sz="2400">
              <a:latin typeface="新宋体" panose="02010609030101010101" pitchFamily="49" charset="-122"/>
              <a:ea typeface="新宋体" panose="02010609030101010101" pitchFamily="49" charset="-122"/>
            </a:endParaRPr>
          </a:p>
          <a:p>
            <a:pPr marL="173355" indent="0" algn="l" defTabSz="266700">
              <a:spcBef>
                <a:spcPts val="500"/>
              </a:spcBef>
              <a:spcAft>
                <a:spcPts val="500"/>
              </a:spcAft>
            </a:pPr>
            <a:endParaRPr lang="zh-CN" altLang="en-US" sz="2400">
              <a:latin typeface="新宋体" panose="02010609030101010101" pitchFamily="49" charset="-122"/>
              <a:ea typeface="新宋体" panose="02010609030101010101" pitchFamily="49" charset="-122"/>
            </a:endParaRPr>
          </a:p>
          <a:p>
            <a:pPr marL="173355" indent="0" algn="l" defTabSz="266700">
              <a:spcBef>
                <a:spcPts val="500"/>
              </a:spcBef>
              <a:spcAft>
                <a:spcPts val="500"/>
              </a:spcAft>
            </a:pPr>
            <a:r>
              <a:rPr lang="en-US" altLang="en-US" sz="2400">
                <a:latin typeface="新宋体" panose="02010609030101010101" pitchFamily="49" charset="-122"/>
                <a:ea typeface="新宋体" panose="02010609030101010101" pitchFamily="49" charset="-122"/>
              </a:rPr>
              <a:t>②</a:t>
            </a:r>
            <a:r>
              <a:rPr lang="zh-CN" altLang="en-US" sz="2400">
                <a:latin typeface="新宋体" panose="02010609030101010101" pitchFamily="49" charset="-122"/>
                <a:ea typeface="新宋体" panose="02010609030101010101" pitchFamily="49" charset="-122"/>
              </a:rPr>
              <a:t>甲乙两文都高度凝练地描绘了四时美景，请</a:t>
            </a:r>
            <a:r>
              <a:rPr lang="zh-CN" altLang="en-US" sz="2400" u="sng">
                <a:latin typeface="新宋体" panose="02010609030101010101" pitchFamily="49" charset="-122"/>
                <a:ea typeface="新宋体" panose="02010609030101010101" pitchFamily="49" charset="-122"/>
              </a:rPr>
              <a:t>结合乙文画线句和《醉翁亭记》中相关句子</a:t>
            </a:r>
            <a:r>
              <a:rPr lang="zh-CN" altLang="en-US" sz="2400">
                <a:latin typeface="新宋体" panose="02010609030101010101" pitchFamily="49" charset="-122"/>
                <a:ea typeface="新宋体" panose="02010609030101010101" pitchFamily="49" charset="-122"/>
              </a:rPr>
              <a:t>简要分析。</a:t>
            </a:r>
            <a:endParaRPr lang="zh-CN" altLang="en-US" sz="2400">
              <a:latin typeface="新宋体" panose="02010609030101010101" pitchFamily="49" charset="-122"/>
              <a:ea typeface="新宋体" panose="02010609030101010101" pitchFamily="49" charset="-122"/>
            </a:endParaRPr>
          </a:p>
          <a:p>
            <a:pPr marL="173355" indent="0" algn="l" defTabSz="266700">
              <a:spcBef>
                <a:spcPts val="500"/>
              </a:spcBef>
              <a:spcAft>
                <a:spcPts val="500"/>
              </a:spcAft>
            </a:pPr>
            <a:endParaRPr lang="en-US" altLang="zh-CN" sz="2400">
              <a:latin typeface="新宋体" panose="02010609030101010101" pitchFamily="49" charset="-122"/>
              <a:ea typeface="新宋体" panose="02010609030101010101" pitchFamily="49" charset="-122"/>
            </a:endParaRPr>
          </a:p>
        </p:txBody>
      </p:sp>
      <p:sp>
        <p:nvSpPr>
          <p:cNvPr id="7" name="文本框 6"/>
          <p:cNvSpPr txBox="1"/>
          <p:nvPr/>
        </p:nvSpPr>
        <p:spPr>
          <a:xfrm>
            <a:off x="2411730" y="725805"/>
            <a:ext cx="1936115" cy="335915"/>
          </a:xfrm>
          <a:prstGeom prst="rect">
            <a:avLst/>
          </a:prstGeom>
          <a:noFill/>
        </p:spPr>
        <p:txBody>
          <a:bodyPr wrap="square" rtlCol="0">
            <a:noAutofit/>
          </a:bodyPr>
          <a:p>
            <a:r>
              <a:rPr lang="zh-CN" altLang="en-US" sz="2000" b="1">
                <a:solidFill>
                  <a:srgbClr val="FF0000"/>
                </a:solidFill>
              </a:rPr>
              <a:t>山行</a:t>
            </a:r>
            <a:endParaRPr lang="zh-CN" altLang="en-US" sz="2000" b="1">
              <a:solidFill>
                <a:srgbClr val="FF0000"/>
              </a:solidFill>
            </a:endParaRPr>
          </a:p>
        </p:txBody>
      </p:sp>
      <p:sp>
        <p:nvSpPr>
          <p:cNvPr id="5" name="文本框 4"/>
          <p:cNvSpPr txBox="1"/>
          <p:nvPr/>
        </p:nvSpPr>
        <p:spPr>
          <a:xfrm>
            <a:off x="8380730" y="725805"/>
            <a:ext cx="1936115" cy="335915"/>
          </a:xfrm>
          <a:prstGeom prst="rect">
            <a:avLst/>
          </a:prstGeom>
          <a:noFill/>
        </p:spPr>
        <p:txBody>
          <a:bodyPr wrap="square" rtlCol="0">
            <a:noAutofit/>
          </a:bodyPr>
          <a:p>
            <a:r>
              <a:rPr lang="zh-CN" altLang="en-US" sz="2000" b="1">
                <a:solidFill>
                  <a:srgbClr val="FF0000"/>
                </a:solidFill>
              </a:rPr>
              <a:t>俯</a:t>
            </a:r>
            <a:r>
              <a:rPr lang="zh-CN" altLang="en-US" sz="2000" b="1">
                <a:solidFill>
                  <a:srgbClr val="FF0000"/>
                </a:solidFill>
              </a:rPr>
              <a:t>仰</a:t>
            </a:r>
            <a:endParaRPr lang="zh-CN" altLang="en-US" sz="2000" b="1">
              <a:solidFill>
                <a:srgbClr val="FF0000"/>
              </a:solidFill>
            </a:endParaRPr>
          </a:p>
        </p:txBody>
      </p:sp>
      <p:sp>
        <p:nvSpPr>
          <p:cNvPr id="6" name="文本框 5"/>
          <p:cNvSpPr txBox="1"/>
          <p:nvPr/>
        </p:nvSpPr>
        <p:spPr>
          <a:xfrm>
            <a:off x="5064125" y="1061720"/>
            <a:ext cx="1461135" cy="706755"/>
          </a:xfrm>
          <a:prstGeom prst="rect">
            <a:avLst/>
          </a:prstGeom>
          <a:noFill/>
        </p:spPr>
        <p:txBody>
          <a:bodyPr wrap="square" rtlCol="0">
            <a:spAutoFit/>
          </a:bodyPr>
          <a:p>
            <a:r>
              <a:rPr lang="zh-CN" altLang="en-US" sz="2000" b="1">
                <a:solidFill>
                  <a:schemeClr val="accent1"/>
                </a:solidFill>
              </a:rPr>
              <a:t>整体到局部</a:t>
            </a:r>
            <a:endParaRPr lang="zh-CN" altLang="en-US" sz="2000" b="1">
              <a:solidFill>
                <a:schemeClr val="accent1"/>
              </a:solidFill>
            </a:endParaRPr>
          </a:p>
          <a:p>
            <a:r>
              <a:rPr lang="zh-CN" altLang="en-US" sz="2000" b="1">
                <a:solidFill>
                  <a:schemeClr val="accent1"/>
                </a:solidFill>
              </a:rPr>
              <a:t>由远及近</a:t>
            </a:r>
            <a:endParaRPr lang="zh-CN" altLang="en-US" sz="2000" b="1">
              <a:solidFill>
                <a:schemeClr val="accent1"/>
              </a:solidFill>
            </a:endParaRPr>
          </a:p>
        </p:txBody>
      </p:sp>
      <p:sp>
        <p:nvSpPr>
          <p:cNvPr id="8" name="文本框 7"/>
          <p:cNvSpPr txBox="1"/>
          <p:nvPr/>
        </p:nvSpPr>
        <p:spPr>
          <a:xfrm>
            <a:off x="8380730" y="1061720"/>
            <a:ext cx="2270125" cy="1014730"/>
          </a:xfrm>
          <a:prstGeom prst="rect">
            <a:avLst/>
          </a:prstGeom>
          <a:noFill/>
        </p:spPr>
        <p:txBody>
          <a:bodyPr wrap="square" rtlCol="0">
            <a:spAutoFit/>
          </a:bodyPr>
          <a:p>
            <a:r>
              <a:rPr lang="zh-CN" altLang="en-US" sz="2000" b="1">
                <a:solidFill>
                  <a:schemeClr val="accent1"/>
                </a:solidFill>
              </a:rPr>
              <a:t>其上则</a:t>
            </a:r>
            <a:r>
              <a:rPr lang="en-US" altLang="zh-CN" sz="2000" b="1">
                <a:solidFill>
                  <a:schemeClr val="accent1"/>
                </a:solidFill>
              </a:rPr>
              <a:t>...</a:t>
            </a:r>
            <a:endParaRPr lang="en-US" altLang="zh-CN" sz="2000" b="1">
              <a:solidFill>
                <a:schemeClr val="accent1"/>
              </a:solidFill>
            </a:endParaRPr>
          </a:p>
          <a:p>
            <a:r>
              <a:rPr lang="zh-CN" altLang="en-US" sz="2000" b="1">
                <a:solidFill>
                  <a:schemeClr val="accent1"/>
                </a:solidFill>
              </a:rPr>
              <a:t>下则</a:t>
            </a:r>
            <a:r>
              <a:rPr lang="en-US" altLang="zh-CN" sz="2000" b="1">
                <a:solidFill>
                  <a:schemeClr val="accent1"/>
                </a:solidFill>
              </a:rPr>
              <a:t>...</a:t>
            </a:r>
            <a:endParaRPr lang="en-US" altLang="zh-CN" sz="2000" b="1">
              <a:solidFill>
                <a:schemeClr val="accent1"/>
              </a:solidFill>
            </a:endParaRPr>
          </a:p>
          <a:p>
            <a:r>
              <a:rPr lang="zh-CN" altLang="en-US" sz="2000" b="1">
                <a:solidFill>
                  <a:schemeClr val="accent1"/>
                </a:solidFill>
              </a:rPr>
              <a:t>中有</a:t>
            </a:r>
            <a:r>
              <a:rPr lang="en-US" altLang="zh-CN" sz="2000" b="1">
                <a:solidFill>
                  <a:schemeClr val="accent1"/>
                </a:solidFill>
              </a:rPr>
              <a:t>...</a:t>
            </a:r>
            <a:endParaRPr lang="zh-CN" altLang="en-US" sz="2000" b="1">
              <a:solidFill>
                <a:schemeClr val="accent1"/>
              </a:solidFill>
            </a:endParaRPr>
          </a:p>
        </p:txBody>
      </p:sp>
      <p:sp>
        <p:nvSpPr>
          <p:cNvPr id="10" name="椭圆 9"/>
          <p:cNvSpPr/>
          <p:nvPr/>
        </p:nvSpPr>
        <p:spPr>
          <a:xfrm>
            <a:off x="2357120" y="2032000"/>
            <a:ext cx="1905000" cy="523875"/>
          </a:xfrm>
          <a:prstGeom prst="ellipse">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椭圆 10"/>
          <p:cNvSpPr/>
          <p:nvPr/>
        </p:nvSpPr>
        <p:spPr>
          <a:xfrm>
            <a:off x="4842510" y="2076450"/>
            <a:ext cx="1682750" cy="523875"/>
          </a:xfrm>
          <a:prstGeom prst="ellipse">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809625" y="2908300"/>
            <a:ext cx="10190480" cy="1476375"/>
          </a:xfrm>
          <a:prstGeom prst="rect">
            <a:avLst/>
          </a:prstGeom>
          <a:noFill/>
        </p:spPr>
        <p:txBody>
          <a:bodyPr wrap="square" rtlCol="0" anchor="t">
            <a:spAutoFit/>
          </a:bodyPr>
          <a:p>
            <a:r>
              <a:rPr lang="en-US" altLang="en-US" b="1">
                <a:solidFill>
                  <a:srgbClr val="FF0000"/>
                </a:solidFill>
              </a:rPr>
              <a:t>①</a:t>
            </a:r>
            <a:r>
              <a:rPr lang="zh-CN" altLang="en-US" b="1">
                <a:solidFill>
                  <a:srgbClr val="FF0000"/>
                </a:solidFill>
                <a:highlight>
                  <a:srgbClr val="FFFF00"/>
                </a:highlight>
              </a:rPr>
              <a:t>意象</a:t>
            </a:r>
            <a:r>
              <a:rPr lang="zh-CN" altLang="en-US" b="1">
                <a:solidFill>
                  <a:srgbClr val="FF0000"/>
                </a:solidFill>
              </a:rPr>
              <a:t>典型，一物一季：《醉翁亭记》选取</a:t>
            </a:r>
            <a:r>
              <a:rPr lang="en-US" altLang="zh-CN" b="1">
                <a:solidFill>
                  <a:srgbClr val="FF0000"/>
                </a:solidFill>
              </a:rPr>
              <a:t>“</a:t>
            </a:r>
            <a:r>
              <a:rPr lang="zh-CN" altLang="en-US" b="1">
                <a:solidFill>
                  <a:srgbClr val="FF0000"/>
                </a:solidFill>
              </a:rPr>
              <a:t>野芳</a:t>
            </a:r>
            <a:r>
              <a:rPr lang="en-US" altLang="zh-CN" b="1">
                <a:solidFill>
                  <a:srgbClr val="FF0000"/>
                </a:solidFill>
              </a:rPr>
              <a:t>”“</a:t>
            </a:r>
            <a:r>
              <a:rPr lang="zh-CN" altLang="en-US" b="1">
                <a:solidFill>
                  <a:srgbClr val="FF0000"/>
                </a:solidFill>
              </a:rPr>
              <a:t>佳木</a:t>
            </a:r>
            <a:r>
              <a:rPr lang="en-US" altLang="zh-CN" b="1">
                <a:solidFill>
                  <a:srgbClr val="FF0000"/>
                </a:solidFill>
              </a:rPr>
              <a:t>”“</a:t>
            </a:r>
            <a:r>
              <a:rPr lang="zh-CN" altLang="en-US" b="1">
                <a:solidFill>
                  <a:srgbClr val="FF0000"/>
                </a:solidFill>
              </a:rPr>
              <a:t>风霜</a:t>
            </a:r>
            <a:r>
              <a:rPr lang="en-US" altLang="zh-CN" b="1">
                <a:solidFill>
                  <a:srgbClr val="FF0000"/>
                </a:solidFill>
              </a:rPr>
              <a:t>”“</a:t>
            </a:r>
            <a:r>
              <a:rPr lang="zh-CN" altLang="en-US" b="1">
                <a:solidFill>
                  <a:srgbClr val="FF0000"/>
                </a:solidFill>
              </a:rPr>
              <a:t>水石</a:t>
            </a:r>
            <a:r>
              <a:rPr lang="en-US" altLang="zh-CN" b="1">
                <a:solidFill>
                  <a:srgbClr val="FF0000"/>
                </a:solidFill>
              </a:rPr>
              <a:t>”</a:t>
            </a:r>
            <a:r>
              <a:rPr lang="zh-CN" altLang="en-US" b="1">
                <a:solidFill>
                  <a:srgbClr val="FF0000"/>
                </a:solidFill>
              </a:rPr>
              <a:t>四个意象，搭配</a:t>
            </a:r>
            <a:r>
              <a:rPr lang="en-US" altLang="zh-CN" b="1">
                <a:solidFill>
                  <a:srgbClr val="FF0000"/>
                </a:solidFill>
              </a:rPr>
              <a:t>“</a:t>
            </a:r>
            <a:r>
              <a:rPr lang="zh-CN" altLang="en-US" b="1">
                <a:solidFill>
                  <a:srgbClr val="FF0000"/>
                </a:solidFill>
              </a:rPr>
              <a:t>幽香</a:t>
            </a:r>
            <a:r>
              <a:rPr lang="en-US" altLang="zh-CN" b="1">
                <a:solidFill>
                  <a:srgbClr val="FF0000"/>
                </a:solidFill>
              </a:rPr>
              <a:t>”“</a:t>
            </a:r>
            <a:r>
              <a:rPr lang="zh-CN" altLang="en-US" b="1">
                <a:solidFill>
                  <a:srgbClr val="FF0000"/>
                </a:solidFill>
              </a:rPr>
              <a:t>繁阴</a:t>
            </a:r>
            <a:r>
              <a:rPr lang="en-US" altLang="zh-CN" b="1">
                <a:solidFill>
                  <a:srgbClr val="FF0000"/>
                </a:solidFill>
              </a:rPr>
              <a:t>”“</a:t>
            </a:r>
            <a:r>
              <a:rPr lang="zh-CN" altLang="en-US" b="1">
                <a:solidFill>
                  <a:srgbClr val="FF0000"/>
                </a:solidFill>
              </a:rPr>
              <a:t>高洁</a:t>
            </a:r>
            <a:r>
              <a:rPr lang="en-US" altLang="zh-CN" b="1">
                <a:solidFill>
                  <a:srgbClr val="FF0000"/>
                </a:solidFill>
              </a:rPr>
              <a:t>”</a:t>
            </a:r>
            <a:r>
              <a:rPr lang="zh-CN" altLang="en-US" b="1">
                <a:solidFill>
                  <a:srgbClr val="FF0000"/>
                </a:solidFill>
              </a:rPr>
              <a:t>等特征词，以典型意象概括季节全貌。乙文用</a:t>
            </a:r>
            <a:r>
              <a:rPr lang="en-US" altLang="zh-CN" b="1">
                <a:solidFill>
                  <a:srgbClr val="FF0000"/>
                </a:solidFill>
              </a:rPr>
              <a:t>“</a:t>
            </a:r>
            <a:r>
              <a:rPr lang="zh-CN" altLang="en-US" b="1">
                <a:solidFill>
                  <a:srgbClr val="FF0000"/>
                </a:solidFill>
              </a:rPr>
              <a:t>幽芳</a:t>
            </a:r>
            <a:r>
              <a:rPr lang="en-US" altLang="zh-CN" b="1">
                <a:solidFill>
                  <a:srgbClr val="FF0000"/>
                </a:solidFill>
              </a:rPr>
              <a:t>”“</a:t>
            </a:r>
            <a:r>
              <a:rPr lang="zh-CN" altLang="en-US" b="1">
                <a:solidFill>
                  <a:srgbClr val="FF0000"/>
                </a:solidFill>
              </a:rPr>
              <a:t>乔木</a:t>
            </a:r>
            <a:r>
              <a:rPr lang="en-US" altLang="zh-CN" b="1">
                <a:solidFill>
                  <a:srgbClr val="FF0000"/>
                </a:solidFill>
              </a:rPr>
              <a:t>”“</a:t>
            </a:r>
            <a:r>
              <a:rPr lang="zh-CN" altLang="en-US" b="1">
                <a:solidFill>
                  <a:srgbClr val="FF0000"/>
                </a:solidFill>
              </a:rPr>
              <a:t>风霜冰雪</a:t>
            </a:r>
            <a:r>
              <a:rPr lang="en-US" altLang="zh-CN" b="1">
                <a:solidFill>
                  <a:srgbClr val="FF0000"/>
                </a:solidFill>
              </a:rPr>
              <a:t>”</a:t>
            </a:r>
            <a:r>
              <a:rPr lang="zh-CN" altLang="en-US" b="1">
                <a:solidFill>
                  <a:srgbClr val="FF0000"/>
                </a:solidFill>
              </a:rPr>
              <a:t>指代四季景物，凝练呈现四季特征。</a:t>
            </a:r>
            <a:endParaRPr lang="zh-CN" altLang="en-US" b="1">
              <a:solidFill>
                <a:srgbClr val="FF0000"/>
              </a:solidFill>
            </a:endParaRPr>
          </a:p>
          <a:p>
            <a:endParaRPr lang="zh-CN" altLang="en-US" b="1">
              <a:solidFill>
                <a:srgbClr val="FF0000"/>
              </a:solidFill>
            </a:endParaRPr>
          </a:p>
          <a:p>
            <a:endParaRPr lang="zh-CN" altLang="en-US" b="1">
              <a:solidFill>
                <a:srgbClr val="FF0000"/>
              </a:solidFill>
            </a:endParaRPr>
          </a:p>
        </p:txBody>
      </p:sp>
      <p:sp>
        <p:nvSpPr>
          <p:cNvPr id="13" name="文本框 12"/>
          <p:cNvSpPr txBox="1"/>
          <p:nvPr/>
        </p:nvSpPr>
        <p:spPr>
          <a:xfrm>
            <a:off x="809625" y="3768090"/>
            <a:ext cx="10190480" cy="1229360"/>
          </a:xfrm>
          <a:prstGeom prst="rect">
            <a:avLst/>
          </a:prstGeom>
          <a:noFill/>
        </p:spPr>
        <p:txBody>
          <a:bodyPr wrap="square" rtlCol="0" anchor="t">
            <a:noAutofit/>
          </a:bodyPr>
          <a:p>
            <a:endParaRPr lang="zh-CN" altLang="en-US" b="1">
              <a:solidFill>
                <a:srgbClr val="FF0000"/>
              </a:solidFill>
            </a:endParaRPr>
          </a:p>
          <a:p>
            <a:r>
              <a:rPr lang="en-US" altLang="en-US" b="1">
                <a:solidFill>
                  <a:srgbClr val="FF0000"/>
                </a:solidFill>
              </a:rPr>
              <a:t>②</a:t>
            </a:r>
            <a:r>
              <a:rPr lang="zh-CN" altLang="en-US" b="1">
                <a:solidFill>
                  <a:srgbClr val="FF0000"/>
                </a:solidFill>
                <a:highlight>
                  <a:srgbClr val="FFFF00"/>
                </a:highlight>
              </a:rPr>
              <a:t>句式</a:t>
            </a:r>
            <a:r>
              <a:rPr lang="zh-CN" altLang="en-US" b="1">
                <a:solidFill>
                  <a:srgbClr val="FF0000"/>
                </a:solidFill>
              </a:rPr>
              <a:t>简练，融情于景：《醉翁亭记》用四句短句工整排比，以景物状态</a:t>
            </a:r>
            <a:r>
              <a:rPr lang="en-US" altLang="zh-CN" b="1">
                <a:solidFill>
                  <a:srgbClr val="FF0000"/>
                </a:solidFill>
              </a:rPr>
              <a:t>“</a:t>
            </a:r>
            <a:r>
              <a:rPr lang="zh-CN" altLang="en-US" b="1">
                <a:solidFill>
                  <a:srgbClr val="FF0000"/>
                </a:solidFill>
              </a:rPr>
              <a:t>发</a:t>
            </a:r>
            <a:r>
              <a:rPr lang="en-US" altLang="zh-CN" b="1">
                <a:solidFill>
                  <a:srgbClr val="FF0000"/>
                </a:solidFill>
              </a:rPr>
              <a:t>”“</a:t>
            </a:r>
            <a:r>
              <a:rPr lang="zh-CN" altLang="en-US" b="1">
                <a:solidFill>
                  <a:srgbClr val="FF0000"/>
                </a:solidFill>
              </a:rPr>
              <a:t>秀</a:t>
            </a:r>
            <a:r>
              <a:rPr lang="en-US" altLang="zh-CN" b="1">
                <a:solidFill>
                  <a:srgbClr val="FF0000"/>
                </a:solidFill>
              </a:rPr>
              <a:t>”“</a:t>
            </a:r>
            <a:r>
              <a:rPr lang="zh-CN" altLang="en-US" b="1">
                <a:solidFill>
                  <a:srgbClr val="FF0000"/>
                </a:solidFill>
              </a:rPr>
              <a:t>高洁</a:t>
            </a:r>
            <a:r>
              <a:rPr lang="en-US" altLang="zh-CN" b="1">
                <a:solidFill>
                  <a:srgbClr val="FF0000"/>
                </a:solidFill>
              </a:rPr>
              <a:t>”“</a:t>
            </a:r>
            <a:r>
              <a:rPr lang="zh-CN" altLang="en-US" b="1">
                <a:solidFill>
                  <a:srgbClr val="FF0000"/>
                </a:solidFill>
              </a:rPr>
              <a:t>落出</a:t>
            </a:r>
            <a:r>
              <a:rPr lang="en-US" altLang="zh-CN" b="1">
                <a:solidFill>
                  <a:srgbClr val="FF0000"/>
                </a:solidFill>
              </a:rPr>
              <a:t>”</a:t>
            </a:r>
            <a:r>
              <a:rPr lang="zh-CN" altLang="en-US" b="1">
                <a:solidFill>
                  <a:srgbClr val="FF0000"/>
                </a:solidFill>
              </a:rPr>
              <a:t>呈现四季，不直接抒情，而情味自在景中。乙文长短句交错，以人物动作</a:t>
            </a:r>
            <a:r>
              <a:rPr lang="en-US" altLang="zh-CN" b="1">
                <a:solidFill>
                  <a:srgbClr val="FF0000"/>
                </a:solidFill>
              </a:rPr>
              <a:t>“</a:t>
            </a:r>
            <a:r>
              <a:rPr lang="zh-CN" altLang="en-US" b="1">
                <a:solidFill>
                  <a:srgbClr val="FF0000"/>
                </a:solidFill>
              </a:rPr>
              <a:t>摄</a:t>
            </a:r>
            <a:r>
              <a:rPr lang="en-US" altLang="zh-CN" b="1">
                <a:solidFill>
                  <a:srgbClr val="FF0000"/>
                </a:solidFill>
              </a:rPr>
              <a:t>”“</a:t>
            </a:r>
            <a:r>
              <a:rPr lang="zh-CN" altLang="en-US" b="1">
                <a:solidFill>
                  <a:srgbClr val="FF0000"/>
                </a:solidFill>
              </a:rPr>
              <a:t>荫</a:t>
            </a:r>
            <a:r>
              <a:rPr lang="en-US" altLang="zh-CN" b="1">
                <a:solidFill>
                  <a:srgbClr val="FF0000"/>
                </a:solidFill>
              </a:rPr>
              <a:t>”</a:t>
            </a:r>
            <a:r>
              <a:rPr lang="zh-CN" altLang="en-US" b="1">
                <a:solidFill>
                  <a:srgbClr val="FF0000"/>
                </a:solidFill>
              </a:rPr>
              <a:t>带出春夏，再用</a:t>
            </a:r>
            <a:r>
              <a:rPr lang="en-US" altLang="zh-CN" b="1">
                <a:solidFill>
                  <a:srgbClr val="FF0000"/>
                </a:solidFill>
              </a:rPr>
              <a:t>“</a:t>
            </a:r>
            <a:r>
              <a:rPr lang="zh-CN" altLang="en-US" b="1">
                <a:solidFill>
                  <a:srgbClr val="FF0000"/>
                </a:solidFill>
              </a:rPr>
              <a:t>刻露清秀</a:t>
            </a:r>
            <a:r>
              <a:rPr lang="en-US" altLang="zh-CN" b="1">
                <a:solidFill>
                  <a:srgbClr val="FF0000"/>
                </a:solidFill>
              </a:rPr>
              <a:t>”</a:t>
            </a:r>
            <a:r>
              <a:rPr lang="zh-CN" altLang="en-US" b="1">
                <a:solidFill>
                  <a:srgbClr val="FF0000"/>
                </a:solidFill>
              </a:rPr>
              <a:t>四字评价秋冬景象，将体验融</a:t>
            </a:r>
            <a:r>
              <a:rPr lang="zh-CN" altLang="en-US" b="1">
                <a:solidFill>
                  <a:srgbClr val="FF0000"/>
                </a:solidFill>
              </a:rPr>
              <a:t>入描写。</a:t>
            </a:r>
            <a:endParaRPr lang="zh-CN" altLang="en-US" b="1">
              <a:solidFill>
                <a:srgbClr val="FF0000"/>
              </a:solidFill>
            </a:endParaRPr>
          </a:p>
          <a:p>
            <a:endParaRPr lang="zh-CN" altLang="en-US" b="1">
              <a:solidFill>
                <a:srgbClr val="FF0000"/>
              </a:solidFill>
            </a:endParaRPr>
          </a:p>
          <a:p>
            <a:endParaRPr lang="zh-CN" altLang="en-US" b="1">
              <a:solidFill>
                <a:srgbClr val="FF0000"/>
              </a:solidFill>
            </a:endParaRPr>
          </a:p>
        </p:txBody>
      </p:sp>
      <p:sp>
        <p:nvSpPr>
          <p:cNvPr id="14" name="文本框 13"/>
          <p:cNvSpPr txBox="1"/>
          <p:nvPr/>
        </p:nvSpPr>
        <p:spPr>
          <a:xfrm>
            <a:off x="699770" y="4997450"/>
            <a:ext cx="10190480" cy="1198880"/>
          </a:xfrm>
          <a:prstGeom prst="rect">
            <a:avLst/>
          </a:prstGeom>
          <a:noFill/>
        </p:spPr>
        <p:txBody>
          <a:bodyPr wrap="square" rtlCol="0" anchor="t">
            <a:spAutoFit/>
          </a:bodyPr>
          <a:p>
            <a:endParaRPr lang="zh-CN" altLang="en-US" b="1">
              <a:solidFill>
                <a:srgbClr val="FF0000"/>
              </a:solidFill>
            </a:endParaRPr>
          </a:p>
          <a:p>
            <a:r>
              <a:rPr lang="en-US" altLang="en-US" b="1">
                <a:solidFill>
                  <a:srgbClr val="FF0000"/>
                </a:solidFill>
              </a:rPr>
              <a:t>③</a:t>
            </a:r>
            <a:r>
              <a:rPr lang="zh-CN" altLang="en-US" b="1">
                <a:solidFill>
                  <a:srgbClr val="FF0000"/>
                </a:solidFill>
                <a:highlight>
                  <a:srgbClr val="FFFF00"/>
                </a:highlight>
              </a:rPr>
              <a:t>词语</a:t>
            </a:r>
            <a:r>
              <a:rPr lang="zh-CN" altLang="en-US" b="1">
                <a:solidFill>
                  <a:srgbClr val="FF0000"/>
                </a:solidFill>
              </a:rPr>
              <a:t>精炼，意蕴丰富：如</a:t>
            </a:r>
            <a:r>
              <a:rPr lang="en-US" altLang="zh-CN" b="1">
                <a:solidFill>
                  <a:srgbClr val="FF0000"/>
                </a:solidFill>
              </a:rPr>
              <a:t>“</a:t>
            </a:r>
            <a:r>
              <a:rPr lang="zh-CN" altLang="en-US" b="1">
                <a:solidFill>
                  <a:srgbClr val="FF0000"/>
                </a:solidFill>
              </a:rPr>
              <a:t>刻露清秀</a:t>
            </a:r>
            <a:r>
              <a:rPr lang="en-US" altLang="zh-CN" b="1">
                <a:solidFill>
                  <a:srgbClr val="FF0000"/>
                </a:solidFill>
              </a:rPr>
              <a:t>”</a:t>
            </a:r>
            <a:r>
              <a:rPr lang="zh-CN" altLang="en-US" b="1">
                <a:solidFill>
                  <a:srgbClr val="FF0000"/>
                </a:solidFill>
              </a:rPr>
              <a:t>四字，既写秋冬山岩棱角分明、景物明晰清爽的特点，又暗含作者对秋冬之美的欣赏，言简意丰。</a:t>
            </a:r>
            <a:r>
              <a:rPr lang="en-US" altLang="zh-CN" b="1">
                <a:solidFill>
                  <a:srgbClr val="FF0000"/>
                </a:solidFill>
              </a:rPr>
              <a:t>“</a:t>
            </a:r>
            <a:r>
              <a:rPr lang="zh-CN" altLang="en-US" b="1">
                <a:solidFill>
                  <a:srgbClr val="FF0000"/>
                </a:solidFill>
              </a:rPr>
              <a:t>风霜高洁</a:t>
            </a:r>
            <a:r>
              <a:rPr lang="en-US" altLang="zh-CN" b="1">
                <a:solidFill>
                  <a:srgbClr val="FF0000"/>
                </a:solidFill>
              </a:rPr>
              <a:t>”</a:t>
            </a:r>
            <a:r>
              <a:rPr lang="zh-CN" altLang="en-US" b="1">
                <a:solidFill>
                  <a:srgbClr val="FF0000"/>
                </a:solidFill>
              </a:rPr>
              <a:t>亦如此，既写秋高气爽、霜色洁白，又传递出清旷高远的意境。</a:t>
            </a:r>
            <a:endParaRPr lang="zh-CN" altLang="en-US"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ppt_x"/>
                                          </p:val>
                                        </p:tav>
                                        <p:tav tm="100000">
                                          <p:val>
                                            <p:strVal val="#ppt_x"/>
                                          </p:val>
                                        </p:tav>
                                      </p:tavLst>
                                    </p:anim>
                                    <p:anim calcmode="lin" valueType="num">
                                      <p:cBhvr additive="base">
                                        <p:cTn id="5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6" grpId="0"/>
      <p:bldP spid="6" grpId="1"/>
      <p:bldP spid="5" grpId="0"/>
      <p:bldP spid="5" grpId="1"/>
      <p:bldP spid="8" grpId="0"/>
      <p:bldP spid="8" grpId="1"/>
      <p:bldP spid="10" grpId="0" animBg="1"/>
      <p:bldP spid="10" grpId="1" animBg="1"/>
      <p:bldP spid="11" grpId="0" animBg="1"/>
      <p:bldP spid="11" grpId="1" animBg="1"/>
      <p:bldP spid="12" grpId="0"/>
      <p:bldP spid="12" grpId="1"/>
      <p:bldP spid="13" grpId="0"/>
      <p:bldP spid="13" grpId="1"/>
      <p:bldP spid="14" grpId="0"/>
      <p:bldP spid="14"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2625" y="1349375"/>
            <a:ext cx="10191750" cy="2451100"/>
          </a:xfrm>
          <a:prstGeom prst="rect">
            <a:avLst/>
          </a:prstGeom>
        </p:spPr>
        <p:txBody>
          <a:bodyPr wrap="square">
            <a:spAutoFit/>
          </a:bodyPr>
          <a:p>
            <a:pPr marL="173355" indent="0" algn="l" defTabSz="266700">
              <a:spcBef>
                <a:spcPts val="500"/>
              </a:spcBef>
              <a:spcAft>
                <a:spcPts val="500"/>
              </a:spcAft>
            </a:pPr>
            <a:r>
              <a:rPr lang="zh-CN" altLang="en-US" sz="2400">
                <a:latin typeface="宋体" panose="02010600030101010101" pitchFamily="2" charset="-122"/>
                <a:ea typeface="宋体" panose="02010600030101010101" pitchFamily="2" charset="-122"/>
                <a:cs typeface="宋体" panose="02010600030101010101" pitchFamily="2" charset="-122"/>
              </a:rPr>
              <a:t>（</a:t>
            </a:r>
            <a:r>
              <a:rPr lang="en-US" altLang="zh-CN" sz="2400">
                <a:latin typeface="宋体" panose="02010600030101010101" pitchFamily="2" charset="-122"/>
                <a:ea typeface="宋体" panose="02010600030101010101" pitchFamily="2" charset="-122"/>
                <a:cs typeface="宋体" panose="02010600030101010101" pitchFamily="2" charset="-122"/>
              </a:rPr>
              <a:t>6</a:t>
            </a:r>
            <a:r>
              <a:rPr lang="zh-CN" altLang="en-US" sz="2400">
                <a:latin typeface="宋体" panose="02010600030101010101" pitchFamily="2" charset="-122"/>
                <a:ea typeface="宋体" panose="02010600030101010101" pitchFamily="2" charset="-122"/>
                <a:cs typeface="宋体" panose="02010600030101010101" pitchFamily="2" charset="-122"/>
              </a:rPr>
              <a:t>）对两亭名字由来及所体现的作者情怀，理解最恰当的一项是</a:t>
            </a:r>
            <a:r>
              <a:rPr lang="en-US" altLang="zh-CN" sz="2400">
                <a:latin typeface="宋体" panose="02010600030101010101" pitchFamily="2" charset="-122"/>
                <a:ea typeface="宋体" panose="02010600030101010101" pitchFamily="2" charset="-122"/>
                <a:cs typeface="宋体" panose="02010600030101010101" pitchFamily="2" charset="-122"/>
              </a:rPr>
              <a:t> (      )</a:t>
            </a:r>
            <a:endParaRPr lang="en-US" altLang="zh-CN" sz="2400">
              <a:latin typeface="宋体" panose="02010600030101010101" pitchFamily="2" charset="-122"/>
              <a:ea typeface="宋体" panose="02010600030101010101" pitchFamily="2" charset="-122"/>
              <a:cs typeface="宋体" panose="02010600030101010101" pitchFamily="2" charset="-122"/>
            </a:endParaRPr>
          </a:p>
          <a:p>
            <a:pPr marL="0" indent="0" algn="l" defTabSz="266700">
              <a:spcBef>
                <a:spcPts val="500"/>
              </a:spcBef>
              <a:spcAft>
                <a:spcPts val="500"/>
              </a:spcAft>
            </a:pPr>
            <a:r>
              <a:rPr lang="en-US" altLang="zh-CN" sz="2400">
                <a:latin typeface="宋体" panose="02010600030101010101" pitchFamily="2" charset="-122"/>
                <a:ea typeface="宋体" panose="02010600030101010101" pitchFamily="2" charset="-122"/>
                <a:cs typeface="宋体" panose="02010600030101010101" pitchFamily="2" charset="-122"/>
              </a:rPr>
              <a:t>A.</a:t>
            </a:r>
            <a:r>
              <a:rPr lang="zh-CN" altLang="en-US" sz="2400">
                <a:latin typeface="宋体" panose="02010600030101010101" pitchFamily="2" charset="-122"/>
                <a:ea typeface="宋体" panose="02010600030101010101" pitchFamily="2" charset="-122"/>
                <a:cs typeface="宋体" panose="02010600030101010101" pitchFamily="2" charset="-122"/>
              </a:rPr>
              <a:t>亭名都源于山水之乐：</a:t>
            </a:r>
            <a:r>
              <a:rPr lang="zh-CN" altLang="en-US" sz="2400">
                <a:latin typeface="宋体" panose="02010600030101010101" pitchFamily="2" charset="-122"/>
                <a:ea typeface="宋体" panose="02010600030101010101" pitchFamily="2" charset="-122"/>
                <a:cs typeface="宋体" panose="02010600030101010101" pitchFamily="2" charset="-122"/>
              </a:rPr>
              <a:t>“醉翁”是作者自况，</a:t>
            </a:r>
            <a:r>
              <a:rPr lang="zh-CN" altLang="en-US" sz="2400">
                <a:latin typeface="宋体" panose="02010600030101010101" pitchFamily="2" charset="-122"/>
                <a:ea typeface="宋体" panose="02010600030101010101" pitchFamily="2" charset="-122"/>
                <a:cs typeface="宋体" panose="02010600030101010101" pitchFamily="2" charset="-122"/>
              </a:rPr>
              <a:t>“丰乐”是百姓所起。</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lgn="l" defTabSz="266700">
              <a:spcBef>
                <a:spcPts val="500"/>
              </a:spcBef>
              <a:spcAft>
                <a:spcPts val="500"/>
              </a:spcAft>
            </a:pPr>
            <a:r>
              <a:rPr lang="en-US" altLang="zh-CN" sz="2400">
                <a:latin typeface="宋体" panose="02010600030101010101" pitchFamily="2" charset="-122"/>
                <a:ea typeface="宋体" panose="02010600030101010101" pitchFamily="2" charset="-122"/>
                <a:cs typeface="宋体" panose="02010600030101010101" pitchFamily="2" charset="-122"/>
              </a:rPr>
              <a:t>B.“</a:t>
            </a:r>
            <a:r>
              <a:rPr lang="zh-CN" altLang="en-US" sz="2400">
                <a:latin typeface="宋体" panose="02010600030101010101" pitchFamily="2" charset="-122"/>
                <a:ea typeface="宋体" panose="02010600030101010101" pitchFamily="2" charset="-122"/>
                <a:cs typeface="宋体" panose="02010600030101010101" pitchFamily="2" charset="-122"/>
              </a:rPr>
              <a:t>醉翁”侧重个人志趣，</a:t>
            </a:r>
            <a:r>
              <a:rPr lang="zh-CN" altLang="en-US" sz="2400">
                <a:latin typeface="宋体" panose="02010600030101010101" pitchFamily="2" charset="-122"/>
                <a:ea typeface="宋体" panose="02010600030101010101" pitchFamily="2" charset="-122"/>
                <a:cs typeface="宋体" panose="02010600030101010101" pitchFamily="2" charset="-122"/>
              </a:rPr>
              <a:t>“丰乐”侧重政治责任，但皆含与民同乐之心。</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lgn="l" defTabSz="266700">
              <a:spcBef>
                <a:spcPts val="500"/>
              </a:spcBef>
              <a:spcAft>
                <a:spcPts val="500"/>
              </a:spcAft>
            </a:pPr>
            <a:r>
              <a:rPr lang="en-US" altLang="zh-CN" sz="2400">
                <a:latin typeface="宋体" panose="02010600030101010101" pitchFamily="2" charset="-122"/>
                <a:ea typeface="宋体" panose="02010600030101010101" pitchFamily="2" charset="-122"/>
                <a:cs typeface="宋体" panose="02010600030101010101" pitchFamily="2" charset="-122"/>
              </a:rPr>
              <a:t>C.</a:t>
            </a:r>
            <a:r>
              <a:rPr lang="zh-CN" altLang="en-US" sz="2400">
                <a:latin typeface="宋体" panose="02010600030101010101" pitchFamily="2" charset="-122"/>
                <a:ea typeface="宋体" panose="02010600030101010101" pitchFamily="2" charset="-122"/>
                <a:cs typeface="宋体" panose="02010600030101010101" pitchFamily="2" charset="-122"/>
              </a:rPr>
              <a:t>亭名都暗含贬谪之悲：</a:t>
            </a:r>
            <a:r>
              <a:rPr lang="zh-CN" altLang="en-US" sz="2400">
                <a:latin typeface="宋体" panose="02010600030101010101" pitchFamily="2" charset="-122"/>
                <a:ea typeface="宋体" panose="02010600030101010101" pitchFamily="2" charset="-122"/>
                <a:cs typeface="宋体" panose="02010600030101010101" pitchFamily="2" charset="-122"/>
              </a:rPr>
              <a:t>“醉翁”是借酒消愁，</a:t>
            </a:r>
            <a:r>
              <a:rPr lang="zh-CN" altLang="en-US" sz="2400">
                <a:latin typeface="宋体" panose="02010600030101010101" pitchFamily="2" charset="-122"/>
                <a:ea typeface="宋体" panose="02010600030101010101" pitchFamily="2" charset="-122"/>
                <a:cs typeface="宋体" panose="02010600030101010101" pitchFamily="2" charset="-122"/>
              </a:rPr>
              <a:t>“丰乐”是强颜欢笑。</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lgn="l" defTabSz="266700">
              <a:spcBef>
                <a:spcPts val="500"/>
              </a:spcBef>
              <a:spcAft>
                <a:spcPts val="500"/>
              </a:spcAft>
            </a:pPr>
            <a:r>
              <a:rPr lang="en-US" altLang="zh-CN" sz="2400">
                <a:latin typeface="宋体" panose="02010600030101010101" pitchFamily="2" charset="-122"/>
                <a:ea typeface="宋体" panose="02010600030101010101" pitchFamily="2" charset="-122"/>
                <a:cs typeface="宋体" panose="02010600030101010101" pitchFamily="2" charset="-122"/>
              </a:rPr>
              <a:t>D.“</a:t>
            </a:r>
            <a:r>
              <a:rPr lang="zh-CN" altLang="en-US" sz="2400">
                <a:latin typeface="宋体" panose="02010600030101010101" pitchFamily="2" charset="-122"/>
                <a:ea typeface="宋体" panose="02010600030101010101" pitchFamily="2" charset="-122"/>
                <a:cs typeface="宋体" panose="02010600030101010101" pitchFamily="2" charset="-122"/>
              </a:rPr>
              <a:t>醉翁”反映作者游戏人间的态度，</a:t>
            </a:r>
            <a:r>
              <a:rPr lang="zh-CN" altLang="en-US" sz="2400">
                <a:latin typeface="宋体" panose="02010600030101010101" pitchFamily="2" charset="-122"/>
                <a:ea typeface="宋体" panose="02010600030101010101" pitchFamily="2" charset="-122"/>
                <a:cs typeface="宋体" panose="02010600030101010101" pitchFamily="2" charset="-122"/>
              </a:rPr>
              <a:t>“丰乐”体现其身为地方官的务实。</a:t>
            </a:r>
            <a:endParaRPr lang="zh-CN" altLang="en-US" sz="2400">
              <a:latin typeface="宋体" panose="02010600030101010101" pitchFamily="2" charset="-122"/>
              <a:ea typeface="宋体" panose="02010600030101010101" pitchFamily="2" charset="-122"/>
              <a:cs typeface="宋体" panose="02010600030101010101" pitchFamily="2" charset="-122"/>
            </a:endParaRPr>
          </a:p>
        </p:txBody>
      </p:sp>
      <p:sp>
        <p:nvSpPr>
          <p:cNvPr id="3" name="文本框 2"/>
          <p:cNvSpPr txBox="1"/>
          <p:nvPr/>
        </p:nvSpPr>
        <p:spPr>
          <a:xfrm>
            <a:off x="1577340" y="1685290"/>
            <a:ext cx="1936115" cy="335915"/>
          </a:xfrm>
          <a:prstGeom prst="rect">
            <a:avLst/>
          </a:prstGeom>
          <a:noFill/>
        </p:spPr>
        <p:txBody>
          <a:bodyPr wrap="square" rtlCol="0">
            <a:noAutofit/>
          </a:bodyPr>
          <a:p>
            <a:r>
              <a:rPr lang="en-US" altLang="zh-CN" sz="2000" b="1">
                <a:solidFill>
                  <a:srgbClr val="FF0000"/>
                </a:solidFill>
              </a:rPr>
              <a:t>B</a:t>
            </a:r>
            <a:endParaRPr lang="en-US" altLang="zh-CN" sz="2000" b="1">
              <a:solidFill>
                <a:srgbClr val="FF0000"/>
              </a:solidFill>
            </a:endParaRPr>
          </a:p>
        </p:txBody>
      </p:sp>
      <p:sp>
        <p:nvSpPr>
          <p:cNvPr id="6" name="椭圆 5"/>
          <p:cNvSpPr/>
          <p:nvPr/>
        </p:nvSpPr>
        <p:spPr>
          <a:xfrm>
            <a:off x="7359650" y="3168650"/>
            <a:ext cx="2968625" cy="492125"/>
          </a:xfrm>
          <a:prstGeom prst="ellipse">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10255885" y="2157095"/>
            <a:ext cx="1936115" cy="335915"/>
          </a:xfrm>
          <a:prstGeom prst="rect">
            <a:avLst/>
          </a:prstGeom>
          <a:noFill/>
        </p:spPr>
        <p:txBody>
          <a:bodyPr wrap="square" rtlCol="0">
            <a:noAutofit/>
          </a:bodyPr>
          <a:p>
            <a:r>
              <a:rPr lang="zh-CN" altLang="en-US" sz="3600" b="1">
                <a:solidFill>
                  <a:schemeClr val="accent1"/>
                </a:solidFill>
              </a:rPr>
              <a:t>×</a:t>
            </a:r>
            <a:endParaRPr lang="zh-CN" altLang="en-US" sz="3600" b="1">
              <a:solidFill>
                <a:schemeClr val="accent1"/>
              </a:solidFill>
            </a:endParaRPr>
          </a:p>
        </p:txBody>
      </p:sp>
      <p:sp>
        <p:nvSpPr>
          <p:cNvPr id="9" name="椭圆 8"/>
          <p:cNvSpPr/>
          <p:nvPr/>
        </p:nvSpPr>
        <p:spPr>
          <a:xfrm>
            <a:off x="7400290" y="2169795"/>
            <a:ext cx="2968625" cy="492125"/>
          </a:xfrm>
          <a:prstGeom prst="ellipse">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10449560" y="3324860"/>
            <a:ext cx="1936115" cy="335915"/>
          </a:xfrm>
          <a:prstGeom prst="rect">
            <a:avLst/>
          </a:prstGeom>
          <a:noFill/>
        </p:spPr>
        <p:txBody>
          <a:bodyPr wrap="square" rtlCol="0">
            <a:noAutofit/>
          </a:bodyPr>
          <a:p>
            <a:r>
              <a:rPr lang="zh-CN" altLang="en-US" sz="3600" b="1">
                <a:solidFill>
                  <a:schemeClr val="accent1"/>
                </a:solidFill>
              </a:rPr>
              <a:t>×</a:t>
            </a:r>
            <a:endParaRPr lang="zh-CN" altLang="en-US" sz="3600" b="1">
              <a:solidFill>
                <a:schemeClr val="accent1"/>
              </a:solidFill>
            </a:endParaRPr>
          </a:p>
        </p:txBody>
      </p:sp>
      <p:sp>
        <p:nvSpPr>
          <p:cNvPr id="11" name="椭圆 10"/>
          <p:cNvSpPr/>
          <p:nvPr/>
        </p:nvSpPr>
        <p:spPr>
          <a:xfrm>
            <a:off x="3127375" y="3707765"/>
            <a:ext cx="2968625" cy="492125"/>
          </a:xfrm>
          <a:prstGeom prst="ellipse">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4017010" y="4005580"/>
            <a:ext cx="1936115" cy="335915"/>
          </a:xfrm>
          <a:prstGeom prst="rect">
            <a:avLst/>
          </a:prstGeom>
          <a:noFill/>
        </p:spPr>
        <p:txBody>
          <a:bodyPr wrap="square" rtlCol="0">
            <a:noAutofit/>
          </a:bodyPr>
          <a:p>
            <a:r>
              <a:rPr lang="zh-CN" altLang="en-US" sz="3600" b="1">
                <a:solidFill>
                  <a:schemeClr val="accent1"/>
                </a:solidFill>
              </a:rPr>
              <a:t>×</a:t>
            </a:r>
            <a:endParaRPr lang="zh-CN" altLang="en-US" sz="3600" b="1">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9" grpId="0" bldLvl="0" animBg="1"/>
      <p:bldP spid="9" grpId="1" animBg="1"/>
      <p:bldP spid="8" grpId="0"/>
      <p:bldP spid="8" grpId="1"/>
      <p:bldP spid="6" grpId="0" bldLvl="0" animBg="1"/>
      <p:bldP spid="6" grpId="1" animBg="1"/>
      <p:bldP spid="10" grpId="0"/>
      <p:bldP spid="10" grpId="1"/>
      <p:bldP spid="11" grpId="0" bldLvl="0" animBg="1"/>
      <p:bldP spid="11" grpId="1" animBg="1"/>
      <p:bldP spid="12" grpId="0"/>
      <p:bldP spid="1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6" name="矩形 5"/>
          <p:cNvSpPr/>
          <p:nvPr/>
        </p:nvSpPr>
        <p:spPr>
          <a:xfrm>
            <a:off x="399822" y="384631"/>
            <a:ext cx="11392354" cy="608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2870201" y="2737001"/>
            <a:ext cx="1034596" cy="846488"/>
          </a:xfrm>
          <a:prstGeom prst="rect">
            <a:avLst/>
          </a:prstGeom>
        </p:spPr>
      </p:pic>
      <p:pic>
        <p:nvPicPr>
          <p:cNvPr id="27" name="图片 26"/>
          <p:cNvPicPr>
            <a:picLocks noChangeAspect="1"/>
          </p:cNvPicPr>
          <p:nvPr/>
        </p:nvPicPr>
        <p:blipFill rotWithShape="1">
          <a:blip r:embed="rId4">
            <a:extLst>
              <a:ext uri="{28A0092B-C50C-407E-A947-70E740481C1C}">
                <a14:useLocalDpi xmlns:a14="http://schemas.microsoft.com/office/drawing/2010/main" val="0"/>
              </a:ext>
            </a:extLst>
          </a:blip>
          <a:srcRect l="42303" t="16630" b="23945"/>
          <a:stretch>
            <a:fillRect/>
          </a:stretch>
        </p:blipFill>
        <p:spPr>
          <a:xfrm>
            <a:off x="8610600" y="749300"/>
            <a:ext cx="3181576" cy="5825502"/>
          </a:xfrm>
          <a:prstGeom prst="rect">
            <a:avLst/>
          </a:prstGeom>
        </p:spPr>
      </p:pic>
      <p:sp>
        <p:nvSpPr>
          <p:cNvPr id="28" name="文本框 27"/>
          <p:cNvSpPr txBox="1"/>
          <p:nvPr/>
        </p:nvSpPr>
        <p:spPr>
          <a:xfrm>
            <a:off x="4396683" y="3175729"/>
            <a:ext cx="2206171" cy="506730"/>
          </a:xfrm>
          <a:prstGeom prst="rect">
            <a:avLst/>
          </a:prstGeom>
          <a:noFill/>
        </p:spPr>
        <p:txBody>
          <a:bodyPr wrap="square" rtlCol="0">
            <a:spAutoFit/>
          </a:bodyPr>
          <a:lstStyle/>
          <a:p>
            <a:pPr algn="ctr"/>
            <a:r>
              <a:rPr lang="en-US" altLang="zh-CN" sz="2700">
                <a:solidFill>
                  <a:schemeClr val="tx1">
                    <a:lumMod val="75000"/>
                    <a:lumOff val="25000"/>
                  </a:schemeClr>
                </a:solidFill>
                <a:latin typeface="新宋体" panose="02010609030101010101" pitchFamily="49" charset="-122"/>
                <a:ea typeface="新宋体" panose="02010609030101010101" pitchFamily="49" charset="-122"/>
              </a:rPr>
              <a:t>2023.10</a:t>
            </a:r>
            <a:endParaRPr lang="en-US" altLang="zh-CN" sz="2700">
              <a:solidFill>
                <a:schemeClr val="tx1">
                  <a:lumMod val="75000"/>
                  <a:lumOff val="25000"/>
                </a:schemeClr>
              </a:solidFill>
              <a:latin typeface="新宋体" panose="02010609030101010101" pitchFamily="49" charset="-122"/>
              <a:ea typeface="新宋体" panose="02010609030101010101" pitchFamily="49" charset="-122"/>
            </a:endParaRPr>
          </a:p>
        </p:txBody>
      </p:sp>
      <p:pic>
        <p:nvPicPr>
          <p:cNvPr id="30" name="图片 29"/>
          <p:cNvPicPr>
            <a:picLocks noChangeAspect="1"/>
          </p:cNvPicPr>
          <p:nvPr/>
        </p:nvPicPr>
        <p:blipFill rotWithShape="1">
          <a:blip r:embed="rId5">
            <a:extLst>
              <a:ext uri="{28A0092B-C50C-407E-A947-70E740481C1C}">
                <a14:useLocalDpi xmlns:a14="http://schemas.microsoft.com/office/drawing/2010/main" val="0"/>
              </a:ext>
            </a:extLst>
          </a:blip>
          <a:srcRect t="17037" r="86112" b="42011"/>
          <a:stretch>
            <a:fillRect/>
          </a:stretch>
        </p:blipFill>
        <p:spPr>
          <a:xfrm>
            <a:off x="397914" y="3583036"/>
            <a:ext cx="1693229" cy="2808513"/>
          </a:xfrm>
          <a:prstGeom prst="rect">
            <a:avLst/>
          </a:prstGeom>
        </p:spPr>
      </p:pic>
      <p:sp>
        <p:nvSpPr>
          <p:cNvPr id="100" name="文本框 99"/>
          <p:cNvSpPr txBox="1"/>
          <p:nvPr/>
        </p:nvSpPr>
        <p:spPr>
          <a:xfrm>
            <a:off x="2091055" y="2375535"/>
            <a:ext cx="6817360" cy="691515"/>
          </a:xfrm>
          <a:prstGeom prst="rect">
            <a:avLst/>
          </a:prstGeom>
          <a:noFill/>
          <a:ln w="9525">
            <a:noFill/>
          </a:ln>
        </p:spPr>
        <p:txBody>
          <a:bodyPr wrap="square">
            <a:spAutoFit/>
          </a:bodyPr>
          <a:p>
            <a:pPr indent="0"/>
            <a:r>
              <a:rPr lang="zh-CN" sz="3900" b="1">
                <a:solidFill>
                  <a:srgbClr val="000000"/>
                </a:solidFill>
                <a:latin typeface="新宋体" panose="02010609030101010101" pitchFamily="49" charset="-122"/>
                <a:ea typeface="新宋体" panose="02010609030101010101" pitchFamily="49" charset="-122"/>
              </a:rPr>
              <a:t>深耕文化土壤，助力文创升级</a:t>
            </a:r>
            <a:endParaRPr lang="zh-CN" altLang="en-US" sz="3900" b="1">
              <a:solidFill>
                <a:srgbClr val="000000"/>
              </a:solidFill>
              <a:latin typeface="新宋体" panose="02010609030101010101" pitchFamily="49" charset="-122"/>
              <a:ea typeface="新宋体" panose="0201060903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4" name="矩形 3"/>
          <p:cNvSpPr/>
          <p:nvPr/>
        </p:nvSpPr>
        <p:spPr>
          <a:xfrm>
            <a:off x="399822" y="384631"/>
            <a:ext cx="11392354" cy="608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custDataLst>
              <p:tags r:id="rId2"/>
            </p:custDataLst>
          </p:nvPr>
        </p:nvSpPr>
        <p:spPr>
          <a:xfrm>
            <a:off x="722630" y="4584700"/>
            <a:ext cx="2132965" cy="506730"/>
          </a:xfrm>
          <a:prstGeom prst="rect">
            <a:avLst/>
          </a:prstGeom>
          <a:solidFill>
            <a:srgbClr val="96D7F3"/>
          </a:solidFill>
          <a:ln w="9525">
            <a:noFill/>
          </a:ln>
        </p:spPr>
        <p:txBody>
          <a:bodyPr wrap="square">
            <a:spAutoFit/>
          </a:bodyPr>
          <a:p>
            <a:pPr indent="0"/>
            <a:endParaRPr lang="zh-CN" altLang="en-US" sz="2700">
              <a:solidFill>
                <a:srgbClr val="FFFFFF"/>
              </a:solidFill>
              <a:latin typeface="黑体" panose="02010609060101010101" charset="-122"/>
              <a:ea typeface="黑体" panose="02010609060101010101" charset="-122"/>
            </a:endParaRPr>
          </a:p>
        </p:txBody>
      </p:sp>
      <p:sp>
        <p:nvSpPr>
          <p:cNvPr id="52" name="文本框 51"/>
          <p:cNvSpPr txBox="1"/>
          <p:nvPr>
            <p:custDataLst>
              <p:tags r:id="rId3"/>
            </p:custDataLst>
          </p:nvPr>
        </p:nvSpPr>
        <p:spPr>
          <a:xfrm>
            <a:off x="7825740" y="4156075"/>
            <a:ext cx="3352800" cy="506730"/>
          </a:xfrm>
          <a:prstGeom prst="rect">
            <a:avLst/>
          </a:prstGeom>
          <a:solidFill>
            <a:srgbClr val="96D7F3"/>
          </a:solidFill>
          <a:ln w="9525">
            <a:noFill/>
          </a:ln>
        </p:spPr>
        <p:txBody>
          <a:bodyPr wrap="square">
            <a:spAutoFit/>
          </a:bodyPr>
          <a:p>
            <a:pPr indent="0"/>
            <a:endParaRPr lang="zh-CN" altLang="en-US" sz="2700">
              <a:solidFill>
                <a:srgbClr val="FFFFFF"/>
              </a:solidFill>
              <a:latin typeface="黑体" panose="02010609060101010101" charset="-122"/>
              <a:ea typeface="黑体" panose="02010609060101010101" charset="-122"/>
            </a:endParaRPr>
          </a:p>
        </p:txBody>
      </p:sp>
      <p:sp>
        <p:nvSpPr>
          <p:cNvPr id="51" name="文本框 50"/>
          <p:cNvSpPr txBox="1"/>
          <p:nvPr>
            <p:custDataLst>
              <p:tags r:id="rId4"/>
            </p:custDataLst>
          </p:nvPr>
        </p:nvSpPr>
        <p:spPr>
          <a:xfrm>
            <a:off x="3126105" y="4223385"/>
            <a:ext cx="2322830" cy="435610"/>
          </a:xfrm>
          <a:prstGeom prst="rect">
            <a:avLst/>
          </a:prstGeom>
          <a:solidFill>
            <a:schemeClr val="accent2">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50" name="文本框 49"/>
          <p:cNvSpPr txBox="1"/>
          <p:nvPr>
            <p:custDataLst>
              <p:tags r:id="rId5"/>
            </p:custDataLst>
          </p:nvPr>
        </p:nvSpPr>
        <p:spPr>
          <a:xfrm>
            <a:off x="1012190" y="4243070"/>
            <a:ext cx="1725295" cy="435610"/>
          </a:xfrm>
          <a:prstGeom prst="rect">
            <a:avLst/>
          </a:prstGeom>
          <a:solidFill>
            <a:schemeClr val="accent2">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49" name="文本框 48"/>
          <p:cNvSpPr txBox="1"/>
          <p:nvPr>
            <p:custDataLst>
              <p:tags r:id="rId6"/>
            </p:custDataLst>
          </p:nvPr>
        </p:nvSpPr>
        <p:spPr>
          <a:xfrm>
            <a:off x="4416425" y="3790315"/>
            <a:ext cx="2762885" cy="435610"/>
          </a:xfrm>
          <a:prstGeom prst="rect">
            <a:avLst/>
          </a:prstGeom>
          <a:solidFill>
            <a:schemeClr val="accent2">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46" name="文本框 45"/>
          <p:cNvSpPr txBox="1"/>
          <p:nvPr>
            <p:custDataLst>
              <p:tags r:id="rId7"/>
            </p:custDataLst>
          </p:nvPr>
        </p:nvSpPr>
        <p:spPr>
          <a:xfrm>
            <a:off x="605790" y="3780790"/>
            <a:ext cx="1389380" cy="435610"/>
          </a:xfrm>
          <a:prstGeom prst="rect">
            <a:avLst/>
          </a:prstGeom>
          <a:solidFill>
            <a:schemeClr val="accent4">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42" name="文本框 41"/>
          <p:cNvSpPr txBox="1"/>
          <p:nvPr>
            <p:custDataLst>
              <p:tags r:id="rId8"/>
            </p:custDataLst>
          </p:nvPr>
        </p:nvSpPr>
        <p:spPr>
          <a:xfrm>
            <a:off x="10445115" y="2884805"/>
            <a:ext cx="733425" cy="435610"/>
          </a:xfrm>
          <a:prstGeom prst="rect">
            <a:avLst/>
          </a:prstGeom>
          <a:solidFill>
            <a:schemeClr val="accent5">
              <a:lumMod val="20000"/>
              <a:lumOff val="80000"/>
            </a:schemeClr>
          </a:solidFill>
          <a:ln w="9525">
            <a:noFill/>
          </a:ln>
        </p:spPr>
        <p:txBody>
          <a:bodyPr wrap="square">
            <a:noAutofit/>
          </a:bodyPr>
          <a:p>
            <a:pPr indent="0"/>
            <a:endParaRPr lang="en-US" altLang="zh-CN" sz="2700" b="1">
              <a:solidFill>
                <a:srgbClr val="000000"/>
              </a:solidFill>
              <a:latin typeface="新宋体" panose="02010609030101010101" pitchFamily="49" charset="-122"/>
              <a:ea typeface="新宋体" panose="02010609030101010101" pitchFamily="49" charset="-122"/>
            </a:endParaRPr>
          </a:p>
        </p:txBody>
      </p:sp>
      <p:sp>
        <p:nvSpPr>
          <p:cNvPr id="45" name="文本框 44"/>
          <p:cNvSpPr txBox="1"/>
          <p:nvPr>
            <p:custDataLst>
              <p:tags r:id="rId9"/>
            </p:custDataLst>
          </p:nvPr>
        </p:nvSpPr>
        <p:spPr>
          <a:xfrm>
            <a:off x="5843905" y="3389630"/>
            <a:ext cx="3364865" cy="435610"/>
          </a:xfrm>
          <a:prstGeom prst="rect">
            <a:avLst/>
          </a:prstGeom>
          <a:solidFill>
            <a:schemeClr val="accent4">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44" name="文本框 43"/>
          <p:cNvSpPr txBox="1"/>
          <p:nvPr>
            <p:custDataLst>
              <p:tags r:id="rId10"/>
            </p:custDataLst>
          </p:nvPr>
        </p:nvSpPr>
        <p:spPr>
          <a:xfrm>
            <a:off x="2962910" y="3389630"/>
            <a:ext cx="2552700" cy="435610"/>
          </a:xfrm>
          <a:prstGeom prst="rect">
            <a:avLst/>
          </a:prstGeom>
          <a:solidFill>
            <a:schemeClr val="accent4">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41" name="文本框 40"/>
          <p:cNvSpPr txBox="1"/>
          <p:nvPr>
            <p:custDataLst>
              <p:tags r:id="rId11"/>
            </p:custDataLst>
          </p:nvPr>
        </p:nvSpPr>
        <p:spPr>
          <a:xfrm>
            <a:off x="4075430" y="2484120"/>
            <a:ext cx="4405630" cy="435610"/>
          </a:xfrm>
          <a:prstGeom prst="rect">
            <a:avLst/>
          </a:prstGeom>
          <a:solidFill>
            <a:schemeClr val="accent5">
              <a:lumMod val="20000"/>
              <a:lumOff val="80000"/>
            </a:schemeClr>
          </a:solidFill>
          <a:ln w="9525">
            <a:noFill/>
          </a:ln>
        </p:spPr>
        <p:txBody>
          <a:bodyPr wrap="square">
            <a:noAutofit/>
          </a:bodyPr>
          <a:p>
            <a:pPr indent="0"/>
            <a:endParaRPr lang="en-US" altLang="zh-CN" sz="2700" b="1">
              <a:solidFill>
                <a:srgbClr val="000000"/>
              </a:solidFill>
              <a:latin typeface="新宋体" panose="02010609030101010101" pitchFamily="49" charset="-122"/>
              <a:ea typeface="新宋体" panose="02010609030101010101" pitchFamily="49" charset="-122"/>
            </a:endParaRPr>
          </a:p>
        </p:txBody>
      </p:sp>
      <p:sp>
        <p:nvSpPr>
          <p:cNvPr id="100" name="文本框 99"/>
          <p:cNvSpPr txBox="1"/>
          <p:nvPr/>
        </p:nvSpPr>
        <p:spPr>
          <a:xfrm>
            <a:off x="609600" y="849630"/>
            <a:ext cx="10812145" cy="4246245"/>
          </a:xfrm>
          <a:prstGeom prst="rect">
            <a:avLst/>
          </a:prstGeom>
          <a:noFill/>
          <a:ln w="9525">
            <a:noFill/>
          </a:ln>
        </p:spPr>
        <p:txBody>
          <a:bodyPr wrap="square">
            <a:spAutoFit/>
          </a:bodyPr>
          <a:p>
            <a:pPr indent="266700"/>
            <a:r>
              <a:rPr lang="en-US" altLang="zh-CN" sz="2700" b="0">
                <a:solidFill>
                  <a:srgbClr val="000000"/>
                </a:solidFill>
                <a:latin typeface="楷体" panose="02010609060101010101" charset="-122"/>
                <a:ea typeface="楷体" panose="02010609060101010101" charset="-122"/>
                <a:cs typeface="楷体" panose="02010609060101010101" charset="-122"/>
              </a:rPr>
              <a:t>  </a:t>
            </a:r>
            <a:r>
              <a:rPr lang="zh-CN" sz="2700" b="0">
                <a:solidFill>
                  <a:srgbClr val="000000"/>
                </a:solidFill>
                <a:latin typeface="楷体" panose="02010609060101010101" charset="-122"/>
                <a:ea typeface="楷体" panose="02010609060101010101" charset="-122"/>
                <a:cs typeface="楷体" panose="02010609060101010101" charset="-122"/>
              </a:rPr>
              <a:t>①二十四节气主题徽章、古建筑榫卯积木、“遇见颐和园”沉浸式光影秀……不久前，在第五届进博会现场，富含中国元素的文创产品受到欢迎，成为扮靓“四叶草”展馆的一道独特风景，让人们感受到中华文化的独特影响力。</a:t>
            </a:r>
            <a:endParaRPr lang="zh-CN" sz="2700" b="0">
              <a:solidFill>
                <a:srgbClr val="000000"/>
              </a:solidFill>
              <a:latin typeface="楷体" panose="02010609060101010101" charset="-122"/>
              <a:ea typeface="楷体" panose="02010609060101010101" charset="-122"/>
              <a:cs typeface="楷体" panose="02010609060101010101" charset="-122"/>
            </a:endParaRPr>
          </a:p>
          <a:p>
            <a:pPr indent="266700"/>
            <a:r>
              <a:rPr lang="en-US" altLang="zh-CN" sz="2700" b="0">
                <a:solidFill>
                  <a:srgbClr val="000000"/>
                </a:solidFill>
                <a:latin typeface="楷体" panose="02010609060101010101" charset="-122"/>
                <a:ea typeface="楷体" panose="02010609060101010101" charset="-122"/>
                <a:cs typeface="楷体" panose="02010609060101010101" charset="-122"/>
              </a:rPr>
              <a:t>  </a:t>
            </a:r>
            <a:r>
              <a:rPr lang="zh-CN" sz="2700" b="0">
                <a:solidFill>
                  <a:srgbClr val="000000"/>
                </a:solidFill>
                <a:latin typeface="楷体" panose="02010609060101010101" charset="-122"/>
                <a:ea typeface="楷体" panose="02010609060101010101" charset="-122"/>
                <a:cs typeface="楷体" panose="02010609060101010101" charset="-122"/>
              </a:rPr>
              <a:t>②经过多年沉淀，我国文化创意产品开发经历了从外形模仿到元素提取、从实物用品到非实体形态的演化</a:t>
            </a:r>
            <a:r>
              <a:rPr lang="en-US" altLang="zh-CN" sz="2700" b="0">
                <a:solidFill>
                  <a:srgbClr val="000000"/>
                </a:solidFill>
                <a:latin typeface="楷体" panose="02010609060101010101" charset="-122"/>
                <a:ea typeface="楷体" panose="02010609060101010101" charset="-122"/>
                <a:cs typeface="楷体" panose="02010609060101010101" charset="-122"/>
              </a:rPr>
              <a:t>,</a:t>
            </a:r>
            <a:r>
              <a:rPr lang="zh-CN" sz="2700" b="0">
                <a:solidFill>
                  <a:srgbClr val="000000"/>
                </a:solidFill>
                <a:latin typeface="楷体" panose="02010609060101010101" charset="-122"/>
                <a:ea typeface="楷体" panose="02010609060101010101" charset="-122"/>
                <a:cs typeface="楷体" panose="02010609060101010101" charset="-122"/>
              </a:rPr>
              <a:t>正在从量的突破走向质的升级。开发出一大批彰显中华美学风格、满足人民精神生活需要、融合当代科技力量的文创产品，是文化创新创造活力的体现，也是不断提升国家文化软实力和中华文化影响力的要求。因此，我们要深耕文化土壤，助力文创升级。</a:t>
            </a:r>
            <a:endParaRPr lang="zh-CN" altLang="en-US" sz="2700" b="0">
              <a:solidFill>
                <a:srgbClr val="000000"/>
              </a:solidFill>
              <a:latin typeface="楷体" panose="02010609060101010101" charset="-122"/>
              <a:ea typeface="楷体" panose="02010609060101010101" charset="-122"/>
              <a:cs typeface="楷体" panose="02010609060101010101" charset="-122"/>
            </a:endParaRPr>
          </a:p>
        </p:txBody>
      </p:sp>
      <p:cxnSp>
        <p:nvCxnSpPr>
          <p:cNvPr id="2" name="直接连接符 1"/>
          <p:cNvCxnSpPr/>
          <p:nvPr/>
        </p:nvCxnSpPr>
        <p:spPr>
          <a:xfrm flipV="1">
            <a:off x="7178675" y="1698625"/>
            <a:ext cx="3866515" cy="20320"/>
          </a:xfrm>
          <a:prstGeom prst="line">
            <a:avLst/>
          </a:prstGeom>
          <a:ln w="19050">
            <a:solidFill>
              <a:srgbClr val="13396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12"/>
            </p:custDataLst>
          </p:nvPr>
        </p:nvCxnSpPr>
        <p:spPr>
          <a:xfrm flipV="1">
            <a:off x="677545" y="2095500"/>
            <a:ext cx="1495425" cy="10160"/>
          </a:xfrm>
          <a:prstGeom prst="line">
            <a:avLst/>
          </a:prstGeom>
          <a:ln w="19050">
            <a:solidFill>
              <a:srgbClr val="133965"/>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13"/>
            </p:custDataLst>
          </p:nvPr>
        </p:nvCxnSpPr>
        <p:spPr>
          <a:xfrm flipV="1">
            <a:off x="4075430" y="2909570"/>
            <a:ext cx="4405630" cy="10160"/>
          </a:xfrm>
          <a:prstGeom prst="line">
            <a:avLst/>
          </a:prstGeom>
          <a:ln w="19050">
            <a:solidFill>
              <a:srgbClr val="133965"/>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4"/>
            </p:custDataLst>
          </p:nvPr>
        </p:nvCxnSpPr>
        <p:spPr>
          <a:xfrm flipV="1">
            <a:off x="6701155" y="3326765"/>
            <a:ext cx="4425950" cy="10160"/>
          </a:xfrm>
          <a:prstGeom prst="line">
            <a:avLst/>
          </a:prstGeom>
          <a:ln w="19050">
            <a:solidFill>
              <a:srgbClr val="133965"/>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4126230" y="1281430"/>
            <a:ext cx="2014855" cy="498475"/>
          </a:xfrm>
          <a:prstGeom prst="ellipse">
            <a:avLst/>
          </a:prstGeom>
          <a:noFill/>
          <a:ln w="19050">
            <a:solidFill>
              <a:srgbClr val="13396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椭圆 12"/>
          <p:cNvSpPr/>
          <p:nvPr>
            <p:custDataLst>
              <p:tags r:id="rId15"/>
            </p:custDataLst>
          </p:nvPr>
        </p:nvSpPr>
        <p:spPr>
          <a:xfrm>
            <a:off x="2737485" y="3326765"/>
            <a:ext cx="2778125" cy="498475"/>
          </a:xfrm>
          <a:prstGeom prst="ellipse">
            <a:avLst/>
          </a:prstGeom>
          <a:noFill/>
          <a:ln w="19050">
            <a:solidFill>
              <a:srgbClr val="13396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椭圆 13"/>
          <p:cNvSpPr/>
          <p:nvPr>
            <p:custDataLst>
              <p:tags r:id="rId16"/>
            </p:custDataLst>
          </p:nvPr>
        </p:nvSpPr>
        <p:spPr>
          <a:xfrm>
            <a:off x="5647055" y="3326765"/>
            <a:ext cx="3787140" cy="498475"/>
          </a:xfrm>
          <a:prstGeom prst="ellipse">
            <a:avLst/>
          </a:prstGeom>
          <a:noFill/>
          <a:ln w="19050">
            <a:solidFill>
              <a:srgbClr val="13396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椭圆 34"/>
          <p:cNvSpPr/>
          <p:nvPr>
            <p:custDataLst>
              <p:tags r:id="rId17"/>
            </p:custDataLst>
          </p:nvPr>
        </p:nvSpPr>
        <p:spPr>
          <a:xfrm>
            <a:off x="605790" y="3717925"/>
            <a:ext cx="1649095" cy="498475"/>
          </a:xfrm>
          <a:prstGeom prst="ellipse">
            <a:avLst/>
          </a:prstGeom>
          <a:noFill/>
          <a:ln w="19050">
            <a:solidFill>
              <a:srgbClr val="13396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36" name="直接连接符 35"/>
          <p:cNvCxnSpPr/>
          <p:nvPr>
            <p:custDataLst>
              <p:tags r:id="rId18"/>
            </p:custDataLst>
          </p:nvPr>
        </p:nvCxnSpPr>
        <p:spPr>
          <a:xfrm flipV="1">
            <a:off x="4421505" y="4130675"/>
            <a:ext cx="2787650" cy="10160"/>
          </a:xfrm>
          <a:prstGeom prst="line">
            <a:avLst/>
          </a:prstGeom>
          <a:ln w="19050" cmpd="thinThick">
            <a:solidFill>
              <a:srgbClr val="133965"/>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19"/>
            </p:custDataLst>
          </p:nvPr>
        </p:nvCxnSpPr>
        <p:spPr>
          <a:xfrm>
            <a:off x="1028065" y="4573270"/>
            <a:ext cx="1633220" cy="5080"/>
          </a:xfrm>
          <a:prstGeom prst="line">
            <a:avLst/>
          </a:prstGeom>
          <a:ln w="19050" cmpd="thinThick">
            <a:solidFill>
              <a:srgbClr val="133965"/>
            </a:solidFill>
            <a:prstDash val="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custDataLst>
              <p:tags r:id="rId20"/>
            </p:custDataLst>
          </p:nvPr>
        </p:nvCxnSpPr>
        <p:spPr>
          <a:xfrm flipV="1">
            <a:off x="3775075" y="4568190"/>
            <a:ext cx="1673860" cy="5080"/>
          </a:xfrm>
          <a:prstGeom prst="line">
            <a:avLst/>
          </a:prstGeom>
          <a:ln w="19050" cmpd="thinThick">
            <a:solidFill>
              <a:srgbClr val="133965"/>
            </a:solidFill>
            <a:prstDash val="dash"/>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4761865" y="2060575"/>
            <a:ext cx="6908800" cy="506730"/>
          </a:xfrm>
          <a:prstGeom prst="rect">
            <a:avLst/>
          </a:prstGeom>
          <a:solidFill>
            <a:srgbClr val="96D7F3"/>
          </a:solidFill>
          <a:ln w="9525">
            <a:noFill/>
          </a:ln>
        </p:spPr>
        <p:txBody>
          <a:bodyPr wrap="square">
            <a:spAutoFit/>
          </a:bodyPr>
          <a:p>
            <a:pPr indent="0"/>
            <a:r>
              <a:rPr lang="en-US" altLang="zh-CN" sz="2700" b="1">
                <a:solidFill>
                  <a:srgbClr val="000000"/>
                </a:solidFill>
                <a:latin typeface="新宋体" panose="02010609030101010101" pitchFamily="49" charset="-122"/>
                <a:ea typeface="新宋体" panose="02010609030101010101" pitchFamily="49" charset="-122"/>
              </a:rPr>
              <a:t>第五届进博会中国文创产品</a:t>
            </a:r>
            <a:r>
              <a:rPr lang="zh-CN" altLang="en-US" sz="2700" b="1">
                <a:solidFill>
                  <a:srgbClr val="000000"/>
                </a:solidFill>
                <a:latin typeface="新宋体" panose="02010609030101010101" pitchFamily="49" charset="-122"/>
                <a:ea typeface="新宋体" panose="02010609030101010101" pitchFamily="49" charset="-122"/>
              </a:rPr>
              <a:t>深受欢迎</a:t>
            </a:r>
            <a:endParaRPr lang="en-US" altLang="zh-CN" sz="2700" b="1">
              <a:solidFill>
                <a:srgbClr val="000000"/>
              </a:solidFill>
              <a:latin typeface="新宋体" panose="02010609030101010101" pitchFamily="49" charset="-122"/>
              <a:ea typeface="新宋体" panose="02010609030101010101" pitchFamily="49" charset="-122"/>
            </a:endParaRPr>
          </a:p>
        </p:txBody>
      </p:sp>
      <p:sp>
        <p:nvSpPr>
          <p:cNvPr id="40" name="文本框 39"/>
          <p:cNvSpPr txBox="1"/>
          <p:nvPr>
            <p:custDataLst>
              <p:tags r:id="rId21"/>
            </p:custDataLst>
          </p:nvPr>
        </p:nvSpPr>
        <p:spPr>
          <a:xfrm>
            <a:off x="10445115" y="2065020"/>
            <a:ext cx="976630" cy="506730"/>
          </a:xfrm>
          <a:prstGeom prst="rect">
            <a:avLst/>
          </a:prstGeom>
          <a:solidFill>
            <a:srgbClr val="96D7F3"/>
          </a:solidFill>
          <a:ln w="9525">
            <a:noFill/>
          </a:ln>
        </p:spPr>
        <p:txBody>
          <a:bodyPr wrap="square">
            <a:spAutoFit/>
          </a:bodyPr>
          <a:p>
            <a:pPr indent="0"/>
            <a:r>
              <a:rPr lang="zh-CN" altLang="en-US" sz="2700">
                <a:solidFill>
                  <a:srgbClr val="FFFFFF"/>
                </a:solidFill>
                <a:latin typeface="黑体" panose="02010609060101010101" charset="-122"/>
                <a:ea typeface="黑体" panose="02010609060101010101" charset="-122"/>
              </a:rPr>
              <a:t>事例</a:t>
            </a:r>
            <a:endParaRPr lang="zh-CN" altLang="en-US" sz="2700">
              <a:solidFill>
                <a:srgbClr val="FFFFFF"/>
              </a:solidFill>
              <a:latin typeface="黑体" panose="02010609060101010101" charset="-122"/>
              <a:ea typeface="黑体" panose="02010609060101010101" charset="-122"/>
            </a:endParaRPr>
          </a:p>
        </p:txBody>
      </p:sp>
      <p:sp>
        <p:nvSpPr>
          <p:cNvPr id="43" name="文本框 42"/>
          <p:cNvSpPr txBox="1"/>
          <p:nvPr>
            <p:custDataLst>
              <p:tags r:id="rId22"/>
            </p:custDataLst>
          </p:nvPr>
        </p:nvSpPr>
        <p:spPr>
          <a:xfrm>
            <a:off x="1640840" y="5095875"/>
            <a:ext cx="1019810" cy="435610"/>
          </a:xfrm>
          <a:prstGeom prst="rect">
            <a:avLst/>
          </a:prstGeom>
          <a:solidFill>
            <a:srgbClr val="EDEBEE"/>
          </a:solidFill>
          <a:ln w="9525">
            <a:noFill/>
          </a:ln>
        </p:spPr>
        <p:txBody>
          <a:bodyPr wrap="square">
            <a:noAutofit/>
          </a:bodyPr>
          <a:p>
            <a:pPr indent="0"/>
            <a:r>
              <a:rPr lang="zh-CN" altLang="en-US" sz="2700" b="1">
                <a:solidFill>
                  <a:srgbClr val="000000"/>
                </a:solidFill>
                <a:latin typeface="新宋体" panose="02010609030101010101" pitchFamily="49" charset="-122"/>
                <a:ea typeface="新宋体" panose="02010609030101010101" pitchFamily="49" charset="-122"/>
              </a:rPr>
              <a:t>升级</a:t>
            </a:r>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47" name="文本框 46"/>
          <p:cNvSpPr txBox="1"/>
          <p:nvPr>
            <p:custDataLst>
              <p:tags r:id="rId23"/>
            </p:custDataLst>
          </p:nvPr>
        </p:nvSpPr>
        <p:spPr>
          <a:xfrm>
            <a:off x="2855595" y="5095875"/>
            <a:ext cx="1429385" cy="435610"/>
          </a:xfrm>
          <a:prstGeom prst="rect">
            <a:avLst/>
          </a:prstGeom>
          <a:solidFill>
            <a:schemeClr val="accent4">
              <a:lumMod val="20000"/>
              <a:lumOff val="80000"/>
            </a:schemeClr>
          </a:solidFill>
          <a:ln w="9525">
            <a:noFill/>
          </a:ln>
        </p:spPr>
        <p:txBody>
          <a:bodyPr wrap="square">
            <a:noAutofit/>
          </a:bodyPr>
          <a:p>
            <a:pPr indent="0"/>
            <a:r>
              <a:rPr lang="zh-CN" altLang="en-US" sz="2700" b="1">
                <a:solidFill>
                  <a:srgbClr val="000000"/>
                </a:solidFill>
                <a:latin typeface="新宋体" panose="02010609030101010101" pitchFamily="49" charset="-122"/>
                <a:ea typeface="新宋体" panose="02010609030101010101" pitchFamily="49" charset="-122"/>
              </a:rPr>
              <a:t>（</a:t>
            </a:r>
            <a:r>
              <a:rPr lang="zh-CN" altLang="en-US" sz="2700" b="1">
                <a:solidFill>
                  <a:srgbClr val="000000"/>
                </a:solidFill>
                <a:latin typeface="新宋体" panose="02010609030101010101" pitchFamily="49" charset="-122"/>
                <a:ea typeface="新宋体" panose="02010609030101010101" pitchFamily="49" charset="-122"/>
              </a:rPr>
              <a:t>特点）</a:t>
            </a:r>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48" name="文本框 47"/>
          <p:cNvSpPr txBox="1"/>
          <p:nvPr>
            <p:custDataLst>
              <p:tags r:id="rId24"/>
            </p:custDataLst>
          </p:nvPr>
        </p:nvSpPr>
        <p:spPr>
          <a:xfrm>
            <a:off x="4551680" y="5095875"/>
            <a:ext cx="2331720" cy="435610"/>
          </a:xfrm>
          <a:prstGeom prst="rect">
            <a:avLst/>
          </a:prstGeom>
          <a:solidFill>
            <a:schemeClr val="accent2">
              <a:lumMod val="20000"/>
              <a:lumOff val="80000"/>
            </a:schemeClr>
          </a:solidFill>
          <a:ln w="9525">
            <a:noFill/>
          </a:ln>
        </p:spPr>
        <p:txBody>
          <a:bodyPr wrap="square">
            <a:noAutofit/>
          </a:bodyPr>
          <a:p>
            <a:pPr indent="0"/>
            <a:r>
              <a:rPr lang="zh-CN" altLang="en-US" sz="2700" b="1">
                <a:solidFill>
                  <a:srgbClr val="000000"/>
                </a:solidFill>
                <a:latin typeface="新宋体" panose="02010609030101010101" pitchFamily="49" charset="-122"/>
                <a:ea typeface="新宋体" panose="02010609030101010101" pitchFamily="49" charset="-122"/>
              </a:rPr>
              <a:t>与文化的</a:t>
            </a:r>
            <a:r>
              <a:rPr lang="zh-CN" altLang="en-US" sz="2700" b="1">
                <a:solidFill>
                  <a:srgbClr val="000000"/>
                </a:solidFill>
                <a:latin typeface="新宋体" panose="02010609030101010101" pitchFamily="49" charset="-122"/>
                <a:ea typeface="新宋体" panose="02010609030101010101" pitchFamily="49" charset="-122"/>
              </a:rPr>
              <a:t>关系</a:t>
            </a:r>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54" name="文本框 53"/>
          <p:cNvSpPr txBox="1"/>
          <p:nvPr>
            <p:custDataLst>
              <p:tags r:id="rId25"/>
            </p:custDataLst>
          </p:nvPr>
        </p:nvSpPr>
        <p:spPr>
          <a:xfrm>
            <a:off x="9270365" y="4584700"/>
            <a:ext cx="1908175" cy="528955"/>
          </a:xfrm>
          <a:prstGeom prst="rect">
            <a:avLst/>
          </a:prstGeom>
          <a:solidFill>
            <a:srgbClr val="96D7F3"/>
          </a:solidFill>
          <a:ln w="9525">
            <a:noFill/>
          </a:ln>
        </p:spPr>
        <p:txBody>
          <a:bodyPr wrap="square">
            <a:noAutofit/>
          </a:bodyPr>
          <a:p>
            <a:pPr indent="0"/>
            <a:r>
              <a:rPr lang="en-US" altLang="zh-CN" sz="2700" b="1">
                <a:solidFill>
                  <a:srgbClr val="C00000"/>
                </a:solidFill>
                <a:latin typeface="新宋体" panose="02010609030101010101" pitchFamily="49" charset="-122"/>
                <a:ea typeface="新宋体" panose="02010609030101010101" pitchFamily="49" charset="-122"/>
              </a:rPr>
              <a:t> </a:t>
            </a:r>
            <a:r>
              <a:rPr lang="zh-CN" altLang="en-US" sz="2700" b="1">
                <a:solidFill>
                  <a:srgbClr val="C00000"/>
                </a:solidFill>
                <a:latin typeface="新宋体" panose="02010609030101010101" pitchFamily="49" charset="-122"/>
                <a:ea typeface="新宋体" panose="02010609030101010101" pitchFamily="49" charset="-122"/>
              </a:rPr>
              <a:t>中心论点</a:t>
            </a:r>
            <a:endParaRPr lang="zh-CN" altLang="en-US" sz="2700" b="1">
              <a:solidFill>
                <a:srgbClr val="C00000"/>
              </a:solidFill>
              <a:latin typeface="新宋体" panose="02010609030101010101" pitchFamily="49" charset="-122"/>
              <a:ea typeface="新宋体" panose="02010609030101010101" pitchFamily="49" charset="-122"/>
            </a:endParaRPr>
          </a:p>
        </p:txBody>
      </p:sp>
      <p:cxnSp>
        <p:nvCxnSpPr>
          <p:cNvPr id="55" name="直接箭头连接符 54"/>
          <p:cNvCxnSpPr/>
          <p:nvPr/>
        </p:nvCxnSpPr>
        <p:spPr>
          <a:xfrm flipH="1">
            <a:off x="10170160" y="2576195"/>
            <a:ext cx="497205" cy="21107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6" name="文本框 55"/>
          <p:cNvSpPr txBox="1"/>
          <p:nvPr>
            <p:custDataLst>
              <p:tags r:id="rId26"/>
            </p:custDataLst>
          </p:nvPr>
        </p:nvSpPr>
        <p:spPr>
          <a:xfrm>
            <a:off x="2122170" y="5531485"/>
            <a:ext cx="3393440" cy="528955"/>
          </a:xfrm>
          <a:prstGeom prst="rect">
            <a:avLst/>
          </a:prstGeom>
          <a:solidFill>
            <a:srgbClr val="96D7F3"/>
          </a:solidFill>
          <a:ln w="9525">
            <a:noFill/>
          </a:ln>
        </p:spPr>
        <p:txBody>
          <a:bodyPr wrap="square">
            <a:noAutofit/>
          </a:bodyPr>
          <a:p>
            <a:pPr indent="0"/>
            <a:r>
              <a:rPr lang="en-US" altLang="zh-CN" sz="2700" b="1">
                <a:solidFill>
                  <a:srgbClr val="C00000"/>
                </a:solidFill>
                <a:latin typeface="新宋体" panose="02010609030101010101" pitchFamily="49" charset="-122"/>
                <a:ea typeface="新宋体" panose="02010609030101010101" pitchFamily="49" charset="-122"/>
              </a:rPr>
              <a:t> </a:t>
            </a:r>
            <a:r>
              <a:rPr lang="zh-CN" altLang="en-US" sz="2700" b="1">
                <a:solidFill>
                  <a:schemeClr val="tx1"/>
                </a:solidFill>
                <a:latin typeface="新宋体" panose="02010609030101010101" pitchFamily="49" charset="-122"/>
                <a:ea typeface="新宋体" panose="02010609030101010101" pitchFamily="49" charset="-122"/>
              </a:rPr>
              <a:t>分析受欢迎的原因</a:t>
            </a:r>
            <a:endParaRPr lang="zh-CN" altLang="en-US" sz="2700" b="1">
              <a:solidFill>
                <a:schemeClr val="tx1"/>
              </a:solidFill>
              <a:latin typeface="新宋体" panose="02010609030101010101" pitchFamily="49" charset="-122"/>
              <a:ea typeface="新宋体" panose="02010609030101010101" pitchFamily="49" charset="-122"/>
            </a:endParaRPr>
          </a:p>
        </p:txBody>
      </p:sp>
      <p:sp>
        <p:nvSpPr>
          <p:cNvPr id="57" name="椭圆 56"/>
          <p:cNvSpPr/>
          <p:nvPr>
            <p:custDataLst>
              <p:tags r:id="rId27"/>
            </p:custDataLst>
          </p:nvPr>
        </p:nvSpPr>
        <p:spPr>
          <a:xfrm>
            <a:off x="6780530" y="4161155"/>
            <a:ext cx="906780" cy="498475"/>
          </a:xfrm>
          <a:prstGeom prst="ellipse">
            <a:avLst/>
          </a:prstGeom>
          <a:noFill/>
          <a:ln w="19050">
            <a:solidFill>
              <a:srgbClr val="13396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500" fill="hold">
                                          <p:stCondLst>
                                            <p:cond delay="0"/>
                                          </p:stCondLst>
                                        </p:cTn>
                                        <p:tgtEl>
                                          <p:spTgt spid="12"/>
                                        </p:tgtEl>
                                        <p:attrNameLst>
                                          <p:attrName>style.visibility</p:attrName>
                                        </p:attrNameLst>
                                      </p:cBhvr>
                                      <p:to>
                                        <p:strVal val="visible"/>
                                      </p:to>
                                    </p:set>
                                    <p:animEffect transition="in" filter="wheel(1)">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left)">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left)">
                                      <p:cBhvr>
                                        <p:cTn id="27" dur="5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500" fill="hold">
                                          <p:stCondLst>
                                            <p:cond delay="0"/>
                                          </p:stCondLst>
                                        </p:cTn>
                                        <p:tgtEl>
                                          <p:spTgt spid="13"/>
                                        </p:tgtEl>
                                        <p:attrNameLst>
                                          <p:attrName>style.visibility</p:attrName>
                                        </p:attrNameLst>
                                      </p:cBhvr>
                                      <p:to>
                                        <p:strVal val="visible"/>
                                      </p:to>
                                    </p:set>
                                    <p:animEffect transition="in" filter="wheel(1)">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1" presetClass="entr" presetSubtype="1" fill="hold" grpId="0" nodeType="clickEffect">
                                  <p:stCondLst>
                                    <p:cond delay="0"/>
                                  </p:stCondLst>
                                  <p:childTnLst>
                                    <p:set>
                                      <p:cBhvr>
                                        <p:cTn id="46" dur="500" fill="hold">
                                          <p:stCondLst>
                                            <p:cond delay="0"/>
                                          </p:stCondLst>
                                        </p:cTn>
                                        <p:tgtEl>
                                          <p:spTgt spid="14"/>
                                        </p:tgtEl>
                                        <p:attrNameLst>
                                          <p:attrName>style.visibility</p:attrName>
                                        </p:attrNameLst>
                                      </p:cBhvr>
                                      <p:to>
                                        <p:strVal val="visible"/>
                                      </p:to>
                                    </p:set>
                                    <p:animEffect transition="in" filter="wheel(1)">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grpId="0" nodeType="clickEffect">
                                  <p:stCondLst>
                                    <p:cond delay="0"/>
                                  </p:stCondLst>
                                  <p:childTnLst>
                                    <p:set>
                                      <p:cBhvr>
                                        <p:cTn id="51" dur="500" fill="hold">
                                          <p:stCondLst>
                                            <p:cond delay="0"/>
                                          </p:stCondLst>
                                        </p:cTn>
                                        <p:tgtEl>
                                          <p:spTgt spid="35"/>
                                        </p:tgtEl>
                                        <p:attrNameLst>
                                          <p:attrName>style.visibility</p:attrName>
                                        </p:attrNameLst>
                                      </p:cBhvr>
                                      <p:to>
                                        <p:strVal val="visible"/>
                                      </p:to>
                                    </p:set>
                                    <p:animEffect transition="in" filter="wheel(1)">
                                      <p:cBhvr>
                                        <p:cTn id="52" dur="500"/>
                                        <p:tgtEl>
                                          <p:spTgt spid="3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wipe(left)">
                                      <p:cBhvr>
                                        <p:cTn id="57" dur="500"/>
                                        <p:tgtEl>
                                          <p:spTgt spid="3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wipe(left)">
                                      <p:cBhvr>
                                        <p:cTn id="62" dur="500"/>
                                        <p:tgtEl>
                                          <p:spTgt spid="3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wipe(left)">
                                      <p:cBhvr>
                                        <p:cTn id="67" dur="500"/>
                                        <p:tgtEl>
                                          <p:spTgt spid="3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wipe(left)">
                                      <p:cBhvr>
                                        <p:cTn id="72" dur="500"/>
                                        <p:tgtEl>
                                          <p:spTgt spid="4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wipe(left)">
                                      <p:cBhvr>
                                        <p:cTn id="77" dur="500"/>
                                        <p:tgtEl>
                                          <p:spTgt spid="4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wipe(left)">
                                      <p:cBhvr>
                                        <p:cTn id="82" dur="500"/>
                                        <p:tgtEl>
                                          <p:spTgt spid="4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wipe(left)">
                                      <p:cBhvr>
                                        <p:cTn id="87" dur="500"/>
                                        <p:tgtEl>
                                          <p:spTgt spid="4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45"/>
                                        </p:tgtEl>
                                        <p:attrNameLst>
                                          <p:attrName>style.visibility</p:attrName>
                                        </p:attrNameLst>
                                      </p:cBhvr>
                                      <p:to>
                                        <p:strVal val="visible"/>
                                      </p:to>
                                    </p:set>
                                    <p:animEffect transition="in" filter="wipe(left)">
                                      <p:cBhvr>
                                        <p:cTn id="92" dur="500"/>
                                        <p:tgtEl>
                                          <p:spTgt spid="4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46"/>
                                        </p:tgtEl>
                                        <p:attrNameLst>
                                          <p:attrName>style.visibility</p:attrName>
                                        </p:attrNameLst>
                                      </p:cBhvr>
                                      <p:to>
                                        <p:strVal val="visible"/>
                                      </p:to>
                                    </p:set>
                                    <p:animEffect transition="in" filter="wipe(left)">
                                      <p:cBhvr>
                                        <p:cTn id="97" dur="500"/>
                                        <p:tgtEl>
                                          <p:spTgt spid="46"/>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47"/>
                                        </p:tgtEl>
                                        <p:attrNameLst>
                                          <p:attrName>style.visibility</p:attrName>
                                        </p:attrNameLst>
                                      </p:cBhvr>
                                      <p:to>
                                        <p:strVal val="visible"/>
                                      </p:to>
                                    </p:set>
                                    <p:animEffect transition="in" filter="wipe(left)">
                                      <p:cBhvr>
                                        <p:cTn id="102" dur="500"/>
                                        <p:tgtEl>
                                          <p:spTgt spid="47"/>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49"/>
                                        </p:tgtEl>
                                        <p:attrNameLst>
                                          <p:attrName>style.visibility</p:attrName>
                                        </p:attrNameLst>
                                      </p:cBhvr>
                                      <p:to>
                                        <p:strVal val="visible"/>
                                      </p:to>
                                    </p:set>
                                    <p:animEffect transition="in" filter="wipe(left)">
                                      <p:cBhvr>
                                        <p:cTn id="107" dur="500"/>
                                        <p:tgtEl>
                                          <p:spTgt spid="49"/>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50"/>
                                        </p:tgtEl>
                                        <p:attrNameLst>
                                          <p:attrName>style.visibility</p:attrName>
                                        </p:attrNameLst>
                                      </p:cBhvr>
                                      <p:to>
                                        <p:strVal val="visible"/>
                                      </p:to>
                                    </p:set>
                                    <p:animEffect transition="in" filter="wipe(left)">
                                      <p:cBhvr>
                                        <p:cTn id="112" dur="500"/>
                                        <p:tgtEl>
                                          <p:spTgt spid="50"/>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51"/>
                                        </p:tgtEl>
                                        <p:attrNameLst>
                                          <p:attrName>style.visibility</p:attrName>
                                        </p:attrNameLst>
                                      </p:cBhvr>
                                      <p:to>
                                        <p:strVal val="visible"/>
                                      </p:to>
                                    </p:set>
                                    <p:animEffect transition="in" filter="wipe(left)">
                                      <p:cBhvr>
                                        <p:cTn id="117" dur="500"/>
                                        <p:tgtEl>
                                          <p:spTgt spid="51"/>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wipe(left)">
                                      <p:cBhvr>
                                        <p:cTn id="122" dur="500"/>
                                        <p:tgtEl>
                                          <p:spTgt spid="48"/>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56"/>
                                        </p:tgtEl>
                                        <p:attrNameLst>
                                          <p:attrName>style.visibility</p:attrName>
                                        </p:attrNameLst>
                                      </p:cBhvr>
                                      <p:to>
                                        <p:strVal val="visible"/>
                                      </p:to>
                                    </p:set>
                                    <p:animEffect transition="in" filter="wipe(left)">
                                      <p:cBhvr>
                                        <p:cTn id="127" dur="500"/>
                                        <p:tgtEl>
                                          <p:spTgt spid="56"/>
                                        </p:tgtEl>
                                      </p:cBhvr>
                                    </p:animEffect>
                                  </p:childTnLst>
                                </p:cTn>
                              </p:par>
                            </p:childTnLst>
                          </p:cTn>
                        </p:par>
                      </p:childTnLst>
                    </p:cTn>
                  </p:par>
                  <p:par>
                    <p:cTn id="128" fill="hold">
                      <p:stCondLst>
                        <p:cond delay="indefinite"/>
                      </p:stCondLst>
                      <p:childTnLst>
                        <p:par>
                          <p:cTn id="129" fill="hold">
                            <p:stCondLst>
                              <p:cond delay="0"/>
                            </p:stCondLst>
                            <p:childTnLst>
                              <p:par>
                                <p:cTn id="130" presetID="21" presetClass="entr" presetSubtype="1" fill="hold" grpId="0" nodeType="clickEffect">
                                  <p:stCondLst>
                                    <p:cond delay="0"/>
                                  </p:stCondLst>
                                  <p:childTnLst>
                                    <p:set>
                                      <p:cBhvr>
                                        <p:cTn id="131" dur="500" fill="hold">
                                          <p:stCondLst>
                                            <p:cond delay="0"/>
                                          </p:stCondLst>
                                        </p:cTn>
                                        <p:tgtEl>
                                          <p:spTgt spid="57"/>
                                        </p:tgtEl>
                                        <p:attrNameLst>
                                          <p:attrName>style.visibility</p:attrName>
                                        </p:attrNameLst>
                                      </p:cBhvr>
                                      <p:to>
                                        <p:strVal val="visible"/>
                                      </p:to>
                                    </p:set>
                                    <p:animEffect transition="in" filter="wheel(1)">
                                      <p:cBhvr>
                                        <p:cTn id="132" dur="500"/>
                                        <p:tgtEl>
                                          <p:spTgt spid="57"/>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52"/>
                                        </p:tgtEl>
                                        <p:attrNameLst>
                                          <p:attrName>style.visibility</p:attrName>
                                        </p:attrNameLst>
                                      </p:cBhvr>
                                      <p:to>
                                        <p:strVal val="visible"/>
                                      </p:to>
                                    </p:set>
                                    <p:animEffect transition="in" filter="wipe(left)">
                                      <p:cBhvr>
                                        <p:cTn id="137" dur="500"/>
                                        <p:tgtEl>
                                          <p:spTgt spid="52"/>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53"/>
                                        </p:tgtEl>
                                        <p:attrNameLst>
                                          <p:attrName>style.visibility</p:attrName>
                                        </p:attrNameLst>
                                      </p:cBhvr>
                                      <p:to>
                                        <p:strVal val="visible"/>
                                      </p:to>
                                    </p:set>
                                    <p:animEffect transition="in" filter="wipe(left)">
                                      <p:cBhvr>
                                        <p:cTn id="142" dur="500"/>
                                        <p:tgtEl>
                                          <p:spTgt spid="53"/>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54"/>
                                        </p:tgtEl>
                                        <p:attrNameLst>
                                          <p:attrName>style.visibility</p:attrName>
                                        </p:attrNameLst>
                                      </p:cBhvr>
                                      <p:to>
                                        <p:strVal val="visible"/>
                                      </p:to>
                                    </p:set>
                                    <p:animEffect transition="in" filter="wipe(left)">
                                      <p:cBhvr>
                                        <p:cTn id="147" dur="500"/>
                                        <p:tgtEl>
                                          <p:spTgt spid="54"/>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1" fill="hold" nodeType="clickEffect">
                                  <p:stCondLst>
                                    <p:cond delay="0"/>
                                  </p:stCondLst>
                                  <p:childTnLst>
                                    <p:set>
                                      <p:cBhvr>
                                        <p:cTn id="151" dur="1" fill="hold">
                                          <p:stCondLst>
                                            <p:cond delay="0"/>
                                          </p:stCondLst>
                                        </p:cTn>
                                        <p:tgtEl>
                                          <p:spTgt spid="55"/>
                                        </p:tgtEl>
                                        <p:attrNameLst>
                                          <p:attrName>style.visibility</p:attrName>
                                        </p:attrNameLst>
                                      </p:cBhvr>
                                      <p:to>
                                        <p:strVal val="visible"/>
                                      </p:to>
                                    </p:set>
                                    <p:animEffect transition="in" filter="wipe(up)">
                                      <p:cBhvr>
                                        <p:cTn id="152"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4" grpId="0" bldLvl="0" animBg="1"/>
      <p:bldP spid="35" grpId="0" bldLvl="0" animBg="1"/>
      <p:bldP spid="39" grpId="0" bldLvl="0" animBg="1"/>
      <p:bldP spid="40" grpId="0" bldLvl="0" animBg="1"/>
      <p:bldP spid="41" grpId="0" bldLvl="0" animBg="1"/>
      <p:bldP spid="42" grpId="0" bldLvl="0" animBg="1"/>
      <p:bldP spid="43" grpId="0" bldLvl="0" animBg="1"/>
      <p:bldP spid="44" grpId="0" bldLvl="0" animBg="1"/>
      <p:bldP spid="45" grpId="0" bldLvl="0" animBg="1"/>
      <p:bldP spid="46" grpId="0" bldLvl="0" animBg="1"/>
      <p:bldP spid="47" grpId="0" bldLvl="0" animBg="1"/>
      <p:bldP spid="48" grpId="0" bldLvl="0" animBg="1"/>
      <p:bldP spid="49" grpId="0" bldLvl="0" animBg="1"/>
      <p:bldP spid="50" grpId="0" bldLvl="0" animBg="1"/>
      <p:bldP spid="51" grpId="0" bldLvl="0" animBg="1"/>
      <p:bldP spid="52" grpId="0" bldLvl="0" animBg="1"/>
      <p:bldP spid="53" grpId="0" bldLvl="0" animBg="1"/>
      <p:bldP spid="54" grpId="0" bldLvl="0" animBg="1"/>
      <p:bldP spid="56" grpId="0" bldLvl="0" animBg="1"/>
      <p:bldP spid="57"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4" name="矩形 3"/>
          <p:cNvSpPr/>
          <p:nvPr/>
        </p:nvSpPr>
        <p:spPr>
          <a:xfrm>
            <a:off x="399822" y="384631"/>
            <a:ext cx="11392354" cy="608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custDataLst>
              <p:tags r:id="rId2"/>
            </p:custDataLst>
          </p:nvPr>
        </p:nvSpPr>
        <p:spPr>
          <a:xfrm>
            <a:off x="4040505" y="849630"/>
            <a:ext cx="764540" cy="435610"/>
          </a:xfrm>
          <a:prstGeom prst="rect">
            <a:avLst/>
          </a:prstGeom>
          <a:solidFill>
            <a:schemeClr val="accent4">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100" name="文本框 99"/>
          <p:cNvSpPr txBox="1"/>
          <p:nvPr/>
        </p:nvSpPr>
        <p:spPr>
          <a:xfrm>
            <a:off x="609600" y="849630"/>
            <a:ext cx="10972800" cy="3830955"/>
          </a:xfrm>
          <a:prstGeom prst="rect">
            <a:avLst/>
          </a:prstGeom>
          <a:noFill/>
          <a:ln w="9525">
            <a:noFill/>
          </a:ln>
        </p:spPr>
        <p:txBody>
          <a:bodyPr wrap="square">
            <a:spAutoFit/>
          </a:bodyPr>
          <a:p>
            <a:pPr indent="266700"/>
            <a:r>
              <a:rPr lang="en-US" altLang="zh-CN" sz="2700" b="0">
                <a:solidFill>
                  <a:srgbClr val="000000"/>
                </a:solidFill>
                <a:latin typeface="楷体" panose="02010609060101010101" charset="-122"/>
                <a:ea typeface="楷体" panose="02010609060101010101" charset="-122"/>
                <a:cs typeface="楷体" panose="02010609060101010101" charset="-122"/>
              </a:rPr>
              <a:t>  </a:t>
            </a:r>
            <a:r>
              <a:rPr lang="zh-CN" sz="2700" b="0">
                <a:solidFill>
                  <a:srgbClr val="000000"/>
                </a:solidFill>
                <a:latin typeface="楷体" panose="02010609060101010101" charset="-122"/>
                <a:ea typeface="楷体" panose="02010609060101010101" charset="-122"/>
                <a:cs typeface="楷体" panose="02010609060101010101" charset="-122"/>
              </a:rPr>
              <a:t>③优质文创产品的根基，在于以恰当的创意形式，融合历史内涵与时代审美。创意不是无源之水、无本之木。中华文明丰厚而独特的历史文化遗产，为现代文化创意实践提供了最丰厚的滋养、最充沛的源泉。       </a:t>
            </a:r>
            <a:r>
              <a:rPr lang="zh-CN" sz="2700" b="0" u="sng">
                <a:solidFill>
                  <a:srgbClr val="000000"/>
                </a:solidFill>
                <a:latin typeface="楷体" panose="02010609060101010101" charset="-122"/>
                <a:ea typeface="楷体" panose="02010609060101010101" charset="-122"/>
                <a:cs typeface="楷体" panose="02010609060101010101" charset="-122"/>
              </a:rPr>
              <a:t> </a:t>
            </a:r>
            <a:r>
              <a:rPr lang="en-US" altLang="zh-CN" sz="2700" b="0" u="sng">
                <a:solidFill>
                  <a:srgbClr val="000000"/>
                </a:solidFill>
                <a:latin typeface="楷体" panose="02010609060101010101" charset="-122"/>
                <a:ea typeface="楷体" panose="02010609060101010101" charset="-122"/>
                <a:cs typeface="楷体" panose="02010609060101010101" charset="-122"/>
              </a:rPr>
              <a:t>          </a:t>
            </a:r>
            <a:r>
              <a:rPr lang="en-US" altLang="zh-CN" sz="2700" b="0">
                <a:solidFill>
                  <a:srgbClr val="000000"/>
                </a:solidFill>
                <a:latin typeface="楷体" panose="02010609060101010101" charset="-122"/>
                <a:ea typeface="楷体" panose="02010609060101010101" charset="-122"/>
                <a:cs typeface="楷体" panose="02010609060101010101" charset="-122"/>
              </a:rPr>
              <a:t>  1</a:t>
            </a:r>
            <a:r>
              <a:rPr lang="en-US" altLang="zh-CN" sz="2700" b="0" u="sng">
                <a:solidFill>
                  <a:srgbClr val="000000"/>
                </a:solidFill>
                <a:latin typeface="楷体" panose="02010609060101010101" charset="-122"/>
                <a:ea typeface="楷体" panose="02010609060101010101" charset="-122"/>
                <a:cs typeface="楷体" panose="02010609060101010101" charset="-122"/>
              </a:rPr>
              <a:t>      </a:t>
            </a:r>
            <a:r>
              <a:rPr lang="zh-CN" sz="2700" b="0">
                <a:solidFill>
                  <a:srgbClr val="000000"/>
                </a:solidFill>
                <a:latin typeface="楷体" panose="02010609060101010101" charset="-122"/>
                <a:ea typeface="楷体" panose="02010609060101010101" charset="-122"/>
                <a:cs typeface="楷体" panose="02010609060101010101" charset="-122"/>
              </a:rPr>
              <a:t>怀着对中华文化的敬意，沉入古籍深处、洞悉文物细节、回到考古现场，</a:t>
            </a:r>
            <a:r>
              <a:rPr lang="en-US" altLang="zh-CN" sz="2700" b="0">
                <a:solidFill>
                  <a:srgbClr val="000000"/>
                </a:solidFill>
                <a:latin typeface="楷体" panose="02010609060101010101" charset="-122"/>
                <a:ea typeface="楷体" panose="02010609060101010101" charset="-122"/>
                <a:cs typeface="楷体" panose="02010609060101010101" charset="-122"/>
              </a:rPr>
              <a:t>2</a:t>
            </a:r>
            <a:r>
              <a:rPr lang="zh-CN" sz="2700" b="0" u="sng">
                <a:solidFill>
                  <a:srgbClr val="000000"/>
                </a:solidFill>
                <a:latin typeface="楷体" panose="02010609060101010101" charset="-122"/>
                <a:ea typeface="楷体" panose="02010609060101010101" charset="-122"/>
                <a:cs typeface="楷体" panose="02010609060101010101" charset="-122"/>
              </a:rPr>
              <a:t>       </a:t>
            </a:r>
            <a:r>
              <a:rPr lang="zh-CN" sz="2700" b="0">
                <a:solidFill>
                  <a:srgbClr val="000000"/>
                </a:solidFill>
                <a:latin typeface="楷体" panose="02010609060101010101" charset="-122"/>
                <a:ea typeface="楷体" panose="02010609060101010101" charset="-122"/>
                <a:cs typeface="楷体" panose="02010609060101010101" charset="-122"/>
              </a:rPr>
              <a:t>能创作出有助于人们感悟中华文化、增强文化自信的优秀产品。从敦煌研究院的“飞天”“九色鹿”到恭王府博物馆的“天下第一福”，再到三星堆博物馆的“金面具”，各大博物馆围绕特色文物深耕文创品牌，彰显中华美学，推动了中华优秀传统文化的创造性转化和创新性发展。</a:t>
            </a:r>
            <a:endParaRPr lang="zh-CN" sz="2700" b="0">
              <a:solidFill>
                <a:srgbClr val="000000"/>
              </a:solidFill>
              <a:latin typeface="楷体" panose="02010609060101010101" charset="-122"/>
              <a:ea typeface="楷体" panose="02010609060101010101" charset="-122"/>
              <a:cs typeface="楷体" panose="02010609060101010101" charset="-122"/>
            </a:endParaRPr>
          </a:p>
        </p:txBody>
      </p:sp>
      <p:cxnSp>
        <p:nvCxnSpPr>
          <p:cNvPr id="2" name="直接连接符 1"/>
          <p:cNvCxnSpPr/>
          <p:nvPr>
            <p:custDataLst>
              <p:tags r:id="rId3"/>
            </p:custDataLst>
          </p:nvPr>
        </p:nvCxnSpPr>
        <p:spPr>
          <a:xfrm>
            <a:off x="1633220" y="1281430"/>
            <a:ext cx="9605645" cy="0"/>
          </a:xfrm>
          <a:prstGeom prst="line">
            <a:avLst/>
          </a:prstGeom>
          <a:ln w="19050">
            <a:solidFill>
              <a:srgbClr val="13396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4"/>
            </p:custDataLst>
          </p:nvPr>
        </p:nvCxnSpPr>
        <p:spPr>
          <a:xfrm>
            <a:off x="615950" y="1698625"/>
            <a:ext cx="1464945" cy="10160"/>
          </a:xfrm>
          <a:prstGeom prst="line">
            <a:avLst/>
          </a:prstGeom>
          <a:ln w="19050">
            <a:solidFill>
              <a:srgbClr val="133965"/>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custDataLst>
              <p:tags r:id="rId5"/>
            </p:custDataLst>
          </p:nvPr>
        </p:nvSpPr>
        <p:spPr>
          <a:xfrm>
            <a:off x="8369300" y="4288790"/>
            <a:ext cx="2869565" cy="506730"/>
          </a:xfrm>
          <a:prstGeom prst="rect">
            <a:avLst/>
          </a:prstGeom>
          <a:solidFill>
            <a:srgbClr val="96D7F3"/>
          </a:solidFill>
          <a:ln w="9525">
            <a:noFill/>
          </a:ln>
        </p:spPr>
        <p:txBody>
          <a:bodyPr wrap="square">
            <a:spAutoFit/>
          </a:bodyPr>
          <a:p>
            <a:pPr indent="0"/>
            <a:r>
              <a:rPr lang="zh-CN" altLang="en-US" sz="2700" b="1">
                <a:solidFill>
                  <a:srgbClr val="000000"/>
                </a:solidFill>
                <a:latin typeface="新宋体" panose="02010609030101010101" pitchFamily="49" charset="-122"/>
                <a:ea typeface="新宋体" panose="02010609030101010101" pitchFamily="49" charset="-122"/>
              </a:rPr>
              <a:t>怎么</a:t>
            </a:r>
            <a:r>
              <a:rPr lang="zh-CN" altLang="en-US" sz="2700" b="1">
                <a:solidFill>
                  <a:srgbClr val="000000"/>
                </a:solidFill>
                <a:latin typeface="新宋体" panose="02010609030101010101" pitchFamily="49" charset="-122"/>
                <a:ea typeface="新宋体" panose="02010609030101010101" pitchFamily="49" charset="-122"/>
              </a:rPr>
              <a:t>做：方法</a:t>
            </a:r>
            <a:r>
              <a:rPr lang="en-US" altLang="zh-CN" sz="2700" b="1">
                <a:solidFill>
                  <a:srgbClr val="000000"/>
                </a:solidFill>
                <a:latin typeface="新宋体" panose="02010609030101010101" pitchFamily="49" charset="-122"/>
                <a:ea typeface="新宋体" panose="02010609030101010101" pitchFamily="49" charset="-122"/>
              </a:rPr>
              <a:t>1</a:t>
            </a:r>
            <a:endParaRPr lang="en-US" altLang="zh-CN" sz="2700" b="1">
              <a:solidFill>
                <a:srgbClr val="000000"/>
              </a:solidFill>
              <a:latin typeface="新宋体" panose="02010609030101010101" pitchFamily="49" charset="-122"/>
              <a:ea typeface="新宋体" panose="02010609030101010101" pitchFamily="49" charset="-122"/>
            </a:endParaRPr>
          </a:p>
        </p:txBody>
      </p:sp>
      <p:sp>
        <p:nvSpPr>
          <p:cNvPr id="6" name="文本框 5"/>
          <p:cNvSpPr txBox="1"/>
          <p:nvPr/>
        </p:nvSpPr>
        <p:spPr>
          <a:xfrm>
            <a:off x="1193165" y="4680585"/>
            <a:ext cx="6096000" cy="1430020"/>
          </a:xfrm>
          <a:prstGeom prst="rect">
            <a:avLst/>
          </a:prstGeom>
          <a:noFill/>
        </p:spPr>
        <p:txBody>
          <a:bodyPr wrap="square" rtlCol="0" anchor="t">
            <a:spAutoFit/>
          </a:bodyPr>
          <a:p>
            <a:pPr indent="457200"/>
            <a:r>
              <a:rPr lang="en-US" altLang="zh-CN" sz="2900">
                <a:solidFill>
                  <a:srgbClr val="FF0000"/>
                </a:solidFill>
                <a:latin typeface="新宋体" panose="02010609030101010101" pitchFamily="49" charset="-122"/>
                <a:ea typeface="新宋体" panose="02010609030101010101" pitchFamily="49" charset="-122"/>
                <a:cs typeface="新宋体" panose="02010609030101010101" pitchFamily="49" charset="-122"/>
                <a:sym typeface="+mn-ea"/>
              </a:rPr>
              <a:t>B.</a:t>
            </a:r>
            <a:r>
              <a:rPr lang="zh-CN" sz="2900">
                <a:solidFill>
                  <a:srgbClr val="FF0000"/>
                </a:solidFill>
                <a:latin typeface="新宋体" panose="02010609030101010101" pitchFamily="49" charset="-122"/>
                <a:ea typeface="新宋体" panose="02010609030101010101" pitchFamily="49" charset="-122"/>
                <a:cs typeface="新宋体" panose="02010609030101010101" pitchFamily="49" charset="-122"/>
                <a:sym typeface="+mn-ea"/>
              </a:rPr>
              <a:t>只有……才……</a:t>
            </a:r>
            <a:endParaRPr lang="zh-CN" sz="2900">
              <a:solidFill>
                <a:srgbClr val="FF0000"/>
              </a:solidFill>
              <a:latin typeface="新宋体" panose="02010609030101010101" pitchFamily="49" charset="-122"/>
              <a:ea typeface="新宋体" panose="02010609030101010101" pitchFamily="49" charset="-122"/>
              <a:cs typeface="新宋体" panose="02010609030101010101" pitchFamily="49" charset="-122"/>
              <a:sym typeface="+mn-ea"/>
            </a:endParaRPr>
          </a:p>
          <a:p>
            <a:r>
              <a:rPr lang="en-US" altLang="zh-CN" sz="2900">
                <a:solidFill>
                  <a:srgbClr val="000000"/>
                </a:solidFill>
                <a:latin typeface="新宋体" panose="02010609030101010101" pitchFamily="49" charset="-122"/>
                <a:ea typeface="新宋体" panose="02010609030101010101" pitchFamily="49" charset="-122"/>
                <a:cs typeface="新宋体" panose="02010609030101010101" pitchFamily="49" charset="-122"/>
                <a:sym typeface="+mn-ea"/>
              </a:rPr>
              <a:t>    </a:t>
            </a:r>
            <a:r>
              <a:rPr lang="zh-CN" sz="2900">
                <a:solidFill>
                  <a:srgbClr val="000000"/>
                </a:solidFill>
                <a:latin typeface="新宋体" panose="02010609030101010101" pitchFamily="49" charset="-122"/>
                <a:ea typeface="新宋体" panose="02010609030101010101" pitchFamily="49" charset="-122"/>
                <a:cs typeface="新宋体" panose="02010609030101010101" pitchFamily="49" charset="-122"/>
                <a:sym typeface="+mn-ea"/>
              </a:rPr>
              <a:t>（条件</a:t>
            </a:r>
            <a:r>
              <a:rPr lang="zh-CN" sz="2900">
                <a:solidFill>
                  <a:srgbClr val="000000"/>
                </a:solidFill>
                <a:latin typeface="新宋体" panose="02010609030101010101" pitchFamily="49" charset="-122"/>
                <a:ea typeface="新宋体" panose="02010609030101010101" pitchFamily="49" charset="-122"/>
                <a:cs typeface="新宋体" panose="02010609030101010101" pitchFamily="49" charset="-122"/>
                <a:sym typeface="+mn-ea"/>
              </a:rPr>
              <a:t>关系）</a:t>
            </a:r>
            <a:endParaRPr lang="zh-CN" sz="2900">
              <a:solidFill>
                <a:srgbClr val="000000"/>
              </a:solidFill>
              <a:latin typeface="新宋体" panose="02010609030101010101" pitchFamily="49" charset="-122"/>
              <a:ea typeface="新宋体" panose="02010609030101010101" pitchFamily="49" charset="-122"/>
              <a:cs typeface="新宋体" panose="02010609030101010101" pitchFamily="49" charset="-122"/>
              <a:sym typeface="+mn-ea"/>
            </a:endParaRPr>
          </a:p>
          <a:p>
            <a:r>
              <a:rPr lang="en-US" altLang="zh-CN" sz="2900">
                <a:solidFill>
                  <a:srgbClr val="000000"/>
                </a:solidFill>
                <a:latin typeface="新宋体" panose="02010609030101010101" pitchFamily="49" charset="-122"/>
                <a:ea typeface="新宋体" panose="02010609030101010101" pitchFamily="49" charset="-122"/>
                <a:cs typeface="新宋体" panose="02010609030101010101" pitchFamily="49" charset="-122"/>
                <a:sym typeface="+mn-ea"/>
              </a:rPr>
              <a:t>  </a:t>
            </a:r>
            <a:r>
              <a:rPr lang="zh-CN" altLang="en-US" sz="2900">
                <a:solidFill>
                  <a:srgbClr val="000000"/>
                </a:solidFill>
                <a:latin typeface="新宋体" panose="02010609030101010101" pitchFamily="49" charset="-122"/>
                <a:ea typeface="新宋体" panose="02010609030101010101" pitchFamily="49" charset="-122"/>
                <a:cs typeface="新宋体" panose="02010609030101010101" pitchFamily="49" charset="-122"/>
                <a:sym typeface="+mn-ea"/>
              </a:rPr>
              <a:t>强调前一句的条件</a:t>
            </a:r>
            <a:r>
              <a:rPr lang="zh-CN" altLang="en-US" sz="2900">
                <a:solidFill>
                  <a:srgbClr val="FF0000"/>
                </a:solidFill>
                <a:latin typeface="新宋体" panose="02010609030101010101" pitchFamily="49" charset="-122"/>
                <a:ea typeface="新宋体" panose="02010609030101010101" pitchFamily="49" charset="-122"/>
                <a:cs typeface="新宋体" panose="02010609030101010101" pitchFamily="49" charset="-122"/>
                <a:sym typeface="+mn-ea"/>
              </a:rPr>
              <a:t>唯一</a:t>
            </a:r>
            <a:endParaRPr lang="zh-CN" altLang="en-US" sz="2900">
              <a:solidFill>
                <a:srgbClr val="000000"/>
              </a:solidFill>
              <a:latin typeface="新宋体" panose="02010609030101010101" pitchFamily="49" charset="-122"/>
              <a:ea typeface="新宋体" panose="02010609030101010101" pitchFamily="49" charset="-122"/>
              <a:cs typeface="新宋体" panose="02010609030101010101" pitchFamily="49" charset="-122"/>
              <a:sym typeface="+mn-ea"/>
            </a:endParaRPr>
          </a:p>
        </p:txBody>
      </p:sp>
      <p:sp>
        <p:nvSpPr>
          <p:cNvPr id="10" name="文本框 9"/>
          <p:cNvSpPr txBox="1"/>
          <p:nvPr/>
        </p:nvSpPr>
        <p:spPr>
          <a:xfrm>
            <a:off x="6188075" y="2813050"/>
            <a:ext cx="1222375" cy="335280"/>
          </a:xfrm>
          <a:prstGeom prst="rect">
            <a:avLst/>
          </a:prstGeom>
          <a:noFill/>
        </p:spPr>
        <p:txBody>
          <a:bodyPr wrap="square" rtlCol="0">
            <a:noAutofit/>
          </a:bodyPr>
          <a:p>
            <a:r>
              <a:rPr lang="zh-CN" altLang="en-US" sz="2000" b="1">
                <a:solidFill>
                  <a:schemeClr val="accent1"/>
                </a:solidFill>
              </a:rPr>
              <a:t>举例论证</a:t>
            </a:r>
            <a:endParaRPr lang="zh-CN" altLang="en-US" sz="2000" b="1">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wipe(left)">
                                      <p:cBhvr>
                                        <p:cTn id="17" dur="5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left)">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wipe(left)">
                                      <p:cBhvr>
                                        <p:cTn id="27" dur="5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Effect transition="in" filter="wipe(left)">
                                      <p:cBhvr>
                                        <p:cTn id="37" dur="500"/>
                                        <p:tgtEl>
                                          <p:spTgt spid="6">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500" fill="hold"/>
                                        <p:tgtEl>
                                          <p:spTgt spid="10"/>
                                        </p:tgtEl>
                                        <p:attrNameLst>
                                          <p:attrName>ppt_x</p:attrName>
                                        </p:attrNameLst>
                                      </p:cBhvr>
                                      <p:tavLst>
                                        <p:tav tm="0">
                                          <p:val>
                                            <p:strVal val="#ppt_x"/>
                                          </p:val>
                                        </p:tav>
                                        <p:tav tm="100000">
                                          <p:val>
                                            <p:strVal val="#ppt_x"/>
                                          </p:val>
                                        </p:tav>
                                      </p:tavLst>
                                    </p:anim>
                                    <p:anim calcmode="lin" valueType="num">
                                      <p:cBhvr additive="base">
                                        <p:cTn id="4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ldLvl="0" animBg="1"/>
      <p:bldP spid="47" grpId="0" bldLvl="0" animBg="1"/>
      <p:bldP spid="10" grpId="0"/>
      <p:bldP spid="10"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4" name="矩形 3"/>
          <p:cNvSpPr/>
          <p:nvPr/>
        </p:nvSpPr>
        <p:spPr>
          <a:xfrm>
            <a:off x="399822" y="384631"/>
            <a:ext cx="11392354" cy="608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654050" y="888365"/>
            <a:ext cx="11017885" cy="3438525"/>
          </a:xfrm>
          <a:prstGeom prst="rect">
            <a:avLst/>
          </a:prstGeom>
          <a:noFill/>
          <a:ln w="9525">
            <a:noFill/>
          </a:ln>
        </p:spPr>
        <p:txBody>
          <a:bodyPr wrap="square">
            <a:spAutoFit/>
          </a:bodyPr>
          <a:p>
            <a:pPr indent="266700" fontAlgn="auto">
              <a:lnSpc>
                <a:spcPct val="150000"/>
              </a:lnSpc>
            </a:pPr>
            <a:r>
              <a:rPr lang="en-US" altLang="zh-CN" sz="2700" b="0">
                <a:solidFill>
                  <a:srgbClr val="000000"/>
                </a:solidFill>
                <a:latin typeface="楷体" panose="02010609060101010101" charset="-122"/>
                <a:ea typeface="楷体" panose="02010609060101010101" charset="-122"/>
                <a:cs typeface="楷体" panose="02010609060101010101" charset="-122"/>
              </a:rPr>
              <a:t> </a:t>
            </a:r>
            <a:r>
              <a:rPr lang="en-US" alt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1.根据文意，填入第③段画线处的词语最恰当的一项是（       ）</a:t>
            </a:r>
            <a:endPar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endParaRPr>
          </a:p>
          <a:p>
            <a:pPr indent="266700" fontAlgn="auto">
              <a:lnSpc>
                <a:spcPct val="150000"/>
              </a:lnSpc>
            </a:pPr>
            <a:r>
              <a:rPr lang="en-US" alt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A. 只要……就……	</a:t>
            </a:r>
            <a:r>
              <a:rPr lang="en-US" alt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B. 只有……才……</a:t>
            </a:r>
            <a:endPar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endParaRPr>
          </a:p>
          <a:p>
            <a:pPr indent="266700" fontAlgn="auto">
              <a:lnSpc>
                <a:spcPct val="150000"/>
              </a:lnSpc>
            </a:pPr>
            <a:endPar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endParaRPr>
          </a:p>
          <a:p>
            <a:pPr indent="266700" fontAlgn="auto">
              <a:lnSpc>
                <a:spcPct val="150000"/>
              </a:lnSpc>
            </a:pPr>
            <a:r>
              <a:rPr lang="en-US" alt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C. 不但……而且……	D. 既然……就……</a:t>
            </a:r>
            <a:endPar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endParaRPr>
          </a:p>
        </p:txBody>
      </p:sp>
      <p:pic>
        <p:nvPicPr>
          <p:cNvPr id="2" name="图片 1" descr="32313535353135383b32313535353136353b5b576bcd4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16050" y="1517015"/>
            <a:ext cx="914400" cy="914400"/>
          </a:xfrm>
          <a:prstGeom prst="rect">
            <a:avLst/>
          </a:prstGeom>
        </p:spPr>
      </p:pic>
      <p:sp>
        <p:nvSpPr>
          <p:cNvPr id="6" name="文本框 5"/>
          <p:cNvSpPr txBox="1"/>
          <p:nvPr>
            <p:custDataLst>
              <p:tags r:id="rId4"/>
            </p:custDataLst>
          </p:nvPr>
        </p:nvSpPr>
        <p:spPr>
          <a:xfrm>
            <a:off x="5695950" y="4326890"/>
            <a:ext cx="6096000" cy="537210"/>
          </a:xfrm>
          <a:prstGeom prst="rect">
            <a:avLst/>
          </a:prstGeom>
          <a:noFill/>
        </p:spPr>
        <p:txBody>
          <a:bodyPr wrap="square" rtlCol="0" anchor="t">
            <a:spAutoFit/>
          </a:bodyPr>
          <a:p>
            <a:r>
              <a:rPr lang="zh-CN" altLang="en-US" sz="2900">
                <a:solidFill>
                  <a:srgbClr val="000000"/>
                </a:solidFill>
                <a:latin typeface="锦绣宋体" panose="02000503000000000000" charset="-122"/>
                <a:ea typeface="锦绣宋体" panose="02000503000000000000" charset="-122"/>
                <a:cs typeface="新宋体" panose="02010609030101010101" pitchFamily="49" charset="-122"/>
                <a:sym typeface="+mn-ea"/>
              </a:rPr>
              <a:t>指已经发生过的事情</a:t>
            </a:r>
            <a:endParaRPr lang="zh-CN" altLang="en-US" sz="2900">
              <a:solidFill>
                <a:srgbClr val="000000"/>
              </a:solidFill>
              <a:latin typeface="锦绣宋体" panose="02000503000000000000" charset="-122"/>
              <a:ea typeface="锦绣宋体" panose="02000503000000000000" charset="-122"/>
              <a:cs typeface="新宋体" panose="02010609030101010101" pitchFamily="49" charset="-122"/>
              <a:sym typeface="+mn-ea"/>
            </a:endParaRPr>
          </a:p>
        </p:txBody>
      </p:sp>
      <p:sp>
        <p:nvSpPr>
          <p:cNvPr id="5" name="文本框 4"/>
          <p:cNvSpPr txBox="1"/>
          <p:nvPr>
            <p:custDataLst>
              <p:tags r:id="rId5"/>
            </p:custDataLst>
          </p:nvPr>
        </p:nvSpPr>
        <p:spPr>
          <a:xfrm>
            <a:off x="5820410" y="2780030"/>
            <a:ext cx="4538345" cy="537210"/>
          </a:xfrm>
          <a:prstGeom prst="rect">
            <a:avLst/>
          </a:prstGeom>
          <a:noFill/>
        </p:spPr>
        <p:txBody>
          <a:bodyPr wrap="square" rtlCol="0" anchor="t">
            <a:spAutoFit/>
          </a:bodyPr>
          <a:p>
            <a:pPr indent="457200"/>
            <a:r>
              <a:rPr lang="zh-CN" altLang="en-US" sz="2900">
                <a:solidFill>
                  <a:srgbClr val="000000"/>
                </a:solidFill>
                <a:latin typeface="锦绣宋体" panose="02000503000000000000" charset="-122"/>
                <a:ea typeface="锦绣宋体" panose="02000503000000000000" charset="-122"/>
                <a:cs typeface="新宋体" panose="02010609030101010101" pitchFamily="49" charset="-122"/>
                <a:sym typeface="+mn-ea"/>
              </a:rPr>
              <a:t>强调前一句的条件</a:t>
            </a:r>
            <a:r>
              <a:rPr lang="zh-CN" altLang="en-US" sz="2900">
                <a:solidFill>
                  <a:srgbClr val="FF0000"/>
                </a:solidFill>
                <a:latin typeface="锦绣宋体" panose="02000503000000000000" charset="-122"/>
                <a:ea typeface="锦绣宋体" panose="02000503000000000000" charset="-122"/>
                <a:cs typeface="新宋体" panose="02010609030101010101" pitchFamily="49" charset="-122"/>
                <a:sym typeface="+mn-ea"/>
              </a:rPr>
              <a:t>唯一</a:t>
            </a:r>
            <a:endParaRPr lang="zh-CN" altLang="en-US" sz="2900">
              <a:solidFill>
                <a:srgbClr val="000000"/>
              </a:solidFill>
              <a:latin typeface="锦绣宋体" panose="02000503000000000000" charset="-122"/>
              <a:ea typeface="锦绣宋体" panose="02000503000000000000" charset="-122"/>
              <a:cs typeface="新宋体" panose="02010609030101010101" pitchFamily="49" charset="-122"/>
              <a:sym typeface="+mn-ea"/>
            </a:endParaRPr>
          </a:p>
        </p:txBody>
      </p:sp>
      <p:sp>
        <p:nvSpPr>
          <p:cNvPr id="7" name="文本框 6"/>
          <p:cNvSpPr txBox="1"/>
          <p:nvPr>
            <p:custDataLst>
              <p:tags r:id="rId6"/>
            </p:custDataLst>
          </p:nvPr>
        </p:nvSpPr>
        <p:spPr>
          <a:xfrm>
            <a:off x="1282065" y="2891790"/>
            <a:ext cx="4538345" cy="537210"/>
          </a:xfrm>
          <a:prstGeom prst="rect">
            <a:avLst/>
          </a:prstGeom>
          <a:noFill/>
        </p:spPr>
        <p:txBody>
          <a:bodyPr wrap="square" rtlCol="0" anchor="t">
            <a:spAutoFit/>
          </a:bodyPr>
          <a:p>
            <a:pPr indent="457200"/>
            <a:r>
              <a:rPr lang="zh-CN" altLang="en-US" sz="2900">
                <a:solidFill>
                  <a:schemeClr val="tx1"/>
                </a:solidFill>
                <a:latin typeface="锦绣宋体" panose="02000503000000000000" charset="-122"/>
                <a:ea typeface="锦绣宋体" panose="02000503000000000000" charset="-122"/>
                <a:cs typeface="新宋体" panose="02010609030101010101" pitchFamily="49" charset="-122"/>
                <a:sym typeface="+mn-ea"/>
              </a:rPr>
              <a:t>条件</a:t>
            </a:r>
            <a:r>
              <a:rPr lang="zh-CN" altLang="en-US" sz="2900">
                <a:solidFill>
                  <a:srgbClr val="FF0000"/>
                </a:solidFill>
                <a:latin typeface="锦绣宋体" panose="02000503000000000000" charset="-122"/>
                <a:ea typeface="锦绣宋体" panose="02000503000000000000" charset="-122"/>
                <a:cs typeface="新宋体" panose="02010609030101010101" pitchFamily="49" charset="-122"/>
                <a:sym typeface="+mn-ea"/>
              </a:rPr>
              <a:t>不</a:t>
            </a:r>
            <a:r>
              <a:rPr lang="zh-CN" altLang="en-US" sz="2900">
                <a:solidFill>
                  <a:schemeClr val="tx1"/>
                </a:solidFill>
                <a:latin typeface="锦绣宋体" panose="02000503000000000000" charset="-122"/>
                <a:ea typeface="锦绣宋体" panose="02000503000000000000" charset="-122"/>
                <a:cs typeface="新宋体" panose="02010609030101010101" pitchFamily="49" charset="-122"/>
                <a:sym typeface="+mn-ea"/>
              </a:rPr>
              <a:t>唯一</a:t>
            </a:r>
            <a:endParaRPr lang="zh-CN" altLang="en-US" sz="2900">
              <a:solidFill>
                <a:schemeClr val="tx1"/>
              </a:solidFill>
              <a:latin typeface="锦绣宋体" panose="02000503000000000000" charset="-122"/>
              <a:ea typeface="锦绣宋体" panose="02000503000000000000" charset="-122"/>
              <a:cs typeface="新宋体" panose="02010609030101010101" pitchFamily="49" charset="-122"/>
              <a:sym typeface="+mn-ea"/>
            </a:endParaRPr>
          </a:p>
        </p:txBody>
      </p:sp>
      <p:sp>
        <p:nvSpPr>
          <p:cNvPr id="8" name="文本框 7"/>
          <p:cNvSpPr txBox="1"/>
          <p:nvPr>
            <p:custDataLst>
              <p:tags r:id="rId7"/>
            </p:custDataLst>
          </p:nvPr>
        </p:nvSpPr>
        <p:spPr>
          <a:xfrm>
            <a:off x="1619885" y="4326890"/>
            <a:ext cx="4200525" cy="537210"/>
          </a:xfrm>
          <a:prstGeom prst="rect">
            <a:avLst/>
          </a:prstGeom>
          <a:noFill/>
        </p:spPr>
        <p:txBody>
          <a:bodyPr wrap="square" rtlCol="0" anchor="t">
            <a:spAutoFit/>
          </a:bodyPr>
          <a:p>
            <a:r>
              <a:rPr lang="zh-CN" altLang="en-US" sz="2900">
                <a:solidFill>
                  <a:srgbClr val="000000"/>
                </a:solidFill>
                <a:latin typeface="锦绣宋体" panose="02000503000000000000" charset="-122"/>
                <a:ea typeface="锦绣宋体" panose="02000503000000000000" charset="-122"/>
                <a:cs typeface="新宋体" panose="02010609030101010101" pitchFamily="49" charset="-122"/>
                <a:sym typeface="+mn-ea"/>
              </a:rPr>
              <a:t>递进</a:t>
            </a:r>
            <a:r>
              <a:rPr lang="zh-CN" altLang="en-US" sz="2900">
                <a:solidFill>
                  <a:srgbClr val="000000"/>
                </a:solidFill>
                <a:latin typeface="锦绣宋体" panose="02000503000000000000" charset="-122"/>
                <a:ea typeface="锦绣宋体" panose="02000503000000000000" charset="-122"/>
                <a:cs typeface="新宋体" panose="02010609030101010101" pitchFamily="49" charset="-122"/>
                <a:sym typeface="+mn-ea"/>
              </a:rPr>
              <a:t>关系</a:t>
            </a:r>
            <a:endParaRPr lang="zh-CN" altLang="en-US" sz="2900">
              <a:solidFill>
                <a:srgbClr val="000000"/>
              </a:solidFill>
              <a:latin typeface="锦绣宋体" panose="02000503000000000000" charset="-122"/>
              <a:ea typeface="锦绣宋体" panose="02000503000000000000" charset="-122"/>
              <a:cs typeface="新宋体" panose="0201060903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from="(-#ppt_w/2)" to="(#ppt_x)" calcmode="lin" valueType="num">
                                      <p:cBhvr>
                                        <p:cTn id="7" dur="300" fill="hold">
                                          <p:stCondLst>
                                            <p:cond delay="0"/>
                                          </p:stCondLst>
                                        </p:cTn>
                                        <p:tgtEl>
                                          <p:spTgt spid="2"/>
                                        </p:tgtEl>
                                        <p:attrNameLst>
                                          <p:attrName>ppt_x</p:attrName>
                                        </p:attrNameLst>
                                      </p:cBhvr>
                                    </p:anim>
                                    <p:anim from="0" to="-1.0" calcmode="lin" valueType="num">
                                      <p:cBhvr>
                                        <p:cTn id="8" dur="100" decel="50000" autoRev="1" fill="hold">
                                          <p:stCondLst>
                                            <p:cond delay="300"/>
                                          </p:stCondLst>
                                        </p:cTn>
                                        <p:tgtEl>
                                          <p:spTgt spid="2"/>
                                        </p:tgtEl>
                                        <p:attrNameLst>
                                          <p:attrName>xshear</p:attrName>
                                        </p:attrNameLst>
                                      </p:cBhvr>
                                    </p:anim>
                                    <p:animScale>
                                      <p:cBhvr>
                                        <p:cTn id="9" dur="100" decel="100000" autoRev="1" fill="hold">
                                          <p:stCondLst>
                                            <p:cond delay="300"/>
                                          </p:stCondLst>
                                        </p:cTn>
                                        <p:tgtEl>
                                          <p:spTgt spid="2"/>
                                        </p:tgtEl>
                                      </p:cBhvr>
                                      <p:from x="100000" y="100000"/>
                                      <p:to x="80000" y="100000"/>
                                    </p:animScale>
                                    <p:anim by="(#ppt_h/3+#ppt_w*0.1)" calcmode="lin" valueType="num">
                                      <p:cBhvr additive="sum">
                                        <p:cTn id="10" dur="100" decel="100000" autoRev="1" fill="hold">
                                          <p:stCondLst>
                                            <p:cond delay="300"/>
                                          </p:stCondLst>
                                        </p:cTn>
                                        <p:tgtEl>
                                          <p:spTgt spid="2"/>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wipe(left)">
                                      <p:cBhvr>
                                        <p:cTn id="15" dur="500"/>
                                        <p:tgtEl>
                                          <p:spTgt spid="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wipe(left)">
                                      <p:cBhvr>
                                        <p:cTn id="20" dur="500"/>
                                        <p:tgtEl>
                                          <p:spTgt spid="7">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wipe(left)">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6">
                                            <p:txEl>
                                              <p:pRg st="0" end="0"/>
                                            </p:txEl>
                                          </p:spTgt>
                                        </p:tgtEl>
                                        <p:attrNameLst>
                                          <p:attrName>style.visibility</p:attrName>
                                        </p:attrNameLst>
                                      </p:cBhvr>
                                      <p:to>
                                        <p:strVal val="visible"/>
                                      </p:to>
                                    </p:set>
                                    <p:animEffect transition="in" filter="wipe(left)">
                                      <p:cBhvr>
                                        <p:cTn id="3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4" name="矩形 3"/>
          <p:cNvSpPr/>
          <p:nvPr/>
        </p:nvSpPr>
        <p:spPr>
          <a:xfrm>
            <a:off x="399822" y="384631"/>
            <a:ext cx="11392354" cy="608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custDataLst>
              <p:tags r:id="rId2"/>
            </p:custDataLst>
          </p:nvPr>
        </p:nvSpPr>
        <p:spPr>
          <a:xfrm>
            <a:off x="3928745" y="803275"/>
            <a:ext cx="662940" cy="435610"/>
          </a:xfrm>
          <a:prstGeom prst="rect">
            <a:avLst/>
          </a:prstGeom>
          <a:solidFill>
            <a:schemeClr val="accent4">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100" name="文本框 99"/>
          <p:cNvSpPr txBox="1"/>
          <p:nvPr/>
        </p:nvSpPr>
        <p:spPr>
          <a:xfrm>
            <a:off x="492125" y="803275"/>
            <a:ext cx="11045190" cy="2999740"/>
          </a:xfrm>
          <a:prstGeom prst="rect">
            <a:avLst/>
          </a:prstGeom>
          <a:noFill/>
          <a:ln w="9525">
            <a:noFill/>
          </a:ln>
        </p:spPr>
        <p:txBody>
          <a:bodyPr wrap="square">
            <a:spAutoFit/>
          </a:bodyPr>
          <a:p>
            <a:pPr indent="266700" fontAlgn="auto"/>
            <a:r>
              <a:rPr lang="en-US" altLang="zh-CN" sz="2700" b="0">
                <a:solidFill>
                  <a:srgbClr val="000000"/>
                </a:solidFill>
                <a:latin typeface="楷体" panose="02010609060101010101" charset="-122"/>
                <a:ea typeface="楷体" panose="02010609060101010101" charset="-122"/>
                <a:cs typeface="楷体" panose="02010609060101010101" charset="-122"/>
              </a:rPr>
              <a:t>  </a:t>
            </a:r>
            <a:r>
              <a:rPr lang="zh-CN" sz="2700" b="0">
                <a:solidFill>
                  <a:srgbClr val="000000"/>
                </a:solidFill>
                <a:latin typeface="楷体" panose="02010609060101010101" charset="-122"/>
                <a:ea typeface="楷体" panose="02010609060101010101" charset="-122"/>
                <a:cs typeface="楷体" panose="02010609060101010101" charset="-122"/>
              </a:rPr>
              <a:t>④文创产品成功的关键是什么？从近年来受到欢迎的“爆款”产品看，文创从实物外形模仿向内容创意、互动型产品演化，正是基于对人们知识探索需求、情感表达需求、文化认同需求的深入挖掘。点亮夜灯认识一幅宋代观星图，玩局桌游了解江南四大才子生平轶事，印在布包上的文物表情越来越“萌”，沉浸式演出里的人物造型越来越</a:t>
            </a:r>
            <a:r>
              <a:rPr lang="zh-CN" sz="2700">
                <a:solidFill>
                  <a:srgbClr val="000000"/>
                </a:solidFill>
                <a:latin typeface="楷体" panose="02010609060101010101" charset="-122"/>
                <a:ea typeface="楷体" panose="02010609060101010101" charset="-122"/>
                <a:cs typeface="楷体" panose="02010609060101010101" charset="-122"/>
                <a:sym typeface="+mn-ea"/>
              </a:rPr>
              <a:t>“</a:t>
            </a:r>
            <a:r>
              <a:rPr lang="zh-CN" sz="2700" b="0">
                <a:solidFill>
                  <a:srgbClr val="000000"/>
                </a:solidFill>
                <a:latin typeface="楷体" panose="02010609060101010101" charset="-122"/>
                <a:ea typeface="楷体" panose="02010609060101010101" charset="-122"/>
                <a:cs typeface="楷体" panose="02010609060101010101" charset="-122"/>
              </a:rPr>
              <a:t>真</a:t>
            </a:r>
            <a:r>
              <a:rPr lang="zh-CN" sz="2700">
                <a:solidFill>
                  <a:srgbClr val="000000"/>
                </a:solidFill>
                <a:latin typeface="楷体" panose="02010609060101010101" charset="-122"/>
                <a:ea typeface="楷体" panose="02010609060101010101" charset="-122"/>
                <a:cs typeface="楷体" panose="02010609060101010101" charset="-122"/>
                <a:sym typeface="+mn-ea"/>
              </a:rPr>
              <a:t>”</a:t>
            </a:r>
            <a:r>
              <a:rPr lang="zh-CN" sz="2700" b="0">
                <a:solidFill>
                  <a:srgbClr val="000000"/>
                </a:solidFill>
                <a:latin typeface="楷体" panose="02010609060101010101" charset="-122"/>
                <a:ea typeface="楷体" panose="02010609060101010101" charset="-122"/>
                <a:cs typeface="楷体" panose="02010609060101010101" charset="-122"/>
              </a:rPr>
              <a:t>…总之，文创产品要能满足人们高品质、个性化的精神需求。</a:t>
            </a:r>
            <a:endParaRPr lang="zh-CN" sz="2700" b="0">
              <a:solidFill>
                <a:srgbClr val="000000"/>
              </a:solidFill>
              <a:latin typeface="楷体" panose="02010609060101010101" charset="-122"/>
              <a:ea typeface="楷体" panose="02010609060101010101" charset="-122"/>
              <a:cs typeface="楷体" panose="02010609060101010101" charset="-122"/>
            </a:endParaRPr>
          </a:p>
          <a:p>
            <a:pPr indent="266700" fontAlgn="auto"/>
            <a:r>
              <a:rPr lang="en-US" altLang="zh-CN" sz="2700" b="0">
                <a:solidFill>
                  <a:srgbClr val="000000"/>
                </a:solidFill>
                <a:latin typeface="楷体" panose="02010609060101010101" charset="-122"/>
                <a:ea typeface="楷体" panose="02010609060101010101" charset="-122"/>
                <a:cs typeface="楷体" panose="02010609060101010101" charset="-122"/>
              </a:rPr>
              <a:t>  </a:t>
            </a:r>
            <a:endParaRPr lang="zh-CN" sz="2700" b="0">
              <a:solidFill>
                <a:srgbClr val="000000"/>
              </a:solidFill>
              <a:latin typeface="楷体" panose="02010609060101010101" charset="-122"/>
              <a:ea typeface="楷体" panose="02010609060101010101" charset="-122"/>
              <a:cs typeface="楷体" panose="02010609060101010101" charset="-122"/>
            </a:endParaRPr>
          </a:p>
        </p:txBody>
      </p:sp>
      <p:sp>
        <p:nvSpPr>
          <p:cNvPr id="39" name="文本框 38"/>
          <p:cNvSpPr txBox="1"/>
          <p:nvPr>
            <p:custDataLst>
              <p:tags r:id="rId3"/>
            </p:custDataLst>
          </p:nvPr>
        </p:nvSpPr>
        <p:spPr>
          <a:xfrm>
            <a:off x="7463790" y="3566160"/>
            <a:ext cx="2869565" cy="506730"/>
          </a:xfrm>
          <a:prstGeom prst="rect">
            <a:avLst/>
          </a:prstGeom>
          <a:solidFill>
            <a:srgbClr val="96D7F3"/>
          </a:solidFill>
          <a:ln w="9525">
            <a:noFill/>
          </a:ln>
        </p:spPr>
        <p:txBody>
          <a:bodyPr wrap="square">
            <a:spAutoFit/>
          </a:bodyPr>
          <a:p>
            <a:pPr indent="0"/>
            <a:r>
              <a:rPr lang="zh-CN" altLang="en-US" sz="2700" b="1">
                <a:solidFill>
                  <a:srgbClr val="000000"/>
                </a:solidFill>
                <a:latin typeface="新宋体" panose="02010609030101010101" pitchFamily="49" charset="-122"/>
                <a:ea typeface="新宋体" panose="02010609030101010101" pitchFamily="49" charset="-122"/>
              </a:rPr>
              <a:t>怎么做：方法</a:t>
            </a:r>
            <a:r>
              <a:rPr lang="en-US" altLang="zh-CN" sz="2700" b="1">
                <a:solidFill>
                  <a:srgbClr val="000000"/>
                </a:solidFill>
                <a:latin typeface="新宋体" panose="02010609030101010101" pitchFamily="49" charset="-122"/>
                <a:ea typeface="新宋体" panose="02010609030101010101" pitchFamily="49" charset="-122"/>
              </a:rPr>
              <a:t>2</a:t>
            </a:r>
            <a:endParaRPr lang="en-US" altLang="zh-CN" sz="2700" b="1">
              <a:solidFill>
                <a:srgbClr val="000000"/>
              </a:solidFill>
              <a:latin typeface="新宋体" panose="02010609030101010101" pitchFamily="49" charset="-122"/>
              <a:ea typeface="新宋体" panose="02010609030101010101" pitchFamily="49" charset="-122"/>
            </a:endParaRPr>
          </a:p>
        </p:txBody>
      </p:sp>
      <p:cxnSp>
        <p:nvCxnSpPr>
          <p:cNvPr id="2" name="直接连接符 1"/>
          <p:cNvCxnSpPr/>
          <p:nvPr>
            <p:custDataLst>
              <p:tags r:id="rId4"/>
            </p:custDataLst>
          </p:nvPr>
        </p:nvCxnSpPr>
        <p:spPr>
          <a:xfrm>
            <a:off x="1562100" y="1240790"/>
            <a:ext cx="3500120" cy="0"/>
          </a:xfrm>
          <a:prstGeom prst="line">
            <a:avLst/>
          </a:prstGeom>
          <a:ln w="19050">
            <a:solidFill>
              <a:srgbClr val="13396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5"/>
            </p:custDataLst>
          </p:nvPr>
        </p:nvCxnSpPr>
        <p:spPr>
          <a:xfrm>
            <a:off x="2997200" y="3336925"/>
            <a:ext cx="6186170" cy="10160"/>
          </a:xfrm>
          <a:prstGeom prst="line">
            <a:avLst/>
          </a:prstGeom>
          <a:ln w="19050">
            <a:solidFill>
              <a:srgbClr val="133965"/>
            </a:solidFill>
          </a:ln>
        </p:spPr>
        <p:style>
          <a:lnRef idx="1">
            <a:schemeClr val="accent1"/>
          </a:lnRef>
          <a:fillRef idx="0">
            <a:schemeClr val="accent1"/>
          </a:fillRef>
          <a:effectRef idx="0">
            <a:schemeClr val="accent1"/>
          </a:effectRef>
          <a:fontRef idx="minor">
            <a:schemeClr val="tx1"/>
          </a:fontRef>
        </p:style>
      </p:cxnSp>
      <p:sp>
        <p:nvSpPr>
          <p:cNvPr id="12" name="椭圆 11"/>
          <p:cNvSpPr/>
          <p:nvPr>
            <p:custDataLst>
              <p:tags r:id="rId6"/>
            </p:custDataLst>
          </p:nvPr>
        </p:nvSpPr>
        <p:spPr>
          <a:xfrm>
            <a:off x="492125" y="2848610"/>
            <a:ext cx="906780" cy="498475"/>
          </a:xfrm>
          <a:prstGeom prst="ellipse">
            <a:avLst/>
          </a:prstGeom>
          <a:noFill/>
          <a:ln w="19050">
            <a:solidFill>
              <a:srgbClr val="13396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nvSpPr>
        <p:spPr>
          <a:xfrm>
            <a:off x="7887335" y="1878330"/>
            <a:ext cx="1222375" cy="335280"/>
          </a:xfrm>
          <a:prstGeom prst="rect">
            <a:avLst/>
          </a:prstGeom>
          <a:noFill/>
        </p:spPr>
        <p:txBody>
          <a:bodyPr wrap="square" rtlCol="0">
            <a:noAutofit/>
          </a:bodyPr>
          <a:p>
            <a:r>
              <a:rPr lang="zh-CN" altLang="en-US" sz="2000" b="1">
                <a:solidFill>
                  <a:schemeClr val="accent1"/>
                </a:solidFill>
              </a:rPr>
              <a:t>举例论证</a:t>
            </a:r>
            <a:endParaRPr lang="zh-CN" altLang="en-US" sz="2000" b="1">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wipe(left)">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500" fill="hold">
                                          <p:stCondLst>
                                            <p:cond delay="0"/>
                                          </p:stCondLst>
                                        </p:cTn>
                                        <p:tgtEl>
                                          <p:spTgt spid="12"/>
                                        </p:tgtEl>
                                        <p:attrNameLst>
                                          <p:attrName>style.visibility</p:attrName>
                                        </p:attrNameLst>
                                      </p:cBhvr>
                                      <p:to>
                                        <p:strVal val="visible"/>
                                      </p:to>
                                    </p:set>
                                    <p:animEffect transition="in" filter="wheel(1)">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wipe(left)">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ppt_x"/>
                                          </p:val>
                                        </p:tav>
                                        <p:tav tm="100000">
                                          <p:val>
                                            <p:strVal val="#ppt_x"/>
                                          </p:val>
                                        </p:tav>
                                      </p:tavLst>
                                    </p:anim>
                                    <p:anim calcmode="lin" valueType="num">
                                      <p:cBhvr additive="base">
                                        <p:cTn id="3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ldLvl="0" animBg="1"/>
      <p:bldP spid="12" grpId="0" bldLvl="0" animBg="1"/>
      <p:bldP spid="47" grpId="0" bldLvl="0" animBg="1"/>
      <p:bldP spid="10" grpId="0"/>
      <p:bldP spid="10"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4" name="矩形 3"/>
          <p:cNvSpPr/>
          <p:nvPr/>
        </p:nvSpPr>
        <p:spPr>
          <a:xfrm>
            <a:off x="399822" y="384631"/>
            <a:ext cx="11392354" cy="608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custDataLst>
              <p:tags r:id="rId2"/>
            </p:custDataLst>
          </p:nvPr>
        </p:nvSpPr>
        <p:spPr>
          <a:xfrm>
            <a:off x="10097770" y="2964815"/>
            <a:ext cx="1290955" cy="435610"/>
          </a:xfrm>
          <a:prstGeom prst="rect">
            <a:avLst/>
          </a:prstGeom>
          <a:solidFill>
            <a:schemeClr val="accent4">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100" name="文本框 99"/>
          <p:cNvSpPr txBox="1"/>
          <p:nvPr/>
        </p:nvSpPr>
        <p:spPr>
          <a:xfrm>
            <a:off x="587375" y="492125"/>
            <a:ext cx="11017885" cy="3415030"/>
          </a:xfrm>
          <a:prstGeom prst="rect">
            <a:avLst/>
          </a:prstGeom>
          <a:noFill/>
          <a:ln w="9525">
            <a:noFill/>
          </a:ln>
        </p:spPr>
        <p:txBody>
          <a:bodyPr wrap="square">
            <a:spAutoFit/>
          </a:bodyPr>
          <a:p>
            <a:pPr indent="266700" fontAlgn="auto"/>
            <a:r>
              <a:rPr lang="en-US" altLang="zh-CN" sz="2700" b="0">
                <a:solidFill>
                  <a:srgbClr val="000000"/>
                </a:solidFill>
                <a:latin typeface="楷体" panose="02010609060101010101" charset="-122"/>
                <a:ea typeface="楷体" panose="02010609060101010101" charset="-122"/>
                <a:cs typeface="楷体" panose="02010609060101010101" charset="-122"/>
              </a:rPr>
              <a:t>  </a:t>
            </a:r>
            <a:endParaRPr lang="zh-CN" sz="2700" b="0">
              <a:solidFill>
                <a:srgbClr val="000000"/>
              </a:solidFill>
              <a:latin typeface="楷体" panose="02010609060101010101" charset="-122"/>
              <a:ea typeface="楷体" panose="02010609060101010101" charset="-122"/>
              <a:cs typeface="楷体" panose="02010609060101010101" charset="-122"/>
            </a:endParaRPr>
          </a:p>
          <a:p>
            <a:pPr indent="266700" fontAlgn="auto"/>
            <a:r>
              <a:rPr lang="en-US" altLang="zh-CN" sz="2700" b="0">
                <a:solidFill>
                  <a:srgbClr val="000000"/>
                </a:solidFill>
                <a:latin typeface="楷体" panose="02010609060101010101" charset="-122"/>
                <a:ea typeface="楷体" panose="02010609060101010101" charset="-122"/>
                <a:cs typeface="楷体" panose="02010609060101010101" charset="-122"/>
              </a:rPr>
              <a:t>  </a:t>
            </a:r>
            <a:r>
              <a:rPr lang="zh-CN" sz="2700" b="0">
                <a:solidFill>
                  <a:srgbClr val="000000"/>
                </a:solidFill>
                <a:latin typeface="楷体" panose="02010609060101010101" charset="-122"/>
                <a:ea typeface="楷体" panose="02010609060101010101" charset="-122"/>
                <a:cs typeface="楷体" panose="02010609060101010101" charset="-122"/>
              </a:rPr>
              <a:t>⑤文化数字化为当代文化业态发展描绘了极具想象力的图景。比如，深圳一位动画师团队运用京剧、水等元素创作了一则动画视频，网友直呼隔着屏幕感受到“中国之美”；有媒体运用智能影像修复技术让李苦禅所绘《盛夏图》“动”了起来，水波浮动，荷花绽放，尽显水墨之美。利用虚拟现实、增强现实、全息成像、互动影视等技术，可以增强文化创意产品的文化承载力、展现力和传播力。因此，文创产品的持续发展，离不开数字技术赋能。</a:t>
            </a:r>
            <a:endParaRPr lang="zh-CN" sz="2700" b="0">
              <a:solidFill>
                <a:srgbClr val="000000"/>
              </a:solidFill>
              <a:latin typeface="楷体" panose="02010609060101010101" charset="-122"/>
              <a:ea typeface="楷体" panose="02010609060101010101" charset="-122"/>
              <a:cs typeface="楷体" panose="02010609060101010101" charset="-122"/>
            </a:endParaRPr>
          </a:p>
        </p:txBody>
      </p:sp>
      <p:sp>
        <p:nvSpPr>
          <p:cNvPr id="39" name="文本框 38"/>
          <p:cNvSpPr txBox="1"/>
          <p:nvPr>
            <p:custDataLst>
              <p:tags r:id="rId3"/>
            </p:custDataLst>
          </p:nvPr>
        </p:nvSpPr>
        <p:spPr>
          <a:xfrm>
            <a:off x="8369300" y="3710940"/>
            <a:ext cx="2869565" cy="506730"/>
          </a:xfrm>
          <a:prstGeom prst="rect">
            <a:avLst/>
          </a:prstGeom>
          <a:solidFill>
            <a:srgbClr val="96D7F3"/>
          </a:solidFill>
          <a:ln w="9525">
            <a:noFill/>
          </a:ln>
        </p:spPr>
        <p:txBody>
          <a:bodyPr wrap="square">
            <a:spAutoFit/>
          </a:bodyPr>
          <a:p>
            <a:pPr indent="0"/>
            <a:r>
              <a:rPr lang="zh-CN" altLang="en-US" sz="2700" b="1">
                <a:solidFill>
                  <a:srgbClr val="000000"/>
                </a:solidFill>
                <a:latin typeface="新宋体" panose="02010609030101010101" pitchFamily="49" charset="-122"/>
                <a:ea typeface="新宋体" panose="02010609030101010101" pitchFamily="49" charset="-122"/>
              </a:rPr>
              <a:t>怎么做：方法</a:t>
            </a:r>
            <a:r>
              <a:rPr lang="en-US" altLang="zh-CN" sz="2700" b="1">
                <a:solidFill>
                  <a:srgbClr val="000000"/>
                </a:solidFill>
                <a:latin typeface="新宋体" panose="02010609030101010101" pitchFamily="49" charset="-122"/>
                <a:ea typeface="新宋体" panose="02010609030101010101" pitchFamily="49" charset="-122"/>
              </a:rPr>
              <a:t>3</a:t>
            </a:r>
            <a:endParaRPr lang="en-US" altLang="zh-CN" sz="2700" b="1">
              <a:solidFill>
                <a:srgbClr val="000000"/>
              </a:solidFill>
              <a:latin typeface="新宋体" panose="02010609030101010101" pitchFamily="49" charset="-122"/>
              <a:ea typeface="新宋体" panose="02010609030101010101" pitchFamily="49" charset="-122"/>
            </a:endParaRPr>
          </a:p>
        </p:txBody>
      </p:sp>
      <p:sp>
        <p:nvSpPr>
          <p:cNvPr id="12" name="椭圆 11"/>
          <p:cNvSpPr/>
          <p:nvPr>
            <p:custDataLst>
              <p:tags r:id="rId4"/>
            </p:custDataLst>
          </p:nvPr>
        </p:nvSpPr>
        <p:spPr>
          <a:xfrm>
            <a:off x="7017385" y="2930525"/>
            <a:ext cx="906780" cy="498475"/>
          </a:xfrm>
          <a:prstGeom prst="ellipse">
            <a:avLst/>
          </a:prstGeom>
          <a:noFill/>
          <a:ln w="19050">
            <a:solidFill>
              <a:srgbClr val="13396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 name="直接连接符 1"/>
          <p:cNvCxnSpPr/>
          <p:nvPr>
            <p:custDataLst>
              <p:tags r:id="rId5"/>
            </p:custDataLst>
          </p:nvPr>
        </p:nvCxnSpPr>
        <p:spPr>
          <a:xfrm flipV="1">
            <a:off x="8082280" y="3388995"/>
            <a:ext cx="3307080" cy="11430"/>
          </a:xfrm>
          <a:prstGeom prst="line">
            <a:avLst/>
          </a:prstGeom>
          <a:ln w="19050">
            <a:solidFill>
              <a:srgbClr val="13396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6"/>
            </p:custDataLst>
          </p:nvPr>
        </p:nvCxnSpPr>
        <p:spPr>
          <a:xfrm>
            <a:off x="542290" y="3821430"/>
            <a:ext cx="3216275" cy="7620"/>
          </a:xfrm>
          <a:prstGeom prst="line">
            <a:avLst/>
          </a:prstGeom>
          <a:ln w="19050">
            <a:solidFill>
              <a:srgbClr val="133965"/>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500" fill="hold">
                                          <p:stCondLst>
                                            <p:cond delay="0"/>
                                          </p:stCondLst>
                                        </p:cTn>
                                        <p:tgtEl>
                                          <p:spTgt spid="12"/>
                                        </p:tgtEl>
                                        <p:attrNameLst>
                                          <p:attrName>style.visibility</p:attrName>
                                        </p:attrNameLst>
                                      </p:cBhvr>
                                      <p:to>
                                        <p:strVal val="visible"/>
                                      </p:to>
                                    </p:set>
                                    <p:animEffect transition="in" filter="wheel(1)">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wipe(left)">
                                      <p:cBhvr>
                                        <p:cTn id="22" dur="500"/>
                                        <p:tgtEl>
                                          <p:spTgt spid="4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wipe(left)">
                                      <p:cBhvr>
                                        <p:cTn id="2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ldLvl="0" animBg="1"/>
      <p:bldP spid="12" grpId="0" bldLvl="0" animBg="1"/>
      <p:bldP spid="47"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4" name="矩形 3"/>
          <p:cNvSpPr/>
          <p:nvPr/>
        </p:nvSpPr>
        <p:spPr>
          <a:xfrm>
            <a:off x="399822" y="384631"/>
            <a:ext cx="11392354" cy="608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custDataLst>
              <p:tags r:id="rId2"/>
            </p:custDataLst>
          </p:nvPr>
        </p:nvSpPr>
        <p:spPr>
          <a:xfrm>
            <a:off x="9470390" y="1677670"/>
            <a:ext cx="841375" cy="435610"/>
          </a:xfrm>
          <a:prstGeom prst="rect">
            <a:avLst/>
          </a:prstGeom>
          <a:solidFill>
            <a:schemeClr val="accent2">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100" name="文本框 99"/>
          <p:cNvSpPr txBox="1"/>
          <p:nvPr/>
        </p:nvSpPr>
        <p:spPr>
          <a:xfrm>
            <a:off x="542290" y="837565"/>
            <a:ext cx="10792460" cy="1753235"/>
          </a:xfrm>
          <a:prstGeom prst="rect">
            <a:avLst/>
          </a:prstGeom>
          <a:noFill/>
          <a:ln w="9525">
            <a:noFill/>
          </a:ln>
        </p:spPr>
        <p:txBody>
          <a:bodyPr wrap="square">
            <a:spAutoFit/>
          </a:bodyPr>
          <a:p>
            <a:pPr indent="266700" fontAlgn="auto"/>
            <a:r>
              <a:rPr lang="en-US" altLang="zh-CN" sz="2700" b="0">
                <a:solidFill>
                  <a:srgbClr val="000000"/>
                </a:solidFill>
                <a:latin typeface="楷体" panose="02010609060101010101" charset="-122"/>
                <a:ea typeface="楷体" panose="02010609060101010101" charset="-122"/>
                <a:cs typeface="楷体" panose="02010609060101010101" charset="-122"/>
              </a:rPr>
              <a:t>  </a:t>
            </a:r>
            <a:r>
              <a:rPr lang="zh-CN" sz="2700" b="0">
                <a:solidFill>
                  <a:srgbClr val="000000"/>
                </a:solidFill>
                <a:latin typeface="楷体" panose="02010609060101010101" charset="-122"/>
                <a:ea typeface="楷体" panose="02010609060101010101" charset="-122"/>
                <a:cs typeface="楷体" panose="02010609060101010101" charset="-122"/>
              </a:rPr>
              <a:t>⑥当陈列在博物馆的先秦编钟、汉代宫灯、唐代乐器、宋代书画，或化身日常用品，或融入漫画、综艺、数字展览等内容创作时，它们能吸引更多饶有兴致的寻访者深入了解厚重的中华文明史。期待文化创意产品持续提质升级，让更多人从中华文化中获得精神力量。</a:t>
            </a:r>
            <a:endParaRPr lang="zh-CN" sz="2700" b="0">
              <a:solidFill>
                <a:srgbClr val="000000"/>
              </a:solidFill>
              <a:latin typeface="楷体" panose="02010609060101010101" charset="-122"/>
              <a:ea typeface="楷体" panose="02010609060101010101" charset="-122"/>
              <a:cs typeface="楷体" panose="02010609060101010101" charset="-122"/>
            </a:endParaRPr>
          </a:p>
        </p:txBody>
      </p:sp>
      <p:cxnSp>
        <p:nvCxnSpPr>
          <p:cNvPr id="5" name="直接连接符 4"/>
          <p:cNvCxnSpPr/>
          <p:nvPr>
            <p:custDataLst>
              <p:tags r:id="rId3"/>
            </p:custDataLst>
          </p:nvPr>
        </p:nvCxnSpPr>
        <p:spPr>
          <a:xfrm>
            <a:off x="9470390" y="2113280"/>
            <a:ext cx="1501775" cy="0"/>
          </a:xfrm>
          <a:prstGeom prst="line">
            <a:avLst/>
          </a:prstGeom>
          <a:ln w="19050">
            <a:solidFill>
              <a:srgbClr val="133965"/>
            </a:solidFill>
          </a:ln>
        </p:spPr>
        <p:style>
          <a:lnRef idx="1">
            <a:schemeClr val="accent1"/>
          </a:lnRef>
          <a:fillRef idx="0">
            <a:schemeClr val="accent1"/>
          </a:fillRef>
          <a:effectRef idx="0">
            <a:schemeClr val="accent1"/>
          </a:effectRef>
          <a:fontRef idx="minor">
            <a:schemeClr val="tx1"/>
          </a:fontRef>
        </p:style>
      </p:cxnSp>
      <p:sp>
        <p:nvSpPr>
          <p:cNvPr id="12" name="椭圆 11"/>
          <p:cNvSpPr/>
          <p:nvPr>
            <p:custDataLst>
              <p:tags r:id="rId4"/>
            </p:custDataLst>
          </p:nvPr>
        </p:nvSpPr>
        <p:spPr>
          <a:xfrm>
            <a:off x="1496060" y="837565"/>
            <a:ext cx="547370" cy="498475"/>
          </a:xfrm>
          <a:prstGeom prst="ellipse">
            <a:avLst/>
          </a:prstGeom>
          <a:noFill/>
          <a:ln w="19050">
            <a:solidFill>
              <a:srgbClr val="13396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椭圆 6"/>
          <p:cNvSpPr/>
          <p:nvPr>
            <p:custDataLst>
              <p:tags r:id="rId5"/>
            </p:custDataLst>
          </p:nvPr>
        </p:nvSpPr>
        <p:spPr>
          <a:xfrm>
            <a:off x="542290" y="1614805"/>
            <a:ext cx="547370" cy="498475"/>
          </a:xfrm>
          <a:prstGeom prst="ellipse">
            <a:avLst/>
          </a:prstGeom>
          <a:noFill/>
          <a:ln w="19050">
            <a:solidFill>
              <a:srgbClr val="13396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椭圆 7"/>
          <p:cNvSpPr/>
          <p:nvPr>
            <p:custDataLst>
              <p:tags r:id="rId6"/>
            </p:custDataLst>
          </p:nvPr>
        </p:nvSpPr>
        <p:spPr>
          <a:xfrm>
            <a:off x="9457690" y="1235710"/>
            <a:ext cx="547370" cy="498475"/>
          </a:xfrm>
          <a:prstGeom prst="ellipse">
            <a:avLst/>
          </a:prstGeom>
          <a:noFill/>
          <a:ln w="19050">
            <a:solidFill>
              <a:srgbClr val="13396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0" name="直接连接符 9"/>
          <p:cNvCxnSpPr/>
          <p:nvPr>
            <p:custDataLst>
              <p:tags r:id="rId7"/>
            </p:custDataLst>
          </p:nvPr>
        </p:nvCxnSpPr>
        <p:spPr>
          <a:xfrm flipV="1">
            <a:off x="563880" y="2519680"/>
            <a:ext cx="9403080" cy="11430"/>
          </a:xfrm>
          <a:prstGeom prst="line">
            <a:avLst/>
          </a:prstGeom>
          <a:ln w="19050">
            <a:solidFill>
              <a:srgbClr val="133965"/>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custDataLst>
              <p:tags r:id="rId8"/>
            </p:custDataLst>
          </p:nvPr>
        </p:nvSpPr>
        <p:spPr>
          <a:xfrm>
            <a:off x="3413125" y="2774315"/>
            <a:ext cx="7825105" cy="506730"/>
          </a:xfrm>
          <a:prstGeom prst="rect">
            <a:avLst/>
          </a:prstGeom>
          <a:solidFill>
            <a:srgbClr val="96D7F3"/>
          </a:solidFill>
          <a:ln w="9525">
            <a:noFill/>
          </a:ln>
        </p:spPr>
        <p:txBody>
          <a:bodyPr wrap="square">
            <a:spAutoFit/>
          </a:bodyPr>
          <a:p>
            <a:pPr indent="0"/>
            <a:r>
              <a:rPr sz="2700" b="1">
                <a:solidFill>
                  <a:srgbClr val="000000"/>
                </a:solidFill>
                <a:latin typeface="新宋体" panose="02010609030101010101" pitchFamily="49" charset="-122"/>
                <a:ea typeface="新宋体" panose="02010609030101010101" pitchFamily="49" charset="-122"/>
              </a:rPr>
              <a:t>提出希望，期待文创产品持续提质升级。</a:t>
            </a:r>
            <a:endParaRPr sz="2700" b="1">
              <a:solidFill>
                <a:srgbClr val="000000"/>
              </a:solidFill>
              <a:latin typeface="新宋体" panose="02010609030101010101" pitchFamily="49" charset="-122"/>
              <a:ea typeface="新宋体"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500" fill="hold">
                                          <p:stCondLst>
                                            <p:cond delay="0"/>
                                          </p:stCondLst>
                                        </p:cTn>
                                        <p:tgtEl>
                                          <p:spTgt spid="12"/>
                                        </p:tgtEl>
                                        <p:attrNameLst>
                                          <p:attrName>style.visibility</p:attrName>
                                        </p:attrNameLst>
                                      </p:cBhvr>
                                      <p:to>
                                        <p:strVal val="visible"/>
                                      </p:to>
                                    </p:set>
                                    <p:animEffect transition="in" filter="wheel(1)">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500" fill="hold">
                                          <p:stCondLst>
                                            <p:cond delay="0"/>
                                          </p:stCondLst>
                                        </p:cTn>
                                        <p:tgtEl>
                                          <p:spTgt spid="8"/>
                                        </p:tgtEl>
                                        <p:attrNameLst>
                                          <p:attrName>style.visibility</p:attrName>
                                        </p:attrNameLst>
                                      </p:cBhvr>
                                      <p:to>
                                        <p:strVal val="visible"/>
                                      </p:to>
                                    </p:set>
                                    <p:animEffect transition="in" filter="wheel(1)">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500" fill="hold">
                                          <p:stCondLst>
                                            <p:cond delay="0"/>
                                          </p:stCondLst>
                                        </p:cTn>
                                        <p:tgtEl>
                                          <p:spTgt spid="7"/>
                                        </p:tgtEl>
                                        <p:attrNameLst>
                                          <p:attrName>style.visibility</p:attrName>
                                        </p:attrNameLst>
                                      </p:cBhvr>
                                      <p:to>
                                        <p:strVal val="visible"/>
                                      </p:to>
                                    </p:set>
                                    <p:animEffect transition="in" filter="wheel(1)">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wipe(left)">
                                      <p:cBhvr>
                                        <p:cTn id="32" dur="500"/>
                                        <p:tgtEl>
                                          <p:spTgt spid="4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wipe(left)">
                                      <p:cBhvr>
                                        <p:cTn id="3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7" grpId="0" bldLvl="0" animBg="1"/>
      <p:bldP spid="8" grpId="0" bldLvl="0" animBg="1"/>
      <p:bldP spid="39" grpId="0" bldLvl="0" animBg="1"/>
      <p:bldP spid="48"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4" name="矩形 3"/>
          <p:cNvSpPr/>
          <p:nvPr/>
        </p:nvSpPr>
        <p:spPr>
          <a:xfrm>
            <a:off x="399822" y="384631"/>
            <a:ext cx="11392354" cy="608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118110" y="583565"/>
            <a:ext cx="11198860" cy="5223510"/>
          </a:xfrm>
          <a:prstGeom prst="rect">
            <a:avLst/>
          </a:prstGeom>
          <a:noFill/>
          <a:ln w="9525">
            <a:noFill/>
          </a:ln>
        </p:spPr>
        <p:txBody>
          <a:bodyPr wrap="square">
            <a:spAutoFit/>
          </a:bodyPr>
          <a:p>
            <a:pPr indent="266700" fontAlgn="auto">
              <a:lnSpc>
                <a:spcPct val="100000"/>
              </a:lnSpc>
            </a:pPr>
            <a:r>
              <a:rPr lang="en-US" altLang="zh-CN" sz="2700" b="0">
                <a:solidFill>
                  <a:srgbClr val="000000"/>
                </a:solidFill>
                <a:latin typeface="楷体" panose="02010609060101010101" charset="-122"/>
                <a:ea typeface="楷体" panose="02010609060101010101" charset="-122"/>
                <a:cs typeface="楷体" panose="02010609060101010101" charset="-122"/>
              </a:rPr>
              <a:t> </a:t>
            </a:r>
            <a:r>
              <a:rPr lang="en-US" alt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2.完成关于本文论证思路的填空（9分）</a:t>
            </a:r>
            <a:endPar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endParaRPr>
          </a:p>
          <a:p>
            <a:pPr indent="266700" fontAlgn="auto">
              <a:lnSpc>
                <a:spcPct val="150000"/>
              </a:lnSpc>
            </a:pP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首先，</a:t>
            </a:r>
            <a:r>
              <a:rPr 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段，以</a:t>
            </a:r>
            <a:r>
              <a:rPr 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en-US" alt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引出</a:t>
            </a:r>
            <a:endParaRPr 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endParaRPr>
          </a:p>
          <a:p>
            <a:pPr indent="266700" fontAlgn="auto">
              <a:lnSpc>
                <a:spcPct val="150000"/>
              </a:lnSpc>
            </a:pP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本文的中心论点</a:t>
            </a:r>
            <a:r>
              <a:rPr 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a:t>
            </a:r>
            <a:endParaRPr 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endParaRPr>
          </a:p>
          <a:p>
            <a:pPr indent="266700" fontAlgn="auto">
              <a:lnSpc>
                <a:spcPct val="150000"/>
              </a:lnSpc>
            </a:pP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接着，</a:t>
            </a:r>
            <a:r>
              <a:rPr 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段，分别从三个方面阐释了“怎么做”：</a:t>
            </a:r>
            <a:endParaRPr 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endParaRPr>
          </a:p>
          <a:p>
            <a:pPr indent="266700" fontAlgn="auto">
              <a:lnSpc>
                <a:spcPct val="150000"/>
              </a:lnSpc>
            </a:pP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（1）</a:t>
            </a:r>
            <a:r>
              <a:rPr 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a:t>
            </a:r>
            <a:endParaRPr 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endParaRPr>
          </a:p>
          <a:p>
            <a:pPr indent="266700" fontAlgn="auto">
              <a:lnSpc>
                <a:spcPct val="150000"/>
              </a:lnSpc>
            </a:pP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（2）</a:t>
            </a:r>
            <a:r>
              <a:rPr 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a:t>
            </a:r>
            <a:endPar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endParaRPr>
          </a:p>
          <a:p>
            <a:pPr indent="266700" fontAlgn="auto">
              <a:lnSpc>
                <a:spcPct val="150000"/>
              </a:lnSpc>
            </a:pP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（3）</a:t>
            </a:r>
            <a:r>
              <a:rPr 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a:t>
            </a:r>
            <a:endParaRPr 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endParaRPr>
          </a:p>
          <a:p>
            <a:pPr indent="266700" fontAlgn="auto">
              <a:lnSpc>
                <a:spcPct val="150000"/>
              </a:lnSpc>
            </a:pP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最后，</a:t>
            </a:r>
            <a:r>
              <a:rPr 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en-US" alt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段，</a:t>
            </a:r>
            <a:r>
              <a:rPr lang="zh-CN" sz="2900" b="0" u="sng">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a:t>
            </a:r>
            <a:endPar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endParaRPr>
          </a:p>
        </p:txBody>
      </p:sp>
      <p:sp>
        <p:nvSpPr>
          <p:cNvPr id="8" name="文本框 7"/>
          <p:cNvSpPr txBox="1"/>
          <p:nvPr>
            <p:custDataLst>
              <p:tags r:id="rId2"/>
            </p:custDataLst>
          </p:nvPr>
        </p:nvSpPr>
        <p:spPr>
          <a:xfrm>
            <a:off x="1516380" y="1140460"/>
            <a:ext cx="1087755" cy="537210"/>
          </a:xfrm>
          <a:prstGeom prst="rect">
            <a:avLst/>
          </a:prstGeom>
          <a:noFill/>
        </p:spPr>
        <p:txBody>
          <a:bodyPr wrap="square" rtlCol="0" anchor="t">
            <a:spAutoFit/>
          </a:bodyPr>
          <a:p>
            <a:r>
              <a:rPr lang="zh-CN" altLang="en-US" sz="2900" b="1">
                <a:solidFill>
                  <a:srgbClr val="FF0000"/>
                </a:solidFill>
                <a:latin typeface="Calibri" panose="020F0502020204030204" charset="0"/>
                <a:ea typeface="锦绣宋体" panose="02000503000000000000" charset="-122"/>
                <a:cs typeface="新宋体" panose="02010609030101010101" pitchFamily="49" charset="-122"/>
                <a:sym typeface="+mn-ea"/>
              </a:rPr>
              <a:t>①②</a:t>
            </a:r>
            <a:endParaRPr lang="zh-CN" altLang="en-US" sz="2900" b="1">
              <a:solidFill>
                <a:srgbClr val="FF0000"/>
              </a:solidFill>
              <a:latin typeface="Calibri" panose="020F0502020204030204" charset="0"/>
              <a:ea typeface="锦绣宋体" panose="02000503000000000000" charset="-122"/>
              <a:cs typeface="新宋体" panose="02010609030101010101" pitchFamily="49" charset="-122"/>
              <a:sym typeface="+mn-ea"/>
            </a:endParaRPr>
          </a:p>
        </p:txBody>
      </p:sp>
      <p:sp>
        <p:nvSpPr>
          <p:cNvPr id="2" name="文本框 1"/>
          <p:cNvSpPr txBox="1"/>
          <p:nvPr>
            <p:custDataLst>
              <p:tags r:id="rId3"/>
            </p:custDataLst>
          </p:nvPr>
        </p:nvSpPr>
        <p:spPr>
          <a:xfrm>
            <a:off x="3822065" y="1162685"/>
            <a:ext cx="7048500" cy="537210"/>
          </a:xfrm>
          <a:prstGeom prst="rect">
            <a:avLst/>
          </a:prstGeom>
          <a:noFill/>
        </p:spPr>
        <p:txBody>
          <a:bodyPr wrap="square" rtlCol="0" anchor="t">
            <a:spAutoFit/>
          </a:bodyPr>
          <a:p>
            <a:r>
              <a:rPr lang="zh-CN" altLang="en-US" sz="2900" b="1">
                <a:solidFill>
                  <a:srgbClr val="FF0000"/>
                </a:solidFill>
                <a:latin typeface="Calibri" panose="020F0502020204030204" charset="0"/>
                <a:ea typeface="锦绣宋体" panose="02000503000000000000" charset="-122"/>
                <a:cs typeface="新宋体" panose="02010609030101010101" pitchFamily="49" charset="-122"/>
                <a:sym typeface="+mn-ea"/>
              </a:rPr>
              <a:t>第五届进博会中国文创产品受欢迎的事例</a:t>
            </a:r>
            <a:endParaRPr lang="zh-CN" altLang="en-US" sz="2900" b="1">
              <a:solidFill>
                <a:srgbClr val="FF0000"/>
              </a:solidFill>
              <a:latin typeface="Calibri" panose="020F0502020204030204" charset="0"/>
              <a:ea typeface="锦绣宋体" panose="02000503000000000000" charset="-122"/>
              <a:cs typeface="新宋体" panose="02010609030101010101" pitchFamily="49" charset="-122"/>
              <a:sym typeface="+mn-ea"/>
            </a:endParaRPr>
          </a:p>
        </p:txBody>
      </p:sp>
      <p:sp>
        <p:nvSpPr>
          <p:cNvPr id="5" name="文本框 4"/>
          <p:cNvSpPr txBox="1"/>
          <p:nvPr>
            <p:custDataLst>
              <p:tags r:id="rId4"/>
            </p:custDataLst>
          </p:nvPr>
        </p:nvSpPr>
        <p:spPr>
          <a:xfrm>
            <a:off x="3283585" y="1826895"/>
            <a:ext cx="7048500" cy="537210"/>
          </a:xfrm>
          <a:prstGeom prst="rect">
            <a:avLst/>
          </a:prstGeom>
          <a:noFill/>
        </p:spPr>
        <p:txBody>
          <a:bodyPr wrap="square" rtlCol="0" anchor="t">
            <a:spAutoFit/>
          </a:bodyPr>
          <a:p>
            <a:r>
              <a:rPr lang="zh-CN" altLang="en-US" sz="2900" b="1">
                <a:solidFill>
                  <a:srgbClr val="FF0000"/>
                </a:solidFill>
                <a:latin typeface="Calibri" panose="020F0502020204030204" charset="0"/>
                <a:ea typeface="锦绣宋体" panose="02000503000000000000" charset="-122"/>
                <a:cs typeface="新宋体" panose="02010609030101010101" pitchFamily="49" charset="-122"/>
                <a:sym typeface="+mn-ea"/>
              </a:rPr>
              <a:t>我们要深耕文化土壤，助力文创升级</a:t>
            </a:r>
            <a:endParaRPr lang="zh-CN" altLang="en-US" sz="2900" b="1">
              <a:solidFill>
                <a:srgbClr val="FF0000"/>
              </a:solidFill>
              <a:latin typeface="Calibri" panose="020F0502020204030204" charset="0"/>
              <a:ea typeface="锦绣宋体" panose="02000503000000000000" charset="-122"/>
              <a:cs typeface="新宋体" panose="02010609030101010101" pitchFamily="49" charset="-122"/>
              <a:sym typeface="+mn-ea"/>
            </a:endParaRPr>
          </a:p>
        </p:txBody>
      </p:sp>
      <p:sp>
        <p:nvSpPr>
          <p:cNvPr id="6" name="文本框 5"/>
          <p:cNvSpPr txBox="1"/>
          <p:nvPr>
            <p:custDataLst>
              <p:tags r:id="rId5"/>
            </p:custDataLst>
          </p:nvPr>
        </p:nvSpPr>
        <p:spPr>
          <a:xfrm>
            <a:off x="1516380" y="2508885"/>
            <a:ext cx="1278890" cy="537210"/>
          </a:xfrm>
          <a:prstGeom prst="rect">
            <a:avLst/>
          </a:prstGeom>
          <a:noFill/>
        </p:spPr>
        <p:txBody>
          <a:bodyPr wrap="square" rtlCol="0" anchor="t">
            <a:spAutoFit/>
          </a:bodyPr>
          <a:p>
            <a:r>
              <a:rPr lang="zh-CN" altLang="en-US" sz="2900" b="1">
                <a:solidFill>
                  <a:srgbClr val="FF0000"/>
                </a:solidFill>
                <a:latin typeface="锦绣宋体" panose="02000503000000000000" charset="-122"/>
                <a:ea typeface="锦绣宋体" panose="02000503000000000000" charset="-122"/>
                <a:cs typeface="锦绣宋体" panose="02000503000000000000" charset="-122"/>
                <a:sym typeface="+mn-ea"/>
              </a:rPr>
              <a:t>③</a:t>
            </a:r>
            <a:r>
              <a:rPr lang="en-US" altLang="zh-CN" sz="2900" b="1">
                <a:solidFill>
                  <a:srgbClr val="FF0000"/>
                </a:solidFill>
                <a:latin typeface="锦绣宋体" panose="02000503000000000000" charset="-122"/>
                <a:ea typeface="锦绣宋体" panose="02000503000000000000" charset="-122"/>
                <a:cs typeface="锦绣宋体" panose="02000503000000000000" charset="-122"/>
                <a:sym typeface="+mn-ea"/>
              </a:rPr>
              <a:t>~⑤</a:t>
            </a:r>
            <a:endParaRPr lang="en-US" altLang="zh-CN" sz="2900" b="1">
              <a:solidFill>
                <a:srgbClr val="FF0000"/>
              </a:solidFill>
              <a:latin typeface="锦绣宋体" panose="02000503000000000000" charset="-122"/>
              <a:ea typeface="锦绣宋体" panose="02000503000000000000" charset="-122"/>
              <a:cs typeface="锦绣宋体" panose="02000503000000000000" charset="-122"/>
              <a:sym typeface="+mn-ea"/>
            </a:endParaRPr>
          </a:p>
        </p:txBody>
      </p:sp>
      <p:sp>
        <p:nvSpPr>
          <p:cNvPr id="7" name="文本框 6"/>
          <p:cNvSpPr txBox="1"/>
          <p:nvPr>
            <p:custDataLst>
              <p:tags r:id="rId6"/>
            </p:custDataLst>
          </p:nvPr>
        </p:nvSpPr>
        <p:spPr>
          <a:xfrm>
            <a:off x="1007110" y="3160395"/>
            <a:ext cx="11294110" cy="506730"/>
          </a:xfrm>
          <a:prstGeom prst="rect">
            <a:avLst/>
          </a:prstGeom>
          <a:noFill/>
        </p:spPr>
        <p:txBody>
          <a:bodyPr wrap="square" rtlCol="0" anchor="t">
            <a:spAutoFit/>
          </a:bodyPr>
          <a:p>
            <a:r>
              <a:rPr lang="zh-CN" altLang="en-US" sz="2700" b="1">
                <a:solidFill>
                  <a:srgbClr val="FF0000"/>
                </a:solidFill>
                <a:latin typeface="Calibri" panose="020F0502020204030204" charset="0"/>
                <a:ea typeface="锦绣宋体" panose="02000503000000000000" charset="-122"/>
                <a:cs typeface="新宋体" panose="02010609030101010101" pitchFamily="49" charset="-122"/>
                <a:sym typeface="+mn-ea"/>
              </a:rPr>
              <a:t>优质文创产品的根基，在于以恰当的创意形式，融合历史内涵与时代审美</a:t>
            </a:r>
            <a:endParaRPr lang="zh-CN" altLang="en-US" sz="2700" b="1">
              <a:solidFill>
                <a:srgbClr val="FF0000"/>
              </a:solidFill>
              <a:latin typeface="Calibri" panose="020F0502020204030204" charset="0"/>
              <a:ea typeface="锦绣宋体" panose="02000503000000000000" charset="-122"/>
              <a:cs typeface="新宋体" panose="02010609030101010101" pitchFamily="49" charset="-122"/>
              <a:sym typeface="+mn-ea"/>
            </a:endParaRPr>
          </a:p>
        </p:txBody>
      </p:sp>
      <p:sp>
        <p:nvSpPr>
          <p:cNvPr id="9" name="文本框 8"/>
          <p:cNvSpPr txBox="1"/>
          <p:nvPr>
            <p:custDataLst>
              <p:tags r:id="rId7"/>
            </p:custDataLst>
          </p:nvPr>
        </p:nvSpPr>
        <p:spPr>
          <a:xfrm>
            <a:off x="1125855" y="3811905"/>
            <a:ext cx="11066145" cy="506730"/>
          </a:xfrm>
          <a:prstGeom prst="rect">
            <a:avLst/>
          </a:prstGeom>
          <a:noFill/>
        </p:spPr>
        <p:txBody>
          <a:bodyPr wrap="square" rtlCol="0" anchor="t">
            <a:spAutoFit/>
          </a:bodyPr>
          <a:p>
            <a:r>
              <a:rPr lang="zh-CN" altLang="en-US" sz="2700" b="1">
                <a:solidFill>
                  <a:srgbClr val="FF0000"/>
                </a:solidFill>
                <a:latin typeface="Calibri" panose="020F0502020204030204" charset="0"/>
                <a:ea typeface="锦绣宋体" panose="02000503000000000000" charset="-122"/>
                <a:cs typeface="新宋体" panose="02010609030101010101" pitchFamily="49" charset="-122"/>
                <a:sym typeface="+mn-ea"/>
              </a:rPr>
              <a:t>文创产品成功的关键，在于能满足人们高品质、个性化的精神需求</a:t>
            </a:r>
            <a:endParaRPr lang="zh-CN" altLang="en-US" sz="2700" b="1">
              <a:solidFill>
                <a:srgbClr val="FF0000"/>
              </a:solidFill>
              <a:latin typeface="Calibri" panose="020F0502020204030204" charset="0"/>
              <a:ea typeface="锦绣宋体" panose="02000503000000000000" charset="-122"/>
              <a:cs typeface="新宋体" panose="02010609030101010101" pitchFamily="49" charset="-122"/>
              <a:sym typeface="+mn-ea"/>
            </a:endParaRPr>
          </a:p>
        </p:txBody>
      </p:sp>
      <p:sp>
        <p:nvSpPr>
          <p:cNvPr id="10" name="文本框 9"/>
          <p:cNvSpPr txBox="1"/>
          <p:nvPr>
            <p:custDataLst>
              <p:tags r:id="rId8"/>
            </p:custDataLst>
          </p:nvPr>
        </p:nvSpPr>
        <p:spPr>
          <a:xfrm>
            <a:off x="1125855" y="4463415"/>
            <a:ext cx="7792720" cy="506730"/>
          </a:xfrm>
          <a:prstGeom prst="rect">
            <a:avLst/>
          </a:prstGeom>
          <a:noFill/>
        </p:spPr>
        <p:txBody>
          <a:bodyPr wrap="square" rtlCol="0" anchor="t">
            <a:spAutoFit/>
          </a:bodyPr>
          <a:p>
            <a:r>
              <a:rPr lang="zh-CN" altLang="en-US" sz="2700" b="1">
                <a:solidFill>
                  <a:srgbClr val="FF0000"/>
                </a:solidFill>
                <a:latin typeface="Calibri" panose="020F0502020204030204" charset="0"/>
                <a:ea typeface="锦绣宋体" panose="02000503000000000000" charset="-122"/>
                <a:cs typeface="新宋体" panose="02010609030101010101" pitchFamily="49" charset="-122"/>
                <a:sym typeface="+mn-ea"/>
              </a:rPr>
              <a:t>文创产品的持续发展，离不开数字技术赋能</a:t>
            </a:r>
            <a:endParaRPr lang="zh-CN" altLang="en-US" sz="2700" b="1">
              <a:solidFill>
                <a:srgbClr val="FF0000"/>
              </a:solidFill>
              <a:latin typeface="Calibri" panose="020F0502020204030204" charset="0"/>
              <a:ea typeface="锦绣宋体" panose="02000503000000000000" charset="-122"/>
              <a:cs typeface="新宋体" panose="02010609030101010101" pitchFamily="49" charset="-122"/>
              <a:sym typeface="+mn-ea"/>
            </a:endParaRPr>
          </a:p>
        </p:txBody>
      </p:sp>
      <p:sp>
        <p:nvSpPr>
          <p:cNvPr id="11" name="文本框 10"/>
          <p:cNvSpPr txBox="1"/>
          <p:nvPr>
            <p:custDataLst>
              <p:tags r:id="rId9"/>
            </p:custDataLst>
          </p:nvPr>
        </p:nvSpPr>
        <p:spPr>
          <a:xfrm>
            <a:off x="1516380" y="5149850"/>
            <a:ext cx="1278890" cy="537210"/>
          </a:xfrm>
          <a:prstGeom prst="rect">
            <a:avLst/>
          </a:prstGeom>
          <a:noFill/>
        </p:spPr>
        <p:txBody>
          <a:bodyPr wrap="square" rtlCol="0" anchor="t">
            <a:spAutoFit/>
          </a:bodyPr>
          <a:p>
            <a:r>
              <a:rPr lang="en-US" altLang="zh-CN" sz="2900" b="1">
                <a:solidFill>
                  <a:srgbClr val="FF0000"/>
                </a:solidFill>
                <a:latin typeface="锦绣宋体" panose="02000503000000000000" charset="-122"/>
                <a:ea typeface="锦绣宋体" panose="02000503000000000000" charset="-122"/>
                <a:cs typeface="锦绣宋体" panose="02000503000000000000" charset="-122"/>
                <a:sym typeface="+mn-ea"/>
              </a:rPr>
              <a:t>⑥</a:t>
            </a:r>
            <a:endParaRPr lang="en-US" altLang="zh-CN" sz="2900" b="1">
              <a:solidFill>
                <a:srgbClr val="FF0000"/>
              </a:solidFill>
              <a:latin typeface="锦绣宋体" panose="02000503000000000000" charset="-122"/>
              <a:ea typeface="锦绣宋体" panose="02000503000000000000" charset="-122"/>
              <a:cs typeface="锦绣宋体" panose="02000503000000000000" charset="-122"/>
              <a:sym typeface="+mn-ea"/>
            </a:endParaRPr>
          </a:p>
        </p:txBody>
      </p:sp>
      <p:sp>
        <p:nvSpPr>
          <p:cNvPr id="12" name="文本框 11"/>
          <p:cNvSpPr txBox="1"/>
          <p:nvPr>
            <p:custDataLst>
              <p:tags r:id="rId10"/>
            </p:custDataLst>
          </p:nvPr>
        </p:nvSpPr>
        <p:spPr>
          <a:xfrm>
            <a:off x="3679825" y="5149850"/>
            <a:ext cx="7792720" cy="506730"/>
          </a:xfrm>
          <a:prstGeom prst="rect">
            <a:avLst/>
          </a:prstGeom>
          <a:noFill/>
        </p:spPr>
        <p:txBody>
          <a:bodyPr wrap="square" rtlCol="0" anchor="t">
            <a:spAutoFit/>
          </a:bodyPr>
          <a:p>
            <a:r>
              <a:rPr lang="zh-CN" altLang="en-US" sz="2700" b="1">
                <a:solidFill>
                  <a:srgbClr val="FF0000"/>
                </a:solidFill>
                <a:latin typeface="Calibri" panose="020F0502020204030204" charset="0"/>
                <a:ea typeface="锦绣宋体" panose="02000503000000000000" charset="-122"/>
                <a:cs typeface="新宋体" panose="02010609030101010101" pitchFamily="49" charset="-122"/>
                <a:sym typeface="+mn-ea"/>
              </a:rPr>
              <a:t>提出希望，期待文创产品持续提质升级</a:t>
            </a:r>
            <a:endParaRPr lang="zh-CN" altLang="en-US" sz="2700" b="1">
              <a:solidFill>
                <a:srgbClr val="FF0000"/>
              </a:solidFill>
              <a:latin typeface="Calibri" panose="020F0502020204030204" charset="0"/>
              <a:ea typeface="锦绣宋体" panose="02000503000000000000" charset="-122"/>
              <a:cs typeface="新宋体" panose="0201060903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left)">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left)">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wipe(left)">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left)">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wipe(left)">
                                      <p:cBhvr>
                                        <p:cTn id="32" dur="500"/>
                                        <p:tgtEl>
                                          <p:spTgt spid="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animEffect transition="in" filter="wipe(left)">
                                      <p:cBhvr>
                                        <p:cTn id="37" dur="500"/>
                                        <p:tgtEl>
                                          <p:spTgt spid="10">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
                                            <p:txEl>
                                              <p:pRg st="0" end="0"/>
                                            </p:txEl>
                                          </p:spTgt>
                                        </p:tgtEl>
                                        <p:attrNameLst>
                                          <p:attrName>style.visibility</p:attrName>
                                        </p:attrNameLst>
                                      </p:cBhvr>
                                      <p:to>
                                        <p:strVal val="visible"/>
                                      </p:to>
                                    </p:set>
                                    <p:animEffect transition="in" filter="wipe(left)">
                                      <p:cBhvr>
                                        <p:cTn id="42" dur="500"/>
                                        <p:tgtEl>
                                          <p:spTgt spid="1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
                                            <p:txEl>
                                              <p:pRg st="0" end="0"/>
                                            </p:txEl>
                                          </p:spTgt>
                                        </p:tgtEl>
                                        <p:attrNameLst>
                                          <p:attrName>style.visibility</p:attrName>
                                        </p:attrNameLst>
                                      </p:cBhvr>
                                      <p:to>
                                        <p:strVal val="visible"/>
                                      </p:to>
                                    </p:set>
                                    <p:animEffect transition="in" filter="wipe(left)">
                                      <p:cBhvr>
                                        <p:cTn id="4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4" name="矩形 3"/>
          <p:cNvSpPr/>
          <p:nvPr/>
        </p:nvSpPr>
        <p:spPr>
          <a:xfrm>
            <a:off x="399822" y="384631"/>
            <a:ext cx="11392354" cy="608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400050" y="384810"/>
            <a:ext cx="11017885" cy="760730"/>
          </a:xfrm>
          <a:prstGeom prst="rect">
            <a:avLst/>
          </a:prstGeom>
          <a:noFill/>
          <a:ln w="9525">
            <a:noFill/>
          </a:ln>
        </p:spPr>
        <p:txBody>
          <a:bodyPr wrap="square">
            <a:spAutoFit/>
          </a:bodyPr>
          <a:p>
            <a:pPr indent="266700" fontAlgn="auto">
              <a:lnSpc>
                <a:spcPct val="150000"/>
              </a:lnSpc>
            </a:pPr>
            <a:r>
              <a:rPr lang="en-US" altLang="zh-CN" sz="2700" b="0">
                <a:solidFill>
                  <a:srgbClr val="000000"/>
                </a:solidFill>
                <a:latin typeface="楷体" panose="02010609060101010101" charset="-122"/>
                <a:ea typeface="楷体" panose="02010609060101010101" charset="-122"/>
                <a:cs typeface="楷体" panose="02010609060101010101" charset="-122"/>
              </a:rPr>
              <a:t> </a:t>
            </a:r>
            <a:r>
              <a:rPr lang="en-US" alt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3.第③~⑤段为什么不能颠倒顺序？（5分）</a:t>
            </a:r>
            <a:endPar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endParaRPr>
          </a:p>
        </p:txBody>
      </p:sp>
      <p:sp>
        <p:nvSpPr>
          <p:cNvPr id="7" name="文本框 6"/>
          <p:cNvSpPr txBox="1"/>
          <p:nvPr>
            <p:custDataLst>
              <p:tags r:id="rId2"/>
            </p:custDataLst>
          </p:nvPr>
        </p:nvSpPr>
        <p:spPr>
          <a:xfrm>
            <a:off x="487045" y="1007745"/>
            <a:ext cx="11184890" cy="5492750"/>
          </a:xfrm>
          <a:prstGeom prst="rect">
            <a:avLst/>
          </a:prstGeom>
          <a:noFill/>
        </p:spPr>
        <p:txBody>
          <a:bodyPr wrap="square" rtlCol="0" anchor="t">
            <a:spAutoFit/>
          </a:bodyPr>
          <a:p>
            <a:r>
              <a:rPr lang="zh-CN" altLang="en-US" sz="2700" b="1">
                <a:solidFill>
                  <a:srgbClr val="FF0000"/>
                </a:solidFill>
                <a:latin typeface="锦绣宋体" panose="02000503000000000000" charset="-122"/>
                <a:ea typeface="锦绣宋体" panose="02000503000000000000" charset="-122"/>
                <a:cs typeface="锦绣宋体" panose="02000503000000000000" charset="-122"/>
                <a:sym typeface="+mn-ea"/>
              </a:rPr>
              <a:t>不能。</a:t>
            </a:r>
            <a:endParaRPr lang="zh-CN" altLang="en-US" sz="2700" b="1">
              <a:solidFill>
                <a:srgbClr val="FF0000"/>
              </a:solidFill>
              <a:latin typeface="锦绣宋体" panose="02000503000000000000" charset="-122"/>
              <a:ea typeface="锦绣宋体" panose="02000503000000000000" charset="-122"/>
              <a:cs typeface="锦绣宋体" panose="02000503000000000000" charset="-122"/>
              <a:sym typeface="+mn-ea"/>
            </a:endParaRPr>
          </a:p>
          <a:p>
            <a:r>
              <a:rPr lang="zh-CN" altLang="en-US" sz="2700" b="1">
                <a:solidFill>
                  <a:srgbClr val="FF0000"/>
                </a:solidFill>
                <a:latin typeface="锦绣宋体" panose="02000503000000000000" charset="-122"/>
                <a:ea typeface="锦绣宋体" panose="02000503000000000000" charset="-122"/>
                <a:cs typeface="锦绣宋体" panose="02000503000000000000" charset="-122"/>
                <a:sym typeface="+mn-ea"/>
              </a:rPr>
              <a:t>③写</a:t>
            </a:r>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优质文创产品的根基，在于以恰当的创意形式，融合历史内涵与时代审美。</a:t>
            </a:r>
            <a:endPar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endParaRPr>
          </a:p>
          <a:p>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④写文创产品成功的关键，在于能满足人们高品质、个性化的精神需求。</a:t>
            </a:r>
            <a:endPar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endParaRPr>
          </a:p>
          <a:p>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⑤写文创产品的持续发展，离不开数字技术赋能。</a:t>
            </a:r>
            <a:endPar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endParaRPr>
          </a:p>
          <a:p>
            <a:r>
              <a:rPr lang="zh-CN" altLang="en-US" sz="2700" b="1" u="sng">
                <a:solidFill>
                  <a:srgbClr val="FF0000"/>
                </a:solidFill>
                <a:latin typeface="锦绣宋体" panose="02000503000000000000" charset="-122"/>
                <a:ea typeface="锦绣宋体" panose="02000503000000000000" charset="-122"/>
                <a:cs typeface="锦绣宋体" panose="02000503000000000000" charset="-122"/>
                <a:sym typeface="+mn-ea"/>
              </a:rPr>
              <a:t>先要有符合要求的好的</a:t>
            </a:r>
            <a:r>
              <a:rPr lang="zh-CN" altLang="en-US" sz="2700" b="1" u="sng">
                <a:solidFill>
                  <a:srgbClr val="FF0000"/>
                </a:solidFill>
                <a:latin typeface="锦绣宋体" panose="02000503000000000000" charset="-122"/>
                <a:ea typeface="锦绣宋体" panose="02000503000000000000" charset="-122"/>
                <a:cs typeface="新宋体" panose="02010609030101010101" pitchFamily="49" charset="-122"/>
                <a:sym typeface="+mn-ea"/>
              </a:rPr>
              <a:t>优质文创产品，</a:t>
            </a:r>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才能</a:t>
            </a:r>
            <a:r>
              <a:rPr lang="zh-CN" altLang="en-US" sz="2700" b="1" u="sng">
                <a:solidFill>
                  <a:srgbClr val="FF0000"/>
                </a:solidFill>
                <a:latin typeface="锦绣宋体" panose="02000503000000000000" charset="-122"/>
                <a:ea typeface="锦绣宋体" panose="02000503000000000000" charset="-122"/>
                <a:cs typeface="新宋体" panose="02010609030101010101" pitchFamily="49" charset="-122"/>
                <a:sym typeface="+mn-ea"/>
              </a:rPr>
              <a:t>满足人们的精神需求</a:t>
            </a:r>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a:t>
            </a:r>
            <a:r>
              <a:rPr lang="zh-CN" altLang="en-US" sz="2700" b="1">
                <a:solidFill>
                  <a:srgbClr val="FF0000"/>
                </a:solidFill>
                <a:latin typeface="锦绣宋体" panose="02000503000000000000" charset="-122"/>
                <a:ea typeface="锦绣宋体" panose="02000503000000000000" charset="-122"/>
                <a:cs typeface="锦绣宋体" panose="02000503000000000000" charset="-122"/>
                <a:sym typeface="+mn-ea"/>
              </a:rPr>
              <a:t>③</a:t>
            </a:r>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是④的前提和基础；之后才能有持续发展，⑤是在</a:t>
            </a:r>
            <a:r>
              <a:rPr lang="zh-CN" altLang="en-US" sz="2700" b="1">
                <a:solidFill>
                  <a:srgbClr val="FF0000"/>
                </a:solidFill>
                <a:latin typeface="锦绣宋体" panose="02000503000000000000" charset="-122"/>
                <a:ea typeface="锦绣宋体" panose="02000503000000000000" charset="-122"/>
                <a:cs typeface="锦绣宋体" panose="02000503000000000000" charset="-122"/>
                <a:sym typeface="+mn-ea"/>
              </a:rPr>
              <a:t>③</a:t>
            </a:r>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④基础上的更好的发展。</a:t>
            </a:r>
            <a:endPar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endParaRPr>
          </a:p>
          <a:p>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层进式结构。</a:t>
            </a:r>
            <a:endPar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endParaRPr>
          </a:p>
          <a:p>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且</a:t>
            </a:r>
            <a:r>
              <a:rPr lang="zh-CN" altLang="en-US" sz="2700" b="1">
                <a:solidFill>
                  <a:srgbClr val="FF0000"/>
                </a:solidFill>
                <a:latin typeface="锦绣宋体" panose="02000503000000000000" charset="-122"/>
                <a:ea typeface="锦绣宋体" panose="02000503000000000000" charset="-122"/>
                <a:cs typeface="锦绣宋体" panose="02000503000000000000" charset="-122"/>
                <a:sym typeface="+mn-ea"/>
              </a:rPr>
              <a:t>③</a:t>
            </a:r>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④⑤的顺序与第</a:t>
            </a:r>
            <a:r>
              <a:rPr lang="zh-CN" altLang="en-US" sz="2700" b="1">
                <a:solidFill>
                  <a:srgbClr val="FF0000"/>
                </a:solidFill>
                <a:latin typeface="宋体" panose="02010600030101010101" pitchFamily="2" charset="-122"/>
                <a:ea typeface="宋体" panose="02010600030101010101" pitchFamily="2" charset="-122"/>
                <a:cs typeface="新宋体" panose="02010609030101010101" pitchFamily="49" charset="-122"/>
                <a:sym typeface="+mn-ea"/>
              </a:rPr>
              <a:t>②段中</a:t>
            </a:r>
            <a:r>
              <a:rPr lang="en-US" altLang="zh-CN"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a:t>
            </a:r>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开发出一大批彰显中华美学风格、满足人民精神生活需要、融合当代科技力量的文创产品”这句话相对应。</a:t>
            </a:r>
            <a:endPar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endParaRPr>
          </a:p>
          <a:p>
            <a:endPar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endParaRPr>
          </a:p>
          <a:p>
            <a:endPar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left)">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left)">
                                      <p:cBhvr>
                                        <p:cTn id="37"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4" name="矩形 3"/>
          <p:cNvSpPr/>
          <p:nvPr/>
        </p:nvSpPr>
        <p:spPr>
          <a:xfrm>
            <a:off x="399822" y="384631"/>
            <a:ext cx="11392354" cy="608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484505" y="384810"/>
            <a:ext cx="11017885" cy="2299335"/>
          </a:xfrm>
          <a:prstGeom prst="rect">
            <a:avLst/>
          </a:prstGeom>
          <a:noFill/>
          <a:ln w="9525">
            <a:noFill/>
          </a:ln>
        </p:spPr>
        <p:txBody>
          <a:bodyPr wrap="square">
            <a:spAutoFit/>
          </a:bodyPr>
          <a:p>
            <a:pPr indent="266700" fontAlgn="auto">
              <a:lnSpc>
                <a:spcPct val="150000"/>
              </a:lnSpc>
            </a:pPr>
            <a:r>
              <a:rPr lang="en-US" altLang="zh-CN" sz="2700" b="0">
                <a:solidFill>
                  <a:srgbClr val="000000"/>
                </a:solidFill>
                <a:latin typeface="楷体" panose="02010609060101010101" charset="-122"/>
                <a:ea typeface="楷体" panose="02010609060101010101" charset="-122"/>
                <a:cs typeface="楷体" panose="02010609060101010101" charset="-122"/>
              </a:rPr>
              <a:t> </a:t>
            </a:r>
            <a:r>
              <a:rPr lang="en-US" alt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 </a:t>
            </a:r>
            <a:r>
              <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rPr>
              <a:t>4.下面这段文字，适合放入文中哪一段？请简述理由。（3分）</a:t>
            </a:r>
            <a:endParaRPr lang="zh-CN" sz="2900" b="0">
              <a:solidFill>
                <a:srgbClr val="000000"/>
              </a:solidFill>
              <a:latin typeface="新宋体" panose="02010609030101010101" pitchFamily="49" charset="-122"/>
              <a:ea typeface="新宋体" panose="02010609030101010101" pitchFamily="49" charset="-122"/>
              <a:cs typeface="新宋体" panose="02010609030101010101" pitchFamily="49" charset="-122"/>
            </a:endParaRPr>
          </a:p>
          <a:p>
            <a:pPr indent="266700" fontAlgn="auto">
              <a:lnSpc>
                <a:spcPct val="100000"/>
              </a:lnSpc>
            </a:pPr>
            <a:r>
              <a:rPr lang="en-US" altLang="zh-CN" sz="2300" b="0">
                <a:solidFill>
                  <a:srgbClr val="000000"/>
                </a:solidFill>
                <a:latin typeface="楷体" panose="02010609060101010101" charset="-122"/>
                <a:ea typeface="楷体" panose="02010609060101010101" charset="-122"/>
                <a:cs typeface="楷体" panose="02010609060101010101" charset="-122"/>
              </a:rPr>
              <a:t>  </a:t>
            </a:r>
            <a:r>
              <a:rPr lang="zh-CN" sz="2500" b="0">
                <a:solidFill>
                  <a:srgbClr val="000000"/>
                </a:solidFill>
                <a:latin typeface="楷体" panose="02010609060101010101" charset="-122"/>
                <a:ea typeface="楷体" panose="02010609060101010101" charset="-122"/>
                <a:cs typeface="楷体" panose="02010609060101010101" charset="-122"/>
              </a:rPr>
              <a:t>中央广播电视台制作的文创精品《国家宝藏》节目，别出心裁地将有代表性的中国文物与电视舞台剧的艺术表现形式结合起来，讲述中国文物宝藏的前世今生。节目播出后，故宫博物院等多家国家级博物馆的参观人数大幅增加，“为一座博物馆赴一座城”成为旅游打卡的新趋势。</a:t>
            </a:r>
            <a:endParaRPr lang="zh-CN" sz="2500" b="0">
              <a:solidFill>
                <a:srgbClr val="000000"/>
              </a:solidFill>
              <a:latin typeface="楷体" panose="02010609060101010101" charset="-122"/>
              <a:ea typeface="楷体" panose="02010609060101010101" charset="-122"/>
              <a:cs typeface="楷体" panose="02010609060101010101" charset="-122"/>
            </a:endParaRPr>
          </a:p>
        </p:txBody>
      </p:sp>
      <p:sp>
        <p:nvSpPr>
          <p:cNvPr id="7" name="文本框 6"/>
          <p:cNvSpPr txBox="1"/>
          <p:nvPr/>
        </p:nvSpPr>
        <p:spPr>
          <a:xfrm>
            <a:off x="484505" y="2684145"/>
            <a:ext cx="11184890" cy="2584450"/>
          </a:xfrm>
          <a:prstGeom prst="rect">
            <a:avLst/>
          </a:prstGeom>
          <a:noFill/>
        </p:spPr>
        <p:txBody>
          <a:bodyPr wrap="square" rtlCol="0" anchor="t">
            <a:spAutoFit/>
          </a:bodyPr>
          <a:p>
            <a:r>
              <a:rPr lang="zh-CN" altLang="en-US" sz="2700" b="1">
                <a:solidFill>
                  <a:srgbClr val="FF0000"/>
                </a:solidFill>
                <a:latin typeface="锦绣宋体" panose="02000503000000000000" charset="-122"/>
                <a:ea typeface="锦绣宋体" panose="02000503000000000000" charset="-122"/>
                <a:cs typeface="锦绣宋体" panose="02000503000000000000" charset="-122"/>
                <a:sym typeface="+mn-ea"/>
              </a:rPr>
              <a:t>应放入第</a:t>
            </a:r>
            <a:r>
              <a:rPr lang="zh-CN" sz="2700" b="1">
                <a:solidFill>
                  <a:srgbClr val="FF0000"/>
                </a:solidFill>
                <a:latin typeface="锦绣宋体" panose="02000503000000000000" charset="-122"/>
                <a:ea typeface="锦绣宋体" panose="02000503000000000000" charset="-122"/>
                <a:cs typeface="楷体" panose="02010609060101010101" charset="-122"/>
                <a:sym typeface="+mn-ea"/>
              </a:rPr>
              <a:t>⑤段中，</a:t>
            </a:r>
            <a:endParaRPr lang="zh-CN" sz="2700" b="1">
              <a:solidFill>
                <a:srgbClr val="FF0000"/>
              </a:solidFill>
              <a:latin typeface="锦绣宋体" panose="02000503000000000000" charset="-122"/>
              <a:ea typeface="锦绣宋体" panose="02000503000000000000" charset="-122"/>
              <a:cs typeface="楷体" panose="02010609060101010101" charset="-122"/>
              <a:sym typeface="+mn-ea"/>
            </a:endParaRPr>
          </a:p>
          <a:p>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因为这段文字写文创精品《国家宝藏》节目是将国家文物和电视舞台剧的形式相结合的文创形式。</a:t>
            </a:r>
            <a:endPar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endParaRPr>
          </a:p>
          <a:p>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与第⑤段</a:t>
            </a:r>
            <a:r>
              <a:rPr lang="en-US" altLang="zh-CN"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a:t>
            </a:r>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文创产品的持续发展，离不开数字技术赋。</a:t>
            </a:r>
            <a:r>
              <a:rPr lang="en-US" altLang="zh-CN"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a:t>
            </a:r>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观点相一致。</a:t>
            </a:r>
            <a:endPar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endParaRPr>
          </a:p>
          <a:p>
            <a:r>
              <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rPr>
              <a:t>能作为事实论据，证明第⑤段的观点。</a:t>
            </a:r>
            <a:endPar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endParaRPr>
          </a:p>
          <a:p>
            <a:endParaRPr lang="zh-CN" altLang="en-US" sz="2700" b="1">
              <a:solidFill>
                <a:srgbClr val="FF0000"/>
              </a:solidFill>
              <a:latin typeface="锦绣宋体" panose="02000503000000000000" charset="-122"/>
              <a:ea typeface="锦绣宋体" panose="02000503000000000000" charset="-122"/>
              <a:cs typeface="新宋体" panose="0201060903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0"/>
            <a:ext cx="11918315" cy="6833235"/>
          </a:xfrm>
          <a:prstGeom prst="rect">
            <a:avLst/>
          </a:prstGeom>
        </p:spPr>
        <p:txBody>
          <a:bodyPr wrap="square">
            <a:spAutoFit/>
          </a:bodyPr>
          <a:p>
            <a:pPr marL="0" indent="0" algn="ctr" defTabSz="266700" fontAlgn="ctr">
              <a:lnSpc>
                <a:spcPct val="120000"/>
              </a:lnSpc>
              <a:spcBef>
                <a:spcPts val="700"/>
              </a:spcBef>
              <a:spcAft>
                <a:spcPct val="0"/>
              </a:spcAft>
            </a:pPr>
            <a:r>
              <a:rPr lang="zh-CN" altLang="en-US" sz="2800" b="0">
                <a:solidFill>
                  <a:srgbClr val="000000"/>
                </a:solidFill>
                <a:latin typeface="微软雅黑" panose="020B0503020204020204" charset="-122"/>
                <a:ea typeface="微软雅黑" panose="020B0503020204020204" charset="-122"/>
              </a:rPr>
              <a:t>（二）</a:t>
            </a:r>
            <a:r>
              <a:rPr lang="zh-CN" altLang="en-US" sz="2800" b="1">
                <a:latin typeface="宋体" panose="02010600030101010101" pitchFamily="2" charset="-122"/>
                <a:ea typeface="宋体" panose="02010600030101010101" pitchFamily="2" charset="-122"/>
              </a:rPr>
              <a:t>在古诗词中寻回诗心</a:t>
            </a:r>
            <a:endParaRPr lang="zh-CN" altLang="en-US" sz="2800" b="1">
              <a:latin typeface="宋体" panose="02010600030101010101" pitchFamily="2" charset="-122"/>
              <a:ea typeface="宋体" panose="02010600030101010101" pitchFamily="2" charset="-122"/>
            </a:endParaRPr>
          </a:p>
          <a:p>
            <a:pPr marL="0" indent="304800" algn="l" defTabSz="266700">
              <a:spcBef>
                <a:spcPts val="500"/>
              </a:spcBef>
              <a:spcAft>
                <a:spcPts val="500"/>
              </a:spcAft>
            </a:pPr>
            <a:r>
              <a:rPr lang="en-US" altLang="zh-CN" sz="2800">
                <a:latin typeface="楷体" panose="02010609060101010101" charset="-122"/>
                <a:ea typeface="楷体" panose="02010609060101010101" charset="-122"/>
              </a:rPr>
              <a:t>①“</a:t>
            </a:r>
            <a:r>
              <a:rPr lang="zh-CN" altLang="en-US" sz="2800">
                <a:latin typeface="楷体" panose="02010609060101010101" charset="-122"/>
                <a:ea typeface="楷体" panose="02010609060101010101" charset="-122"/>
              </a:rPr>
              <a:t>莫听穿林打叶声，何妨吟啸且徐行。”不久前，一位大学校长在毕业典礼上领诵古诗词，勉励学生们永葆清澈之心。相关短视频在网络上被广泛转发，引起热议。意蕴深永的词章，真切动人的场景，让人们再次感受到古诗词的恒久魅力。</a:t>
            </a:r>
            <a:endParaRPr lang="zh-CN" altLang="en-US" sz="2800">
              <a:latin typeface="楷体" panose="02010609060101010101" charset="-122"/>
              <a:ea typeface="楷体" panose="02010609060101010101" charset="-122"/>
            </a:endParaRPr>
          </a:p>
          <a:p>
            <a:pPr marL="0" indent="304800" algn="l" defTabSz="266700">
              <a:spcBef>
                <a:spcPts val="500"/>
              </a:spcBef>
              <a:spcAft>
                <a:spcPts val="500"/>
              </a:spcAft>
            </a:pPr>
            <a:r>
              <a:rPr lang="en-US" altLang="zh-CN" sz="2800">
                <a:latin typeface="楷体" panose="02010609060101010101" charset="-122"/>
                <a:ea typeface="楷体" panose="02010609060101010101" charset="-122"/>
              </a:rPr>
              <a:t>②</a:t>
            </a:r>
            <a:r>
              <a:rPr lang="zh-CN" altLang="en-US" sz="2800">
                <a:latin typeface="楷体" panose="02010609060101010101" charset="-122"/>
                <a:ea typeface="楷体" panose="02010609060101010101" charset="-122"/>
              </a:rPr>
              <a:t>从毕业季以诗词寄托临别深情，到在社交平台上用诗词分享生活意趣，如今，古诗词在网络空间里的出现频率越来越高。中国古典诗词研究专家叶嘉莹等纷纷在社交平台上开设诗词“课堂”，吸引众多诗词爱好者“打卡”学习；浙江杭州的语文老师王杨军在课堂上拿出专门的时间带领学生进行诗文赏析，其中一些片段被拍成短视频发到网上，吸引了大量粉丝；不少视频创作者自发朗诵、讲解诗词，甚至将诗词改编为动画等形式。前不久，某短视频平台发布的报告显示：</a:t>
            </a:r>
            <a:r>
              <a:rPr lang="zh-CN" altLang="en-US" sz="2800" u="sng">
                <a:latin typeface="楷体" panose="02010609060101010101" charset="-122"/>
                <a:ea typeface="楷体" panose="02010609060101010101" charset="-122"/>
              </a:rPr>
              <a:t>过去</a:t>
            </a:r>
            <a:r>
              <a:rPr lang="en-US" altLang="zh-CN" sz="2800" u="sng">
                <a:latin typeface="楷体" panose="02010609060101010101" charset="-122"/>
                <a:ea typeface="楷体" panose="02010609060101010101" charset="-122"/>
              </a:rPr>
              <a:t>1</a:t>
            </a:r>
            <a:r>
              <a:rPr lang="zh-CN" altLang="en-US" sz="2800" u="sng">
                <a:latin typeface="楷体" panose="02010609060101010101" charset="-122"/>
                <a:ea typeface="楷体" panose="02010609060101010101" charset="-122"/>
              </a:rPr>
              <a:t>年，古诗词相关视频累计播放量</a:t>
            </a:r>
            <a:r>
              <a:rPr lang="en-US" altLang="zh-CN" sz="2800" u="sng">
                <a:latin typeface="楷体" panose="02010609060101010101" charset="-122"/>
                <a:ea typeface="楷体" panose="02010609060101010101" charset="-122"/>
              </a:rPr>
              <a:t>178</a:t>
            </a:r>
            <a:r>
              <a:rPr lang="zh-CN" altLang="en-US" sz="2800" u="sng">
                <a:latin typeface="楷体" panose="02010609060101010101" charset="-122"/>
                <a:ea typeface="楷体" panose="02010609060101010101" charset="-122"/>
              </a:rPr>
              <a:t>亿，同比增长</a:t>
            </a:r>
            <a:r>
              <a:rPr lang="en-US" altLang="zh-CN" sz="2800" u="sng">
                <a:latin typeface="楷体" panose="02010609060101010101" charset="-122"/>
                <a:ea typeface="楷体" panose="02010609060101010101" charset="-122"/>
              </a:rPr>
              <a:t>168%</a:t>
            </a:r>
            <a:r>
              <a:rPr lang="zh-CN" altLang="en-US" sz="2800" u="sng">
                <a:latin typeface="楷体" panose="02010609060101010101" charset="-122"/>
                <a:ea typeface="楷体" panose="02010609060101010101" charset="-122"/>
              </a:rPr>
              <a:t>；与此同时，相关电商平台古诗词类书籍销量同比增长</a:t>
            </a:r>
            <a:r>
              <a:rPr lang="en-US" altLang="zh-CN" sz="2800" u="sng">
                <a:latin typeface="楷体" panose="02010609060101010101" charset="-122"/>
                <a:ea typeface="楷体" panose="02010609060101010101" charset="-122"/>
              </a:rPr>
              <a:t>588%……</a:t>
            </a:r>
            <a:r>
              <a:rPr lang="zh-CN" altLang="en-US" sz="2800">
                <a:latin typeface="楷体" panose="02010609060101010101" charset="-122"/>
                <a:ea typeface="楷体" panose="02010609060101010101" charset="-122"/>
              </a:rPr>
              <a:t>一首首经过时间洗礼的经典诗词，借助互联网焕发新的生机，唤醒人们的诗心，为日常生活注入浪漫的诗意。</a:t>
            </a:r>
            <a:endParaRPr lang="zh-CN" altLang="en-US" sz="2800">
              <a:latin typeface="楷体" panose="02010609060101010101" charset="-122"/>
              <a:ea typeface="楷体" panose="02010609060101010101" charset="-122"/>
            </a:endParaRPr>
          </a:p>
        </p:txBody>
      </p:sp>
      <p:sp>
        <p:nvSpPr>
          <p:cNvPr id="3" name="文本框 2"/>
          <p:cNvSpPr txBox="1"/>
          <p:nvPr/>
        </p:nvSpPr>
        <p:spPr>
          <a:xfrm>
            <a:off x="184785" y="2205990"/>
            <a:ext cx="11733530" cy="2514600"/>
          </a:xfrm>
          <a:prstGeom prst="rect">
            <a:avLst/>
          </a:prstGeom>
          <a:solidFill>
            <a:schemeClr val="accent1">
              <a:lumMod val="40000"/>
              <a:lumOff val="60000"/>
            </a:schemeClr>
          </a:solidFill>
        </p:spPr>
        <p:txBody>
          <a:bodyPr wrap="square" rtlCol="0">
            <a:noAutofit/>
          </a:bodyPr>
          <a:p>
            <a:r>
              <a:rPr lang="zh-CN" altLang="en-US" sz="2800"/>
              <a:t>下列对第①段理解正确的一项是（    ）(3分)</a:t>
            </a:r>
            <a:endParaRPr lang="zh-CN" altLang="en-US" sz="2800"/>
          </a:p>
          <a:p>
            <a:r>
              <a:rPr lang="zh-CN" altLang="en-US" sz="2800"/>
              <a:t>A.借某位大学校长在毕业典礼上领诵《定风波》的短视频引出观点。</a:t>
            </a:r>
            <a:endParaRPr lang="zh-CN" altLang="en-US" sz="2800"/>
          </a:p>
          <a:p>
            <a:r>
              <a:rPr lang="zh-CN" altLang="en-US" sz="2800"/>
              <a:t>B.用大学校长领诵古诗词的短视频在网络走红这一事例来引出下文。</a:t>
            </a:r>
            <a:endParaRPr lang="zh-CN" altLang="en-US" sz="2800"/>
          </a:p>
          <a:p>
            <a:r>
              <a:rPr lang="zh-CN" altLang="en-US" sz="2800"/>
              <a:t>C.以古诗词在网络上引起热议并受到人们喜爱这一现象来引出论点。</a:t>
            </a:r>
            <a:endParaRPr lang="zh-CN" altLang="en-US" sz="2800"/>
          </a:p>
          <a:p>
            <a:r>
              <a:rPr lang="zh-CN" altLang="en-US" sz="2800"/>
              <a:t>D.一位大学校长因在毕业典礼上领诵古诗词而走红，引发读者兴趣。</a:t>
            </a:r>
            <a:endParaRPr lang="zh-CN" altLang="en-US" sz="2800"/>
          </a:p>
        </p:txBody>
      </p:sp>
      <p:sp>
        <p:nvSpPr>
          <p:cNvPr id="5" name="椭圆 4"/>
          <p:cNvSpPr/>
          <p:nvPr/>
        </p:nvSpPr>
        <p:spPr>
          <a:xfrm>
            <a:off x="8912860" y="3429000"/>
            <a:ext cx="1936750" cy="772160"/>
          </a:xfrm>
          <a:prstGeom prst="ellips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椭圆 5"/>
          <p:cNvSpPr/>
          <p:nvPr/>
        </p:nvSpPr>
        <p:spPr>
          <a:xfrm>
            <a:off x="8920480" y="2418080"/>
            <a:ext cx="1936750" cy="772160"/>
          </a:xfrm>
          <a:prstGeom prst="ellips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7" name="直接连接符 6"/>
          <p:cNvCxnSpPr/>
          <p:nvPr/>
        </p:nvCxnSpPr>
        <p:spPr>
          <a:xfrm>
            <a:off x="588645" y="4528820"/>
            <a:ext cx="7525385" cy="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sp>
        <p:nvSpPr>
          <p:cNvPr id="9" name="椭圆 8"/>
          <p:cNvSpPr/>
          <p:nvPr/>
        </p:nvSpPr>
        <p:spPr>
          <a:xfrm>
            <a:off x="9611995" y="4874895"/>
            <a:ext cx="1786890" cy="565150"/>
          </a:xfrm>
          <a:prstGeom prst="ellips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 name="椭圆 9"/>
          <p:cNvSpPr/>
          <p:nvPr/>
        </p:nvSpPr>
        <p:spPr>
          <a:xfrm>
            <a:off x="9542780" y="5440045"/>
            <a:ext cx="1786890" cy="565150"/>
          </a:xfrm>
          <a:prstGeom prst="ellips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1" name="椭圆 10"/>
          <p:cNvSpPr/>
          <p:nvPr/>
        </p:nvSpPr>
        <p:spPr>
          <a:xfrm>
            <a:off x="345440" y="5359400"/>
            <a:ext cx="1786890" cy="565150"/>
          </a:xfrm>
          <a:prstGeom prst="ellips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12" name="直接连接符 11"/>
          <p:cNvCxnSpPr/>
          <p:nvPr/>
        </p:nvCxnSpPr>
        <p:spPr>
          <a:xfrm flipV="1">
            <a:off x="184785" y="6304280"/>
            <a:ext cx="11456035" cy="3429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13" name="直接连接符 12"/>
          <p:cNvCxnSpPr/>
          <p:nvPr/>
        </p:nvCxnSpPr>
        <p:spPr>
          <a:xfrm>
            <a:off x="184785" y="6789420"/>
            <a:ext cx="5036185" cy="22225"/>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2650490" y="4990465"/>
            <a:ext cx="9496425" cy="1568450"/>
          </a:xfrm>
          <a:prstGeom prst="rect">
            <a:avLst/>
          </a:prstGeom>
          <a:solidFill>
            <a:schemeClr val="accent1">
              <a:lumMod val="40000"/>
              <a:lumOff val="60000"/>
            </a:schemeClr>
          </a:solidFill>
        </p:spPr>
        <p:txBody>
          <a:bodyPr wrap="square" rtlCol="0">
            <a:spAutoFit/>
          </a:bodyPr>
          <a:p>
            <a:r>
              <a:rPr lang="zh-CN" altLang="en-US" sz="2400">
                <a:solidFill>
                  <a:srgbClr val="FF0000"/>
                </a:solidFill>
              </a:rPr>
              <a:t>画线句列举了某短视频平台发布的一组数据， 说明古诗词相关视频的热播促进了古诗词书籍的阅读（2分）；有力论证了经典古诗词借助互联网焕发新的生机，唤醒人们的诗心， 为日常生活注入浪漫的诗意（2分）。</a:t>
            </a:r>
            <a:endParaRPr lang="zh-CN" altLang="en-US" sz="24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ppt_x"/>
                                          </p:val>
                                        </p:tav>
                                        <p:tav tm="100000">
                                          <p:val>
                                            <p:strVal val="#ppt_x"/>
                                          </p:val>
                                        </p:tav>
                                      </p:tavLst>
                                    </p:anim>
                                    <p:anim calcmode="lin" valueType="num">
                                      <p:cBhvr additive="base">
                                        <p:cTn id="5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ppt_x</p:attrName>
                                        </p:attrNameLst>
                                      </p:cBhvr>
                                      <p:tavLst>
                                        <p:tav tm="0">
                                          <p:val>
                                            <p:strVal val="#ppt_x"/>
                                          </p:val>
                                        </p:tav>
                                        <p:tav tm="100000">
                                          <p:val>
                                            <p:strVal val="#ppt_x"/>
                                          </p:val>
                                        </p:tav>
                                      </p:tavLst>
                                    </p:anim>
                                    <p:anim calcmode="lin" valueType="num">
                                      <p:cBhvr additive="base">
                                        <p:cTn id="5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ppt_x</p:attrName>
                                        </p:attrNameLst>
                                      </p:cBhvr>
                                      <p:tavLst>
                                        <p:tav tm="0">
                                          <p:val>
                                            <p:strVal val="#ppt_x"/>
                                          </p:val>
                                        </p:tav>
                                        <p:tav tm="100000">
                                          <p:val>
                                            <p:strVal val="#ppt_x"/>
                                          </p:val>
                                        </p:tav>
                                      </p:tavLst>
                                    </p:anim>
                                    <p:anim calcmode="lin" valueType="num">
                                      <p:cBhvr additive="base">
                                        <p:cTn id="6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6" grpId="0" animBg="1"/>
      <p:bldP spid="5" grpId="0" animBg="1"/>
      <p:bldP spid="9" grpId="0" animBg="1"/>
      <p:bldP spid="10" grpId="0" bldLvl="0" animBg="1"/>
      <p:bldP spid="11" grpId="0" bldLvl="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200660"/>
            <a:ext cx="12192000" cy="5659755"/>
          </a:xfrm>
          <a:prstGeom prst="rect">
            <a:avLst/>
          </a:prstGeom>
        </p:spPr>
        <p:txBody>
          <a:bodyPr wrap="square">
            <a:noAutofit/>
          </a:bodyPr>
          <a:p>
            <a:pPr marL="0" indent="0" algn="just" defTabSz="266700">
              <a:spcBef>
                <a:spcPct val="0"/>
              </a:spcBef>
              <a:spcAft>
                <a:spcPct val="0"/>
              </a:spcAft>
            </a:pPr>
            <a:r>
              <a:rPr lang="en-US" altLang="zh-CN" sz="2800">
                <a:latin typeface="楷体" panose="02010609060101010101" charset="-122"/>
                <a:ea typeface="楷体" panose="02010609060101010101" charset="-122"/>
              </a:rPr>
              <a:t>③“</a:t>
            </a:r>
            <a:r>
              <a:rPr lang="zh-CN" altLang="en-US" sz="2800">
                <a:latin typeface="楷体" panose="02010609060101010101" charset="-122"/>
                <a:ea typeface="楷体" panose="02010609060101010101" charset="-122"/>
              </a:rPr>
              <a:t>这可不是一般的红豆，这是王维诗里的红豆。”动画片</a:t>
            </a:r>
            <a:r>
              <a:rPr lang="en-US" altLang="zh-CN" sz="2800">
                <a:latin typeface="楷体" panose="02010609060101010101" charset="-122"/>
                <a:ea typeface="楷体" panose="02010609060101010101" charset="-122"/>
              </a:rPr>
              <a:t>《</a:t>
            </a:r>
            <a:r>
              <a:rPr lang="zh-CN" altLang="en-US" sz="2800">
                <a:latin typeface="楷体" panose="02010609060101010101" charset="-122"/>
                <a:ea typeface="楷体" panose="02010609060101010101" charset="-122"/>
              </a:rPr>
              <a:t>中国唱诗班</a:t>
            </a:r>
            <a:r>
              <a:rPr lang="en-US" altLang="zh-CN" sz="2800">
                <a:latin typeface="楷体" panose="02010609060101010101" charset="-122"/>
                <a:ea typeface="楷体" panose="02010609060101010101" charset="-122"/>
              </a:rPr>
              <a:t>》</a:t>
            </a:r>
            <a:r>
              <a:rPr lang="zh-CN" altLang="en-US" sz="2800">
                <a:latin typeface="楷体" panose="02010609060101010101" charset="-122"/>
                <a:ea typeface="楷体" panose="02010609060101010101" charset="-122"/>
              </a:rPr>
              <a:t>中的这一片段，在短视频平台备受欢迎，衍生了大量的短视频作品。这不仅让“愿君多采撷，此物最相思”的诗句再度拨动人们的心弦，也从一个侧面折射出古诗词在互联网上“走红”的重要原因：古诗词的篇幅通常比较短，契合短视频的时长需求，也满足了今天很多人碎片化的阅读习惯。互联网上多元化的表现形式，视频、声音、文字的融合，也赋予古诗词更丰富的展现空间，有助于更形象地传达诗意。为</a:t>
            </a:r>
            <a:r>
              <a:rPr lang="en-US" altLang="zh-CN" sz="2800">
                <a:latin typeface="楷体" panose="02010609060101010101" charset="-122"/>
                <a:ea typeface="楷体" panose="02010609060101010101" charset="-122"/>
              </a:rPr>
              <a:t>《</a:t>
            </a:r>
            <a:r>
              <a:rPr lang="zh-CN" altLang="en-US" sz="2800">
                <a:latin typeface="楷体" panose="02010609060101010101" charset="-122"/>
                <a:ea typeface="楷体" panose="02010609060101010101" charset="-122"/>
              </a:rPr>
              <a:t>游子吟</a:t>
            </a:r>
            <a:r>
              <a:rPr lang="en-US" altLang="zh-CN" sz="2800">
                <a:latin typeface="楷体" panose="02010609060101010101" charset="-122"/>
                <a:ea typeface="楷体" panose="02010609060101010101" charset="-122"/>
              </a:rPr>
              <a:t>》《</a:t>
            </a:r>
            <a:r>
              <a:rPr lang="zh-CN" altLang="en-US" sz="2800">
                <a:latin typeface="楷体" panose="02010609060101010101" charset="-122"/>
                <a:ea typeface="楷体" panose="02010609060101010101" charset="-122"/>
              </a:rPr>
              <a:t>早发白帝城</a:t>
            </a:r>
            <a:r>
              <a:rPr lang="en-US" altLang="zh-CN" sz="2800">
                <a:latin typeface="楷体" panose="02010609060101010101" charset="-122"/>
                <a:ea typeface="楷体" panose="02010609060101010101" charset="-122"/>
              </a:rPr>
              <a:t>》</a:t>
            </a:r>
            <a:r>
              <a:rPr lang="zh-CN" altLang="en-US" sz="2800">
                <a:latin typeface="楷体" panose="02010609060101010101" charset="-122"/>
                <a:ea typeface="楷体" panose="02010609060101010101" charset="-122"/>
              </a:rPr>
              <a:t>等配上有趣的手势舞，用动漫的形式讲解</a:t>
            </a:r>
            <a:r>
              <a:rPr lang="en-US" altLang="zh-CN" sz="2800">
                <a:latin typeface="楷体" panose="02010609060101010101" charset="-122"/>
                <a:ea typeface="楷体" panose="02010609060101010101" charset="-122"/>
              </a:rPr>
              <a:t>《</a:t>
            </a:r>
            <a:r>
              <a:rPr lang="zh-CN" altLang="en-US" sz="2800">
                <a:latin typeface="楷体" panose="02010609060101010101" charset="-122"/>
                <a:ea typeface="楷体" panose="02010609060101010101" charset="-122"/>
              </a:rPr>
              <a:t>闻王昌龄左迁龙标遥有此寄</a:t>
            </a:r>
            <a:r>
              <a:rPr lang="en-US" altLang="zh-CN" sz="2800">
                <a:latin typeface="楷体" panose="02010609060101010101" charset="-122"/>
                <a:ea typeface="楷体" panose="02010609060101010101" charset="-122"/>
              </a:rPr>
              <a:t>》</a:t>
            </a:r>
            <a:r>
              <a:rPr lang="zh-CN" altLang="en-US" sz="2800">
                <a:latin typeface="楷体" panose="02010609060101010101" charset="-122"/>
                <a:ea typeface="楷体" panose="02010609060101010101" charset="-122"/>
              </a:rPr>
              <a:t>，以古朴典雅的吟唱还原</a:t>
            </a:r>
            <a:r>
              <a:rPr lang="en-US" altLang="zh-CN" sz="2800">
                <a:latin typeface="楷体" panose="02010609060101010101" charset="-122"/>
                <a:ea typeface="楷体" panose="02010609060101010101" charset="-122"/>
              </a:rPr>
              <a:t>《</a:t>
            </a:r>
            <a:r>
              <a:rPr lang="zh-CN" altLang="en-US" sz="2800">
                <a:latin typeface="楷体" panose="02010609060101010101" charset="-122"/>
                <a:ea typeface="楷体" panose="02010609060101010101" charset="-122"/>
              </a:rPr>
              <a:t>一剪梅</a:t>
            </a:r>
            <a:r>
              <a:rPr lang="en-US" altLang="zh-CN" sz="2800">
                <a:latin typeface="楷体" panose="02010609060101010101" charset="-122"/>
                <a:ea typeface="楷体" panose="02010609060101010101" charset="-122"/>
              </a:rPr>
              <a:t>·</a:t>
            </a:r>
            <a:r>
              <a:rPr lang="zh-CN" altLang="en-US" sz="2800">
                <a:latin typeface="楷体" panose="02010609060101010101" charset="-122"/>
                <a:ea typeface="楷体" panose="02010609060101010101" charset="-122"/>
              </a:rPr>
              <a:t>红藕香残玉簟秋</a:t>
            </a:r>
            <a:r>
              <a:rPr lang="en-US" altLang="zh-CN" sz="2800">
                <a:latin typeface="楷体" panose="02010609060101010101" charset="-122"/>
                <a:ea typeface="楷体" panose="02010609060101010101" charset="-122"/>
              </a:rPr>
              <a:t>》</a:t>
            </a:r>
            <a:r>
              <a:rPr lang="zh-CN" altLang="en-US" sz="2800">
                <a:latin typeface="楷体" panose="02010609060101010101" charset="-122"/>
                <a:ea typeface="楷体" panose="02010609060101010101" charset="-122"/>
              </a:rPr>
              <a:t>的词曲意境</a:t>
            </a:r>
            <a:r>
              <a:rPr lang="en-US" altLang="zh-CN" sz="2800">
                <a:latin typeface="楷体" panose="02010609060101010101" charset="-122"/>
                <a:ea typeface="楷体" panose="02010609060101010101" charset="-122"/>
              </a:rPr>
              <a:t>……</a:t>
            </a:r>
            <a:r>
              <a:rPr lang="zh-CN" altLang="en-US" sz="2800">
                <a:latin typeface="楷体" panose="02010609060101010101" charset="-122"/>
                <a:ea typeface="楷体" panose="02010609060101010101" charset="-122"/>
              </a:rPr>
              <a:t>如今，从音乐、舞蹈到戏曲、书法创作，围绕古诗词进行“二次创作”的短视频形式多样，各具特色。这样的“出圈”，让古诗词拥有了更广泛的受众，也让古诗词之美通过互联网泛起更大的涟漪。</a:t>
            </a:r>
            <a:endParaRPr lang="zh-CN" altLang="en-US" sz="2800">
              <a:latin typeface="楷体" panose="02010609060101010101" charset="-122"/>
              <a:ea typeface="楷体" panose="02010609060101010101" charset="-122"/>
            </a:endParaRPr>
          </a:p>
        </p:txBody>
      </p:sp>
      <p:sp>
        <p:nvSpPr>
          <p:cNvPr id="3" name="椭圆 2"/>
          <p:cNvSpPr/>
          <p:nvPr/>
        </p:nvSpPr>
        <p:spPr>
          <a:xfrm>
            <a:off x="3791585" y="1336675"/>
            <a:ext cx="4068445" cy="817880"/>
          </a:xfrm>
          <a:prstGeom prst="ellips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4" name="直接连接符 3"/>
          <p:cNvCxnSpPr/>
          <p:nvPr/>
        </p:nvCxnSpPr>
        <p:spPr>
          <a:xfrm>
            <a:off x="8425180" y="1924050"/>
            <a:ext cx="3446145" cy="23495"/>
          </a:xfrm>
          <a:prstGeom prst="line">
            <a:avLst/>
          </a:prstGeom>
          <a:ln w="22225">
            <a:solidFill>
              <a:srgbClr val="FF0000"/>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nvCxnSpPr>
        <p:spPr>
          <a:xfrm flipV="1">
            <a:off x="253365" y="2385060"/>
            <a:ext cx="10419080" cy="46355"/>
          </a:xfrm>
          <a:prstGeom prst="line">
            <a:avLst/>
          </a:prstGeom>
          <a:ln w="22225">
            <a:solidFill>
              <a:srgbClr val="FF0000"/>
            </a:solidFill>
          </a:ln>
        </p:spPr>
        <p:style>
          <a:lnRef idx="2">
            <a:schemeClr val="accent1"/>
          </a:lnRef>
          <a:fillRef idx="0">
            <a:srgbClr val="FFFFFF"/>
          </a:fillRef>
          <a:effectRef idx="0">
            <a:srgbClr val="FFFFFF"/>
          </a:effectRef>
          <a:fontRef idx="minor">
            <a:schemeClr val="tx1"/>
          </a:fontRef>
        </p:style>
      </p:cxnSp>
      <p:cxnSp>
        <p:nvCxnSpPr>
          <p:cNvPr id="6" name="直接连接符 5"/>
          <p:cNvCxnSpPr/>
          <p:nvPr/>
        </p:nvCxnSpPr>
        <p:spPr>
          <a:xfrm flipV="1">
            <a:off x="114935" y="3157855"/>
            <a:ext cx="5313045" cy="11430"/>
          </a:xfrm>
          <a:prstGeom prst="line">
            <a:avLst/>
          </a:prstGeom>
          <a:ln w="22225">
            <a:solidFill>
              <a:srgbClr val="FF0000"/>
            </a:solidFill>
          </a:ln>
        </p:spPr>
        <p:style>
          <a:lnRef idx="2">
            <a:schemeClr val="accent1"/>
          </a:lnRef>
          <a:fillRef idx="0">
            <a:srgbClr val="FFFFFF"/>
          </a:fillRef>
          <a:effectRef idx="0">
            <a:srgbClr val="FFFFFF"/>
          </a:effectRef>
          <a:fontRef idx="minor">
            <a:schemeClr val="tx1"/>
          </a:fontRef>
        </p:style>
      </p:cxnSp>
      <p:cxnSp>
        <p:nvCxnSpPr>
          <p:cNvPr id="7" name="直接连接符 6"/>
          <p:cNvCxnSpPr/>
          <p:nvPr/>
        </p:nvCxnSpPr>
        <p:spPr>
          <a:xfrm flipV="1">
            <a:off x="6878955" y="2731770"/>
            <a:ext cx="5313045" cy="11430"/>
          </a:xfrm>
          <a:prstGeom prst="line">
            <a:avLst/>
          </a:prstGeom>
          <a:ln w="22225">
            <a:solidFill>
              <a:srgbClr val="FF0000"/>
            </a:soli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a:off x="9658350" y="4494530"/>
            <a:ext cx="2212975" cy="45720"/>
          </a:xfrm>
          <a:prstGeom prst="line">
            <a:avLst/>
          </a:prstGeom>
          <a:ln w="22225">
            <a:solidFill>
              <a:srgbClr val="FF0000"/>
            </a:solidFill>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p:tgtEl>
                                          <p:spTgt spid="6"/>
                                        </p:tgtEl>
                                        <p:attrNameLst>
                                          <p:attrName>ppt_y</p:attrName>
                                        </p:attrNameLst>
                                      </p:cBhvr>
                                      <p:tavLst>
                                        <p:tav tm="0">
                                          <p:val>
                                            <p:strVal val="#ppt_y+#ppt_h*1.125000"/>
                                          </p:val>
                                        </p:tav>
                                        <p:tav tm="100000">
                                          <p:val>
                                            <p:strVal val="#ppt_y"/>
                                          </p:val>
                                        </p:tav>
                                      </p:tavLst>
                                    </p:anim>
                                    <p:animEffect transition="in" filter="wipe(up)">
                                      <p:cBhvr>
                                        <p:cTn id="24" dur="500"/>
                                        <p:tgtEl>
                                          <p:spTgt spid="6"/>
                                        </p:tgtEl>
                                      </p:cBhvr>
                                    </p:animEffect>
                                  </p:childTnLst>
                                </p:cTn>
                              </p:par>
                              <p:par>
                                <p:cTn id="25" presetID="2" presetClass="entr" presetSubtype="4"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p:tgtEl>
                                          <p:spTgt spid="8"/>
                                        </p:tgtEl>
                                        <p:attrNameLst>
                                          <p:attrName>ppt_y</p:attrName>
                                        </p:attrNameLst>
                                      </p:cBhvr>
                                      <p:tavLst>
                                        <p:tav tm="0">
                                          <p:val>
                                            <p:strVal val="#ppt_y+#ppt_h*1.125000"/>
                                          </p:val>
                                        </p:tav>
                                        <p:tav tm="100000">
                                          <p:val>
                                            <p:strVal val="#ppt_y"/>
                                          </p:val>
                                        </p:tav>
                                      </p:tavLst>
                                    </p:anim>
                                    <p:animEffect transition="in" filter="wipe(up)">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635"/>
            <a:ext cx="12192000" cy="6732270"/>
          </a:xfrm>
          <a:prstGeom prst="rect">
            <a:avLst/>
          </a:prstGeom>
        </p:spPr>
        <p:txBody>
          <a:bodyPr wrap="square">
            <a:noAutofit/>
          </a:bodyPr>
          <a:p>
            <a:pPr marL="0" indent="304800" algn="l" defTabSz="266700">
              <a:spcBef>
                <a:spcPts val="500"/>
              </a:spcBef>
              <a:spcAft>
                <a:spcPts val="500"/>
              </a:spcAft>
            </a:pPr>
            <a:r>
              <a:rPr lang="en-US" altLang="zh-CN" sz="3200">
                <a:latin typeface="楷体" panose="02010609060101010101" charset="-122"/>
                <a:ea typeface="楷体" panose="02010609060101010101" charset="-122"/>
              </a:rPr>
              <a:t>④</a:t>
            </a:r>
            <a:r>
              <a:rPr lang="zh-CN" altLang="en-US" sz="3200">
                <a:latin typeface="楷体" panose="02010609060101010101" charset="-122"/>
                <a:ea typeface="楷体" panose="02010609060101010101" charset="-122"/>
              </a:rPr>
              <a:t>叶嘉莹先生面对镜头，漫谈“为什么读唐诗”时坦言，小时候对诗中描绘的景象、情感还不能完全懂，但长大后随着经历增加，顿然觉悟。的确，与其说古诗词“出圈”了，不如说是古人的诗词，让今时之人在忙碌的当下获得了温暖心灵的力量。我们的人生际遇、喜怒哀乐，在古人的诗句中得以安放。有时候，只是简单的一句浅唱低吟，就能唤起我们与古人强烈的情感共鸣。“白昼谈诗夜讲词，诸生与我共成痴。”今天，通过短视频平台读诗、赏诗，体现了古诗词传播形式的创新，折射出中华优秀传统文化的绵延赓续。古人诗句，穿越千年，经浩瀚历史长河直抵人心，唤醒我们的文化基因，滋养着我们的精神世界。常读常新的文化内涵，真切动人的情感体验，让古诗词经久不衰，感染和滋养着一代又一代中华儿女。</a:t>
            </a:r>
            <a:endParaRPr lang="zh-CN" altLang="en-US" sz="3200">
              <a:latin typeface="楷体" panose="02010609060101010101" charset="-122"/>
              <a:ea typeface="楷体" panose="02010609060101010101" charset="-122"/>
            </a:endParaRPr>
          </a:p>
        </p:txBody>
      </p:sp>
      <p:cxnSp>
        <p:nvCxnSpPr>
          <p:cNvPr id="6" name="直接连接符 5"/>
          <p:cNvCxnSpPr/>
          <p:nvPr/>
        </p:nvCxnSpPr>
        <p:spPr>
          <a:xfrm flipV="1">
            <a:off x="114935" y="1993265"/>
            <a:ext cx="8621395" cy="11430"/>
          </a:xfrm>
          <a:prstGeom prst="line">
            <a:avLst/>
          </a:prstGeom>
          <a:ln w="22225">
            <a:solidFill>
              <a:srgbClr val="FF0000"/>
            </a:solidFill>
          </a:ln>
        </p:spPr>
        <p:style>
          <a:lnRef idx="2">
            <a:schemeClr val="accent1"/>
          </a:lnRef>
          <a:fillRef idx="0">
            <a:srgbClr val="FFFFFF"/>
          </a:fillRef>
          <a:effectRef idx="0">
            <a:srgbClr val="FFFFFF"/>
          </a:effectRef>
          <a:fontRef idx="minor">
            <a:schemeClr val="tx1"/>
          </a:fontRef>
        </p:style>
      </p:cxnSp>
      <p:sp>
        <p:nvSpPr>
          <p:cNvPr id="3" name="椭圆 2"/>
          <p:cNvSpPr/>
          <p:nvPr/>
        </p:nvSpPr>
        <p:spPr>
          <a:xfrm>
            <a:off x="9738995" y="932815"/>
            <a:ext cx="2570480" cy="772795"/>
          </a:xfrm>
          <a:prstGeom prst="ellips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up)">
                                      <p:cBhvr>
                                        <p:cTn id="8" dur="500"/>
                                        <p:tgtEl>
                                          <p:spTgt spid="6"/>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p:tgtEl>
                                          <p:spTgt spid="3"/>
                                        </p:tgtEl>
                                        <p:attrNameLst>
                                          <p:attrName>ppt_y</p:attrName>
                                        </p:attrNameLst>
                                      </p:cBhvr>
                                      <p:tavLst>
                                        <p:tav tm="0">
                                          <p:val>
                                            <p:strVal val="#ppt_y+#ppt_h*1.125000"/>
                                          </p:val>
                                        </p:tav>
                                        <p:tav tm="100000">
                                          <p:val>
                                            <p:strVal val="#ppt_y"/>
                                          </p:val>
                                        </p:tav>
                                      </p:tavLst>
                                    </p:anim>
                                    <p:animEffect transition="in" filter="wipe(up)">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598170"/>
            <a:ext cx="12056745" cy="2270760"/>
          </a:xfrm>
          <a:prstGeom prst="rect">
            <a:avLst/>
          </a:prstGeom>
        </p:spPr>
        <p:txBody>
          <a:bodyPr>
            <a:noAutofit/>
          </a:bodyPr>
          <a:p>
            <a:pPr marL="0" indent="304800" algn="l" defTabSz="266700">
              <a:spcBef>
                <a:spcPts val="500"/>
              </a:spcBef>
              <a:spcAft>
                <a:spcPts val="500"/>
              </a:spcAft>
            </a:pPr>
            <a:r>
              <a:rPr lang="en-US" altLang="zh-CN" sz="3200">
                <a:latin typeface="楷体" panose="02010609060101010101" charset="-122"/>
                <a:ea typeface="楷体" panose="02010609060101010101" charset="-122"/>
              </a:rPr>
              <a:t>⑤</a:t>
            </a:r>
            <a:r>
              <a:rPr lang="zh-CN" altLang="en-US" sz="3200">
                <a:latin typeface="楷体" panose="02010609060101010101" charset="-122"/>
                <a:ea typeface="楷体" panose="02010609060101010101" charset="-122"/>
              </a:rPr>
              <a:t>今天，互联网平台让诗词以更丰富的画面和声音，触动了更多受众的文化感官。我们点赞古诗词的“出圈”，也期待更多人循此深入古诗词的世界，寻回诗心，汲取智慧，不断培厚我们的精神土层，丰富我们的文化图景。</a:t>
            </a:r>
            <a:endParaRPr lang="zh-CN" altLang="en-US" sz="3200">
              <a:latin typeface="楷体" panose="02010609060101010101" charset="-122"/>
              <a:ea typeface="楷体" panose="02010609060101010101" charset="-122"/>
            </a:endParaRPr>
          </a:p>
        </p:txBody>
      </p:sp>
      <p:sp>
        <p:nvSpPr>
          <p:cNvPr id="3" name="文本框 2"/>
          <p:cNvSpPr txBox="1"/>
          <p:nvPr/>
        </p:nvSpPr>
        <p:spPr>
          <a:xfrm>
            <a:off x="824230" y="3013710"/>
            <a:ext cx="10843895" cy="1383665"/>
          </a:xfrm>
          <a:prstGeom prst="rect">
            <a:avLst/>
          </a:prstGeom>
        </p:spPr>
        <p:txBody>
          <a:bodyPr wrap="square">
            <a:spAutoFit/>
          </a:bodyPr>
          <a:p>
            <a:r>
              <a:rPr lang="zh-CN" altLang="en-US" sz="2800">
                <a:solidFill>
                  <a:srgbClr val="FF0000"/>
                </a:solidFill>
              </a:rPr>
              <a:t>（</a:t>
            </a:r>
            <a:r>
              <a:rPr lang="en-US" altLang="zh-CN" sz="2800">
                <a:solidFill>
                  <a:srgbClr val="FF0000"/>
                </a:solidFill>
              </a:rPr>
              <a:t>4</a:t>
            </a:r>
            <a:r>
              <a:rPr lang="zh-CN" altLang="en-US" sz="2800">
                <a:solidFill>
                  <a:srgbClr val="FF0000"/>
                </a:solidFill>
              </a:rPr>
              <a:t>分）作者对于古诗词借助互联网平台走红这一现象表示</a:t>
            </a:r>
            <a:r>
              <a:rPr lang="zh-CN" altLang="en-US" sz="2800">
                <a:solidFill>
                  <a:srgbClr val="FF0000"/>
                </a:solidFill>
                <a:highlight>
                  <a:srgbClr val="FFFF00"/>
                </a:highlight>
              </a:rPr>
              <a:t>肯定与赞赏</a:t>
            </a:r>
            <a:r>
              <a:rPr lang="zh-CN" altLang="en-US" sz="2800">
                <a:solidFill>
                  <a:srgbClr val="FF0000"/>
                </a:solidFill>
              </a:rPr>
              <a:t>（</a:t>
            </a:r>
            <a:r>
              <a:rPr lang="en-US" altLang="zh-CN" sz="2800">
                <a:solidFill>
                  <a:srgbClr val="FF0000"/>
                </a:solidFill>
              </a:rPr>
              <a:t>2</a:t>
            </a:r>
            <a:r>
              <a:rPr lang="zh-CN" altLang="en-US" sz="2800">
                <a:solidFill>
                  <a:srgbClr val="FF0000"/>
                </a:solidFill>
              </a:rPr>
              <a:t>分），同时更表达了作者对更多人深入古诗词世界，寻回诗心的</a:t>
            </a:r>
            <a:r>
              <a:rPr lang="zh-CN" altLang="en-US" sz="2800">
                <a:solidFill>
                  <a:srgbClr val="FF0000"/>
                </a:solidFill>
                <a:highlight>
                  <a:srgbClr val="FFFF00"/>
                </a:highlight>
              </a:rPr>
              <a:t>期盼</a:t>
            </a:r>
            <a:r>
              <a:rPr lang="zh-CN" altLang="en-US" sz="2800">
                <a:solidFill>
                  <a:srgbClr val="FF0000"/>
                </a:solidFill>
              </a:rPr>
              <a:t>（</a:t>
            </a:r>
            <a:r>
              <a:rPr lang="en-US" altLang="zh-CN" sz="2800">
                <a:solidFill>
                  <a:srgbClr val="FF0000"/>
                </a:solidFill>
              </a:rPr>
              <a:t>2</a:t>
            </a:r>
            <a:r>
              <a:rPr lang="zh-CN" altLang="en-US" sz="2800">
                <a:solidFill>
                  <a:srgbClr val="FF0000"/>
                </a:solidFill>
              </a:rPr>
              <a:t>分）</a:t>
            </a:r>
            <a:endParaRPr lang="zh-CN" altLang="en-US" sz="2800">
              <a:solidFill>
                <a:srgbClr val="FF0000"/>
              </a:solidFill>
            </a:endParaRPr>
          </a:p>
        </p:txBody>
      </p:sp>
      <p:sp>
        <p:nvSpPr>
          <p:cNvPr id="4" name="椭圆 3"/>
          <p:cNvSpPr/>
          <p:nvPr/>
        </p:nvSpPr>
        <p:spPr>
          <a:xfrm>
            <a:off x="3279775" y="1066165"/>
            <a:ext cx="1994535" cy="772795"/>
          </a:xfrm>
          <a:prstGeom prst="ellips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 name="矩形标注 4"/>
          <p:cNvSpPr/>
          <p:nvPr/>
        </p:nvSpPr>
        <p:spPr>
          <a:xfrm>
            <a:off x="3091815" y="198755"/>
            <a:ext cx="2642235" cy="709295"/>
          </a:xfrm>
          <a:prstGeom prst="wedgeRectCallout">
            <a:avLst>
              <a:gd name="adj1" fmla="val -8615"/>
              <a:gd name="adj2" fmla="val 95031"/>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a:solidFill>
                  <a:srgbClr val="FF0000"/>
                </a:solidFill>
              </a:rPr>
              <a:t>表态性词语、句子</a:t>
            </a:r>
            <a:endParaRPr lang="zh-CN" altLang="en-US" sz="2400">
              <a:solidFill>
                <a:srgbClr val="FF0000"/>
              </a:solidFill>
            </a:endParaRPr>
          </a:p>
        </p:txBody>
      </p:sp>
      <p:sp>
        <p:nvSpPr>
          <p:cNvPr id="6" name="椭圆 5"/>
          <p:cNvSpPr/>
          <p:nvPr/>
        </p:nvSpPr>
        <p:spPr>
          <a:xfrm>
            <a:off x="8489950" y="1066165"/>
            <a:ext cx="1994535" cy="772795"/>
          </a:xfrm>
          <a:prstGeom prst="ellips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矩形标注 6"/>
          <p:cNvSpPr/>
          <p:nvPr/>
        </p:nvSpPr>
        <p:spPr>
          <a:xfrm>
            <a:off x="8166100" y="118110"/>
            <a:ext cx="2837815" cy="709295"/>
          </a:xfrm>
          <a:prstGeom prst="wedgeRectCallout">
            <a:avLst>
              <a:gd name="adj1" fmla="val -8615"/>
              <a:gd name="adj2" fmla="val 95031"/>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a:solidFill>
                  <a:srgbClr val="FF0000"/>
                </a:solidFill>
              </a:rPr>
              <a:t>表达愿景</a:t>
            </a:r>
            <a:r>
              <a:rPr lang="en-US" altLang="zh-CN" sz="2400">
                <a:solidFill>
                  <a:srgbClr val="FF0000"/>
                </a:solidFill>
              </a:rPr>
              <a:t> </a:t>
            </a:r>
            <a:r>
              <a:rPr lang="zh-CN" altLang="en-US" sz="2400">
                <a:solidFill>
                  <a:srgbClr val="FF0000"/>
                </a:solidFill>
              </a:rPr>
              <a:t>提出希望</a:t>
            </a:r>
            <a:endParaRPr lang="zh-CN" altLang="en-US" sz="2400">
              <a:solidFill>
                <a:srgbClr val="FF0000"/>
              </a:solidFill>
            </a:endParaRPr>
          </a:p>
        </p:txBody>
      </p:sp>
      <p:sp>
        <p:nvSpPr>
          <p:cNvPr id="8" name="椭圆 7"/>
          <p:cNvSpPr/>
          <p:nvPr/>
        </p:nvSpPr>
        <p:spPr>
          <a:xfrm>
            <a:off x="6643370" y="908050"/>
            <a:ext cx="1522730" cy="772795"/>
          </a:xfrm>
          <a:prstGeom prst="ellips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9" name="矩形标注 8"/>
          <p:cNvSpPr/>
          <p:nvPr/>
        </p:nvSpPr>
        <p:spPr>
          <a:xfrm>
            <a:off x="5734050" y="2159635"/>
            <a:ext cx="5788025" cy="709295"/>
          </a:xfrm>
          <a:prstGeom prst="wedgeRectCallout">
            <a:avLst>
              <a:gd name="adj1" fmla="val -19380"/>
              <a:gd name="adj2" fmla="val -112936"/>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a:solidFill>
                  <a:srgbClr val="FF0000"/>
                </a:solidFill>
              </a:rPr>
              <a:t>引申义</a:t>
            </a:r>
            <a:r>
              <a:rPr lang="en-US" altLang="zh-CN" sz="2400">
                <a:solidFill>
                  <a:srgbClr val="FF0000"/>
                </a:solidFill>
              </a:rPr>
              <a:t> </a:t>
            </a:r>
            <a:r>
              <a:rPr lang="zh-CN" altLang="en-US" sz="2400">
                <a:solidFill>
                  <a:srgbClr val="FF0000"/>
                </a:solidFill>
              </a:rPr>
              <a:t>比喻义的词语注意替换成本义</a:t>
            </a:r>
            <a:endParaRPr lang="zh-CN" altLang="en-US" sz="24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p:tgtEl>
                                          <p:spTgt spid="6"/>
                                        </p:tgtEl>
                                        <p:attrNameLst>
                                          <p:attrName>ppt_y</p:attrName>
                                        </p:attrNameLst>
                                      </p:cBhvr>
                                      <p:tavLst>
                                        <p:tav tm="0">
                                          <p:val>
                                            <p:strVal val="#ppt_y+#ppt_h*1.125000"/>
                                          </p:val>
                                        </p:tav>
                                        <p:tav tm="100000">
                                          <p:val>
                                            <p:strVal val="#ppt_y"/>
                                          </p:val>
                                        </p:tav>
                                      </p:tavLst>
                                    </p:anim>
                                    <p:animEffect transition="in" filter="wipe(up)">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nodeType="click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anim calcmode="lin" valueType="num">
                                      <p:cBhvr additive="base">
                                        <p:cTn id="43"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bldLvl="0" animBg="1"/>
      <p:bldP spid="8" grpId="0" bldLvl="0" animBg="1"/>
      <p:bldP spid="9"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6" name="矩形 5"/>
          <p:cNvSpPr/>
          <p:nvPr/>
        </p:nvSpPr>
        <p:spPr>
          <a:xfrm>
            <a:off x="364490" y="379730"/>
            <a:ext cx="11462385" cy="60985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custDataLst>
              <p:tags r:id="rId2"/>
            </p:custDataLst>
          </p:nvPr>
        </p:nvSpPr>
        <p:spPr>
          <a:xfrm>
            <a:off x="1633855" y="1802130"/>
            <a:ext cx="6567170" cy="922020"/>
          </a:xfrm>
          <a:prstGeom prst="rect">
            <a:avLst/>
          </a:prstGeom>
          <a:noFill/>
          <a:ln w="19050">
            <a:noFill/>
            <a:prstDash val="dash"/>
          </a:ln>
        </p:spPr>
        <p:txBody>
          <a:bodyPr wrap="square" rtlCol="0">
            <a:spAutoFit/>
          </a:bodyPr>
          <a:p>
            <a:pPr algn="l"/>
            <a:r>
              <a:rPr lang="zh-CN" altLang="en-US" sz="5400" dirty="0">
                <a:latin typeface="汉仪大宋简" panose="02010600000101010101" charset="-122"/>
                <a:ea typeface="汉仪大宋简" panose="02010600000101010101" charset="-122"/>
                <a:sym typeface="+mn-ea"/>
              </a:rPr>
              <a:t>他的心</a:t>
            </a:r>
            <a:r>
              <a:rPr lang="zh-CN" altLang="en-US" sz="5400" dirty="0">
                <a:latin typeface="汉仪大宋简" panose="02010600000101010101" charset="-122"/>
                <a:ea typeface="汉仪大宋简" panose="02010600000101010101" charset="-122"/>
              </a:rPr>
              <a:t>恰似一座花园</a:t>
            </a:r>
            <a:endParaRPr lang="zh-CN" altLang="en-US" sz="5400" dirty="0">
              <a:latin typeface="汉仪大宋简" panose="02010600000101010101" charset="-122"/>
              <a:ea typeface="汉仪大宋简" panose="02010600000101010101" charset="-122"/>
            </a:endParaRPr>
          </a:p>
        </p:txBody>
      </p:sp>
      <p:pic>
        <p:nvPicPr>
          <p:cNvPr id="27" name="图片 26"/>
          <p:cNvPicPr>
            <a:picLocks noChangeAspect="1"/>
          </p:cNvPicPr>
          <p:nvPr>
            <p:custDataLst>
              <p:tags r:id="rId3"/>
            </p:custDataLst>
          </p:nvPr>
        </p:nvPicPr>
        <p:blipFill rotWithShape="1">
          <a:blip r:embed="rId4">
            <a:extLst>
              <a:ext uri="{28A0092B-C50C-407E-A947-70E740481C1C}">
                <a14:useLocalDpi xmlns:a14="http://schemas.microsoft.com/office/drawing/2010/main" val="0"/>
              </a:ext>
            </a:extLst>
          </a:blip>
          <a:srcRect l="42303" t="16630" b="23945"/>
          <a:stretch>
            <a:fillRect/>
          </a:stretch>
        </p:blipFill>
        <p:spPr>
          <a:xfrm>
            <a:off x="8610600" y="749300"/>
            <a:ext cx="3181576" cy="5825502"/>
          </a:xfrm>
          <a:prstGeom prst="rect">
            <a:avLst/>
          </a:prstGeom>
        </p:spPr>
      </p:pic>
      <p:pic>
        <p:nvPicPr>
          <p:cNvPr id="30" name="图片 29"/>
          <p:cNvPicPr>
            <a:picLocks noChangeAspect="1"/>
          </p:cNvPicPr>
          <p:nvPr>
            <p:custDataLst>
              <p:tags r:id="rId5"/>
            </p:custDataLst>
          </p:nvPr>
        </p:nvPicPr>
        <p:blipFill rotWithShape="1">
          <a:blip r:embed="rId6">
            <a:extLst>
              <a:ext uri="{28A0092B-C50C-407E-A947-70E740481C1C}">
                <a14:useLocalDpi xmlns:a14="http://schemas.microsoft.com/office/drawing/2010/main" val="0"/>
              </a:ext>
            </a:extLst>
          </a:blip>
          <a:srcRect t="17037" r="86112" b="42011"/>
          <a:stretch>
            <a:fillRect/>
          </a:stretch>
        </p:blipFill>
        <p:spPr>
          <a:xfrm>
            <a:off x="369339" y="3583036"/>
            <a:ext cx="1693229" cy="2808513"/>
          </a:xfrm>
          <a:prstGeom prst="rect">
            <a:avLst/>
          </a:prstGeom>
        </p:spPr>
      </p:pic>
      <p:sp>
        <p:nvSpPr>
          <p:cNvPr id="39" name="文本框 38"/>
          <p:cNvSpPr txBox="1"/>
          <p:nvPr>
            <p:custDataLst>
              <p:tags r:id="rId7"/>
            </p:custDataLst>
          </p:nvPr>
        </p:nvSpPr>
        <p:spPr>
          <a:xfrm>
            <a:off x="3110865" y="3089910"/>
            <a:ext cx="2869565" cy="506730"/>
          </a:xfrm>
          <a:prstGeom prst="rect">
            <a:avLst/>
          </a:prstGeom>
          <a:solidFill>
            <a:srgbClr val="96D7F3"/>
          </a:solidFill>
          <a:ln w="9525">
            <a:noFill/>
          </a:ln>
        </p:spPr>
        <p:txBody>
          <a:bodyPr wrap="square">
            <a:spAutoFit/>
          </a:bodyPr>
          <a:p>
            <a:pPr indent="0"/>
            <a:r>
              <a:rPr lang="zh-CN" altLang="en-US" sz="2700" b="1">
                <a:solidFill>
                  <a:srgbClr val="000000"/>
                </a:solidFill>
                <a:latin typeface="新宋体" panose="02010609030101010101" pitchFamily="49" charset="-122"/>
                <a:ea typeface="新宋体" panose="02010609030101010101" pitchFamily="49" charset="-122"/>
              </a:rPr>
              <a:t>比喻：心</a:t>
            </a:r>
            <a:r>
              <a:rPr lang="zh-CN" altLang="en-US" sz="2700" b="1">
                <a:solidFill>
                  <a:srgbClr val="000000"/>
                </a:solidFill>
                <a:latin typeface="Arial" panose="020B0604020202020204" pitchFamily="34" charset="0"/>
                <a:ea typeface="新宋体" panose="02010609030101010101" pitchFamily="49" charset="-122"/>
                <a:cs typeface="Arial" panose="020B0604020202020204" pitchFamily="34" charset="0"/>
              </a:rPr>
              <a:t>→</a:t>
            </a:r>
            <a:r>
              <a:rPr lang="zh-CN" altLang="en-US" sz="2700" b="1">
                <a:solidFill>
                  <a:srgbClr val="000000"/>
                </a:solidFill>
                <a:latin typeface="新宋体" panose="02010609030101010101" pitchFamily="49" charset="-122"/>
                <a:ea typeface="新宋体" panose="02010609030101010101" pitchFamily="49" charset="-122"/>
              </a:rPr>
              <a:t>花园</a:t>
            </a:r>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2" name="文本框 1"/>
          <p:cNvSpPr txBox="1"/>
          <p:nvPr>
            <p:custDataLst>
              <p:tags r:id="rId8"/>
            </p:custDataLst>
          </p:nvPr>
        </p:nvSpPr>
        <p:spPr>
          <a:xfrm>
            <a:off x="2159635" y="3858260"/>
            <a:ext cx="5514975" cy="506730"/>
          </a:xfrm>
          <a:prstGeom prst="rect">
            <a:avLst/>
          </a:prstGeom>
          <a:solidFill>
            <a:srgbClr val="96D7F3"/>
          </a:solidFill>
          <a:ln w="9525">
            <a:noFill/>
          </a:ln>
        </p:spPr>
        <p:txBody>
          <a:bodyPr wrap="square">
            <a:spAutoFit/>
          </a:bodyPr>
          <a:p>
            <a:pPr indent="0"/>
            <a:r>
              <a:rPr lang="zh-CN" altLang="en-US" sz="2700" b="1">
                <a:solidFill>
                  <a:srgbClr val="000000"/>
                </a:solidFill>
                <a:latin typeface="新宋体" panose="02010609030101010101" pitchFamily="49" charset="-122"/>
                <a:ea typeface="新宋体" panose="02010609030101010101" pitchFamily="49" charset="-122"/>
              </a:rPr>
              <a:t>美丽？</a:t>
            </a:r>
            <a:r>
              <a:rPr lang="zh-CN" altLang="en-US" sz="2700" b="1">
                <a:solidFill>
                  <a:srgbClr val="000000"/>
                </a:solidFill>
                <a:latin typeface="新宋体" panose="02010609030101010101" pitchFamily="49" charset="-122"/>
                <a:ea typeface="新宋体" panose="02010609030101010101" pitchFamily="49" charset="-122"/>
              </a:rPr>
              <a:t>生机勃勃？色彩丰富？</a:t>
            </a:r>
            <a:r>
              <a:rPr lang="en-US" altLang="zh-CN" sz="2700" b="1">
                <a:solidFill>
                  <a:srgbClr val="000000"/>
                </a:solidFill>
                <a:latin typeface="新宋体" panose="02010609030101010101" pitchFamily="49" charset="-122"/>
                <a:ea typeface="新宋体" panose="02010609030101010101" pitchFamily="49" charset="-122"/>
              </a:rPr>
              <a:t>……</a:t>
            </a:r>
            <a:endParaRPr lang="en-US" altLang="zh-CN" sz="2700" b="1">
              <a:solidFill>
                <a:srgbClr val="000000"/>
              </a:solidFill>
              <a:latin typeface="新宋体" panose="02010609030101010101" pitchFamily="49" charset="-122"/>
              <a:ea typeface="新宋体" panose="02010609030101010101" pitchFamily="49" charset="-122"/>
            </a:endParaRPr>
          </a:p>
        </p:txBody>
      </p:sp>
      <p:sp>
        <p:nvSpPr>
          <p:cNvPr id="3" name="文本框 2"/>
          <p:cNvSpPr txBox="1"/>
          <p:nvPr>
            <p:custDataLst>
              <p:tags r:id="rId9"/>
            </p:custDataLst>
          </p:nvPr>
        </p:nvSpPr>
        <p:spPr>
          <a:xfrm>
            <a:off x="2159635" y="4687570"/>
            <a:ext cx="5514975" cy="506730"/>
          </a:xfrm>
          <a:prstGeom prst="rect">
            <a:avLst/>
          </a:prstGeom>
          <a:solidFill>
            <a:srgbClr val="96D7F3"/>
          </a:solidFill>
          <a:ln w="9525">
            <a:noFill/>
          </a:ln>
        </p:spPr>
        <p:txBody>
          <a:bodyPr wrap="square">
            <a:spAutoFit/>
          </a:bodyPr>
          <a:p>
            <a:pPr indent="0"/>
            <a:r>
              <a:rPr lang="zh-CN" altLang="en-US" sz="2700" b="1">
                <a:solidFill>
                  <a:srgbClr val="000000"/>
                </a:solidFill>
                <a:latin typeface="新宋体" panose="02010609030101010101" pitchFamily="49" charset="-122"/>
                <a:ea typeface="新宋体" panose="02010609030101010101" pitchFamily="49" charset="-122"/>
              </a:rPr>
              <a:t>为何如此</a:t>
            </a:r>
            <a:r>
              <a:rPr lang="zh-CN" altLang="en-US" sz="2700" b="1">
                <a:solidFill>
                  <a:srgbClr val="000000"/>
                </a:solidFill>
                <a:latin typeface="新宋体" panose="02010609030101010101" pitchFamily="49" charset="-122"/>
                <a:ea typeface="新宋体" panose="02010609030101010101" pitchFamily="49" charset="-122"/>
              </a:rPr>
              <a:t>比喻？想</a:t>
            </a:r>
            <a:r>
              <a:rPr lang="zh-CN" altLang="en-US" sz="2700" b="1">
                <a:solidFill>
                  <a:srgbClr val="000000"/>
                </a:solidFill>
                <a:latin typeface="新宋体" panose="02010609030101010101" pitchFamily="49" charset="-122"/>
                <a:ea typeface="新宋体" panose="02010609030101010101" pitchFamily="49" charset="-122"/>
              </a:rPr>
              <a:t>表达什么？</a:t>
            </a:r>
            <a:endParaRPr lang="zh-CN" altLang="en-US" sz="2700" b="1">
              <a:solidFill>
                <a:srgbClr val="000000"/>
              </a:solidFill>
              <a:latin typeface="新宋体" panose="02010609030101010101" pitchFamily="49" charset="-122"/>
              <a:ea typeface="新宋体"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wipe(left)">
                                      <p:cBhvr>
                                        <p:cTn id="14" dur="500"/>
                                        <p:tgtEl>
                                          <p:spTgt spid="3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9" grpId="0" bldLvl="0" animBg="1"/>
      <p:bldP spid="2" grpId="0" bldLvl="0" animBg="1"/>
      <p:bldP spid="3"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6" name="矩形 5"/>
          <p:cNvSpPr/>
          <p:nvPr/>
        </p:nvSpPr>
        <p:spPr>
          <a:xfrm>
            <a:off x="157480" y="203200"/>
            <a:ext cx="11856720" cy="6421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custDataLst>
              <p:tags r:id="rId2"/>
            </p:custDataLst>
          </p:nvPr>
        </p:nvSpPr>
        <p:spPr>
          <a:xfrm>
            <a:off x="349885" y="570865"/>
            <a:ext cx="11479530" cy="4707890"/>
          </a:xfrm>
          <a:prstGeom prst="rect">
            <a:avLst/>
          </a:prstGeom>
          <a:noFill/>
          <a:ln w="9525">
            <a:noFill/>
          </a:ln>
        </p:spPr>
        <p:txBody>
          <a:bodyPr wrap="square">
            <a:spAutoFit/>
          </a:bodyPr>
          <a:p>
            <a:pPr indent="304800"/>
            <a:r>
              <a:rPr lang="en-US" altLang="zh-CN" sz="2400" b="0">
                <a:cs typeface="Times New Roman" panose="02020603050405020304" charset="0"/>
              </a:rPr>
              <a:t>    </a:t>
            </a:r>
            <a:r>
              <a:rPr lang="zh-CN" sz="2500" b="0">
                <a:latin typeface="楷体" panose="02010609060101010101" charset="-122"/>
                <a:ea typeface="楷体" panose="02010609060101010101" charset="-122"/>
                <a:cs typeface="楷体" panose="02010609060101010101" charset="-122"/>
              </a:rPr>
              <a:t>①这是需要雕刻的最后一个字了，刻的是小男孩最喜欢的“春”字。照例，要把已经雕刻好的小木块</a:t>
            </a:r>
            <a:r>
              <a:rPr lang="en-US" sz="2500" b="0">
                <a:latin typeface="楷体" panose="02010609060101010101" charset="-122"/>
                <a:ea typeface="楷体" panose="02010609060101010101" charset="-122"/>
                <a:cs typeface="楷体" panose="02010609060101010101" charset="-122"/>
              </a:rPr>
              <a:t>——</a:t>
            </a:r>
            <a:r>
              <a:rPr lang="zh-CN" sz="2500" b="0">
                <a:latin typeface="楷体" panose="02010609060101010101" charset="-122"/>
                <a:ea typeface="楷体" panose="02010609060101010101" charset="-122"/>
                <a:cs typeface="楷体" panose="02010609060101010101" charset="-122"/>
              </a:rPr>
              <a:t>放进挖槽中,用木栓子拴紧。仿宋体的两个“春”子已经在小木块上写好，现在，小男孩再一次打磨他的美工刀，用美工刀将“春”字刻成阳文反字，并将四角的木头都修掉，让这个字从柔软的木纹中突显出来，像一株植物发了芽。他一面雕刻，一面鼓腮吹走木屑，极为专注，仿佛没有留意我们这些参观者的惊叹目光。</a:t>
            </a:r>
            <a:endParaRPr lang="zh-CN" sz="2500" b="0">
              <a:latin typeface="楷体" panose="02010609060101010101" charset="-122"/>
              <a:ea typeface="楷体" panose="02010609060101010101" charset="-122"/>
              <a:cs typeface="楷体" panose="02010609060101010101" charset="-122"/>
            </a:endParaRPr>
          </a:p>
          <a:p>
            <a:pPr indent="304800"/>
            <a:r>
              <a:rPr lang="en-US" altLang="zh-CN" sz="2500" b="0">
                <a:latin typeface="楷体" panose="02010609060101010101" charset="-122"/>
                <a:ea typeface="楷体" panose="02010609060101010101" charset="-122"/>
                <a:cs typeface="楷体" panose="02010609060101010101" charset="-122"/>
              </a:rPr>
              <a:t>  </a:t>
            </a:r>
            <a:r>
              <a:rPr lang="zh-CN" sz="2500" b="0">
                <a:latin typeface="楷体" panose="02010609060101010101" charset="-122"/>
                <a:ea typeface="楷体" panose="02010609060101010101" charset="-122"/>
                <a:cs typeface="楷体" panose="02010609060101010101" charset="-122"/>
              </a:rPr>
              <a:t>②终于，两个“春”字刻好了，小男孩蹲下来，以目光丈量每一个阳文反字的上缘，看它们是否高度一致。看上去很齐。他满意地呼出了一口气，开始在阳文反字上刷墨，将一张绵纸覆盖在这些古老的木活字上，最后，用沾了少许白蜡的鬃毛刷，轻压轻刷棉纸的背面，不到两分钟，揭开绵纸，就可以看到小男孩连上四节活字印刷体验课的成果——纸上呈现的是一首勾画匀整的五言绝句，散发着一丝不苟的认真劲儿。小男孩刻了一首王维的《鸟鸣涧》。</a:t>
            </a:r>
            <a:endParaRPr lang="zh-CN" altLang="en-US" sz="2500">
              <a:latin typeface="楷体" panose="02010609060101010101" charset="-122"/>
              <a:ea typeface="楷体" panose="02010609060101010101" charset="-122"/>
              <a:cs typeface="楷体" panose="02010609060101010101" charset="-122"/>
            </a:endParaRPr>
          </a:p>
        </p:txBody>
      </p:sp>
      <p:sp>
        <p:nvSpPr>
          <p:cNvPr id="48" name="文本框 47"/>
          <p:cNvSpPr txBox="1"/>
          <p:nvPr>
            <p:custDataLst>
              <p:tags r:id="rId3"/>
            </p:custDataLst>
          </p:nvPr>
        </p:nvSpPr>
        <p:spPr>
          <a:xfrm>
            <a:off x="4833620" y="2467610"/>
            <a:ext cx="3865880" cy="435610"/>
          </a:xfrm>
          <a:prstGeom prst="rect">
            <a:avLst/>
          </a:prstGeom>
          <a:solidFill>
            <a:schemeClr val="accent2">
              <a:lumMod val="20000"/>
              <a:lumOff val="80000"/>
            </a:schemeClr>
          </a:solidFill>
          <a:ln w="9525">
            <a:noFill/>
          </a:ln>
        </p:spPr>
        <p:txBody>
          <a:bodyPr wrap="square">
            <a:noAutofit/>
          </a:bodyPr>
          <a:p>
            <a:pPr indent="0"/>
            <a:r>
              <a:rPr lang="zh-CN" altLang="en-US" sz="2700" b="1">
                <a:solidFill>
                  <a:srgbClr val="000000"/>
                </a:solidFill>
                <a:latin typeface="新宋体" panose="02010609030101010101" pitchFamily="49" charset="-122"/>
                <a:ea typeface="新宋体" panose="02010609030101010101" pitchFamily="49" charset="-122"/>
              </a:rPr>
              <a:t>小男孩雕刻“春”</a:t>
            </a:r>
            <a:r>
              <a:rPr lang="zh-CN" altLang="en-US" sz="2700" b="1">
                <a:solidFill>
                  <a:srgbClr val="000000"/>
                </a:solidFill>
                <a:latin typeface="新宋体" panose="02010609030101010101" pitchFamily="49" charset="-122"/>
                <a:ea typeface="新宋体" panose="02010609030101010101" pitchFamily="49" charset="-122"/>
              </a:rPr>
              <a:t>字</a:t>
            </a:r>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12" name="椭圆 11"/>
          <p:cNvSpPr/>
          <p:nvPr>
            <p:custDataLst>
              <p:tags r:id="rId4"/>
            </p:custDataLst>
          </p:nvPr>
        </p:nvSpPr>
        <p:spPr>
          <a:xfrm>
            <a:off x="7747000" y="570865"/>
            <a:ext cx="952500" cy="498475"/>
          </a:xfrm>
          <a:prstGeom prst="ellipse">
            <a:avLst/>
          </a:prstGeom>
          <a:noFill/>
          <a:ln w="19050">
            <a:gradFill>
              <a:gsLst>
                <a:gs pos="0">
                  <a:srgbClr val="D92763"/>
                </a:gs>
                <a:gs pos="50000">
                  <a:srgbClr val="E3447A"/>
                </a:gs>
                <a:gs pos="100000">
                  <a:srgbClr val="EC6091"/>
                </a:gs>
              </a:gsLst>
              <a:lin ang="5400000" scaled="0"/>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椭圆 1"/>
          <p:cNvSpPr/>
          <p:nvPr>
            <p:custDataLst>
              <p:tags r:id="rId5"/>
            </p:custDataLst>
          </p:nvPr>
        </p:nvSpPr>
        <p:spPr>
          <a:xfrm>
            <a:off x="8597900" y="2066290"/>
            <a:ext cx="861060" cy="498475"/>
          </a:xfrm>
          <a:prstGeom prst="ellipse">
            <a:avLst/>
          </a:prstGeom>
          <a:noFill/>
          <a:ln w="19050">
            <a:gradFill>
              <a:gsLst>
                <a:gs pos="0">
                  <a:srgbClr val="D92763"/>
                </a:gs>
                <a:gs pos="50000">
                  <a:srgbClr val="E3447A"/>
                </a:gs>
                <a:gs pos="100000">
                  <a:srgbClr val="EC6091"/>
                </a:gs>
              </a:gsLst>
              <a:lin ang="5400000" scaled="0"/>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custDataLst>
              <p:tags r:id="rId6"/>
            </p:custDataLst>
          </p:nvPr>
        </p:nvSpPr>
        <p:spPr>
          <a:xfrm>
            <a:off x="7045960" y="3180080"/>
            <a:ext cx="861060" cy="498475"/>
          </a:xfrm>
          <a:prstGeom prst="ellipse">
            <a:avLst/>
          </a:prstGeom>
          <a:noFill/>
          <a:ln w="19050">
            <a:gradFill>
              <a:gsLst>
                <a:gs pos="0">
                  <a:srgbClr val="D92763"/>
                </a:gs>
                <a:gs pos="50000">
                  <a:srgbClr val="E3447A"/>
                </a:gs>
                <a:gs pos="100000">
                  <a:srgbClr val="EC6091"/>
                </a:gs>
              </a:gsLst>
              <a:lin ang="5400000" scaled="0"/>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椭圆 3"/>
          <p:cNvSpPr/>
          <p:nvPr>
            <p:custDataLst>
              <p:tags r:id="rId7"/>
            </p:custDataLst>
          </p:nvPr>
        </p:nvSpPr>
        <p:spPr>
          <a:xfrm>
            <a:off x="708660" y="4780280"/>
            <a:ext cx="3000375" cy="498475"/>
          </a:xfrm>
          <a:prstGeom prst="ellipse">
            <a:avLst/>
          </a:prstGeom>
          <a:noFill/>
          <a:ln w="19050">
            <a:gradFill>
              <a:gsLst>
                <a:gs pos="0">
                  <a:srgbClr val="D92763"/>
                </a:gs>
                <a:gs pos="50000">
                  <a:srgbClr val="E3447A"/>
                </a:gs>
                <a:gs pos="100000">
                  <a:srgbClr val="EC6091"/>
                </a:gs>
              </a:gsLst>
              <a:lin ang="5400000" scaled="0"/>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500" fill="hold">
                                          <p:stCondLst>
                                            <p:cond delay="0"/>
                                          </p:stCondLst>
                                        </p:cTn>
                                        <p:tgtEl>
                                          <p:spTgt spid="12"/>
                                        </p:tgtEl>
                                        <p:attrNameLst>
                                          <p:attrName>style.visibility</p:attrName>
                                        </p:attrNameLst>
                                      </p:cBhvr>
                                      <p:to>
                                        <p:strVal val="visible"/>
                                      </p:to>
                                    </p:set>
                                    <p:animEffect transition="in" filter="wheel(1)">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500" fill="hold">
                                          <p:stCondLst>
                                            <p:cond delay="0"/>
                                          </p:stCondLst>
                                        </p:cTn>
                                        <p:tgtEl>
                                          <p:spTgt spid="2"/>
                                        </p:tgtEl>
                                        <p:attrNameLst>
                                          <p:attrName>style.visibility</p:attrName>
                                        </p:attrNameLst>
                                      </p:cBhvr>
                                      <p:to>
                                        <p:strVal val="visible"/>
                                      </p:to>
                                    </p:set>
                                    <p:animEffect transition="in" filter="wheel(1)">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500" fill="hold">
                                          <p:stCondLst>
                                            <p:cond delay="0"/>
                                          </p:stCondLst>
                                        </p:cTn>
                                        <p:tgtEl>
                                          <p:spTgt spid="3"/>
                                        </p:tgtEl>
                                        <p:attrNameLst>
                                          <p:attrName>style.visibility</p:attrName>
                                        </p:attrNameLst>
                                      </p:cBhvr>
                                      <p:to>
                                        <p:strVal val="visible"/>
                                      </p:to>
                                    </p:set>
                                    <p:animEffect transition="in" filter="wheel(1)">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500" fill="hold">
                                          <p:stCondLst>
                                            <p:cond delay="0"/>
                                          </p:stCondLst>
                                        </p:cTn>
                                        <p:tgtEl>
                                          <p:spTgt spid="4"/>
                                        </p:tgtEl>
                                        <p:attrNameLst>
                                          <p:attrName>style.visibility</p:attrName>
                                        </p:attrNameLst>
                                      </p:cBhvr>
                                      <p:to>
                                        <p:strVal val="visible"/>
                                      </p:to>
                                    </p:set>
                                    <p:animEffect transition="in" filter="wheel(1)">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bldLvl="0" animBg="1"/>
      <p:bldP spid="12" grpId="0" bldLvl="0" animBg="1"/>
      <p:bldP spid="2" grpId="0" bldLvl="0" animBg="1"/>
      <p:bldP spid="3" grpId="0" bldLvl="0" animBg="1"/>
      <p:bldP spid="4"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6" name="矩形 5"/>
          <p:cNvSpPr/>
          <p:nvPr/>
        </p:nvSpPr>
        <p:spPr>
          <a:xfrm>
            <a:off x="157480" y="203200"/>
            <a:ext cx="11856720" cy="6421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custDataLst>
              <p:tags r:id="rId2"/>
            </p:custDataLst>
          </p:nvPr>
        </p:nvSpPr>
        <p:spPr>
          <a:xfrm>
            <a:off x="561975" y="570230"/>
            <a:ext cx="11261090" cy="4323080"/>
          </a:xfrm>
          <a:prstGeom prst="rect">
            <a:avLst/>
          </a:prstGeom>
          <a:noFill/>
          <a:ln w="9525">
            <a:noFill/>
          </a:ln>
        </p:spPr>
        <p:txBody>
          <a:bodyPr wrap="square">
            <a:spAutoFit/>
          </a:bodyPr>
          <a:p>
            <a:pPr indent="304800"/>
            <a:r>
              <a:rPr lang="en-US" altLang="zh-CN" sz="2400" b="0">
                <a:cs typeface="Times New Roman" panose="02020603050405020304" charset="0"/>
              </a:rPr>
              <a:t>    </a:t>
            </a:r>
            <a:r>
              <a:rPr sz="2500" b="0">
                <a:latin typeface="楷体" panose="02010609060101010101" charset="-122"/>
                <a:ea typeface="楷体" panose="02010609060101010101" charset="-122"/>
                <a:cs typeface="楷体" panose="02010609060101010101" charset="-122"/>
              </a:rPr>
              <a:t>③小男孩连印十几张，送给我们作纪念。接着，他把木栓子拆掉，让这些充盈着倔强与气力的小小活字，从挖槽中释放出来。他一手攥着一个“春”字，要考考我：“王维的诗中，有‘春’字的还有哪些?"我慌忙在记忆的版图中搜寻，背了《相思》。又背了《山中送别》……小男孩看我窘迫起来，笑了，开始背《辋川别业》给我听，还说:“我二年级的时候，特别喜欢'雨中草色绿堪染，水上桃花红欲然’这两句，可是两年一过，颠来倒去地赏读，却喜欢'披衣倒屣且相见，相欢语笑衡门前’了。阿姨，你说奇怪不奇怪?"</a:t>
            </a:r>
            <a:endParaRPr sz="2500" b="0">
              <a:latin typeface="楷体" panose="02010609060101010101" charset="-122"/>
              <a:ea typeface="楷体" panose="02010609060101010101" charset="-122"/>
              <a:cs typeface="楷体" panose="02010609060101010101" charset="-122"/>
            </a:endParaRPr>
          </a:p>
          <a:p>
            <a:pPr indent="304800"/>
            <a:r>
              <a:rPr lang="en-US" sz="2500" b="0">
                <a:latin typeface="楷体" panose="02010609060101010101" charset="-122"/>
                <a:ea typeface="楷体" panose="02010609060101010101" charset="-122"/>
                <a:cs typeface="楷体" panose="02010609060101010101" charset="-122"/>
              </a:rPr>
              <a:t>  </a:t>
            </a:r>
            <a:r>
              <a:rPr sz="2500" b="0">
                <a:latin typeface="楷体" panose="02010609060101010101" charset="-122"/>
                <a:ea typeface="楷体" panose="02010609060101010101" charset="-122"/>
                <a:cs typeface="楷体" panose="02010609060101010101" charset="-122"/>
              </a:rPr>
              <a:t>④我点头，说:“不奇怪。你长大了。小孩子写作文都喜欢炼字，喜欢xuàn rǎn颜色，就像画画离不开水彩笔一样；可两个暑假过去了，你如今发现，倒是朴素的素描，可以活脱脱画出两个老头儿相见作揖、知己重逢的那股欢喜劲儿，寥寥几笔、倒是更让人感动。"</a:t>
            </a:r>
            <a:endParaRPr sz="2500" b="0">
              <a:latin typeface="楷体" panose="02010609060101010101" charset="-122"/>
              <a:ea typeface="楷体" panose="02010609060101010101" charset="-122"/>
              <a:cs typeface="楷体" panose="02010609060101010101" charset="-122"/>
            </a:endParaRPr>
          </a:p>
        </p:txBody>
      </p:sp>
      <p:sp>
        <p:nvSpPr>
          <p:cNvPr id="48" name="文本框 47"/>
          <p:cNvSpPr txBox="1"/>
          <p:nvPr>
            <p:custDataLst>
              <p:tags r:id="rId3"/>
            </p:custDataLst>
          </p:nvPr>
        </p:nvSpPr>
        <p:spPr>
          <a:xfrm>
            <a:off x="1435100" y="4996815"/>
            <a:ext cx="7367905" cy="435610"/>
          </a:xfrm>
          <a:prstGeom prst="rect">
            <a:avLst/>
          </a:prstGeom>
          <a:solidFill>
            <a:schemeClr val="accent2">
              <a:lumMod val="20000"/>
              <a:lumOff val="80000"/>
            </a:schemeClr>
          </a:solidFill>
          <a:ln w="9525">
            <a:noFill/>
          </a:ln>
        </p:spPr>
        <p:txBody>
          <a:bodyPr wrap="square">
            <a:noAutofit/>
          </a:bodyPr>
          <a:p>
            <a:pPr indent="0"/>
            <a:r>
              <a:rPr lang="zh-CN" altLang="en-US" sz="2700" b="1">
                <a:solidFill>
                  <a:srgbClr val="000000"/>
                </a:solidFill>
                <a:latin typeface="新宋体" panose="02010609030101010101" pitchFamily="49" charset="-122"/>
                <a:ea typeface="新宋体" panose="02010609030101010101" pitchFamily="49" charset="-122"/>
              </a:rPr>
              <a:t>小男孩考问我“春”字，背他喜欢的诗给我</a:t>
            </a:r>
            <a:r>
              <a:rPr lang="zh-CN" altLang="en-US" sz="2700" b="1">
                <a:solidFill>
                  <a:srgbClr val="000000"/>
                </a:solidFill>
                <a:latin typeface="新宋体" panose="02010609030101010101" pitchFamily="49" charset="-122"/>
                <a:ea typeface="新宋体" panose="02010609030101010101" pitchFamily="49" charset="-122"/>
              </a:rPr>
              <a:t>听</a:t>
            </a:r>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12" name="椭圆 11"/>
          <p:cNvSpPr/>
          <p:nvPr>
            <p:custDataLst>
              <p:tags r:id="rId4"/>
            </p:custDataLst>
          </p:nvPr>
        </p:nvSpPr>
        <p:spPr>
          <a:xfrm>
            <a:off x="678180" y="961390"/>
            <a:ext cx="2505075" cy="498475"/>
          </a:xfrm>
          <a:prstGeom prst="ellipse">
            <a:avLst/>
          </a:prstGeom>
          <a:noFill/>
          <a:ln w="19050">
            <a:gradFill>
              <a:gsLst>
                <a:gs pos="0">
                  <a:srgbClr val="D92763"/>
                </a:gs>
                <a:gs pos="50000">
                  <a:srgbClr val="E3447A"/>
                </a:gs>
                <a:gs pos="100000">
                  <a:srgbClr val="EC6091"/>
                </a:gs>
              </a:gsLst>
              <a:lin ang="5400000" scaled="0"/>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椭圆 1"/>
          <p:cNvSpPr/>
          <p:nvPr>
            <p:custDataLst>
              <p:tags r:id="rId5"/>
            </p:custDataLst>
          </p:nvPr>
        </p:nvSpPr>
        <p:spPr>
          <a:xfrm>
            <a:off x="7948295" y="2065655"/>
            <a:ext cx="1492885" cy="498475"/>
          </a:xfrm>
          <a:prstGeom prst="ellipse">
            <a:avLst/>
          </a:prstGeom>
          <a:noFill/>
          <a:ln w="19050">
            <a:gradFill>
              <a:gsLst>
                <a:gs pos="0">
                  <a:srgbClr val="D92763"/>
                </a:gs>
                <a:gs pos="50000">
                  <a:srgbClr val="E3447A"/>
                </a:gs>
                <a:gs pos="100000">
                  <a:srgbClr val="EC6091"/>
                </a:gs>
              </a:gsLst>
              <a:lin ang="5400000" scaled="0"/>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custDataLst>
              <p:tags r:id="rId6"/>
            </p:custDataLst>
          </p:nvPr>
        </p:nvSpPr>
        <p:spPr>
          <a:xfrm>
            <a:off x="10086975" y="2482215"/>
            <a:ext cx="872490" cy="498475"/>
          </a:xfrm>
          <a:prstGeom prst="ellipse">
            <a:avLst/>
          </a:prstGeom>
          <a:noFill/>
          <a:ln w="19050">
            <a:gradFill>
              <a:gsLst>
                <a:gs pos="0">
                  <a:srgbClr val="D92763"/>
                </a:gs>
                <a:gs pos="50000">
                  <a:srgbClr val="E3447A"/>
                </a:gs>
                <a:gs pos="100000">
                  <a:srgbClr val="EC6091"/>
                </a:gs>
              </a:gsLst>
              <a:lin ang="5400000" scaled="0"/>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椭圆 3"/>
          <p:cNvSpPr/>
          <p:nvPr>
            <p:custDataLst>
              <p:tags r:id="rId7"/>
            </p:custDataLst>
          </p:nvPr>
        </p:nvSpPr>
        <p:spPr>
          <a:xfrm>
            <a:off x="5165090" y="3195955"/>
            <a:ext cx="872490" cy="498475"/>
          </a:xfrm>
          <a:prstGeom prst="ellipse">
            <a:avLst/>
          </a:prstGeom>
          <a:noFill/>
          <a:ln w="19050">
            <a:gradFill>
              <a:gsLst>
                <a:gs pos="0">
                  <a:srgbClr val="D92763"/>
                </a:gs>
                <a:gs pos="50000">
                  <a:srgbClr val="E3447A"/>
                </a:gs>
                <a:gs pos="100000">
                  <a:srgbClr val="EC6091"/>
                </a:gs>
              </a:gsLst>
              <a:lin ang="5400000" scaled="0"/>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custDataLst>
              <p:tags r:id="rId8"/>
            </p:custDataLst>
          </p:nvPr>
        </p:nvSpPr>
        <p:spPr>
          <a:xfrm>
            <a:off x="1435100" y="5749925"/>
            <a:ext cx="2950845" cy="506730"/>
          </a:xfrm>
          <a:prstGeom prst="rect">
            <a:avLst/>
          </a:prstGeom>
          <a:solidFill>
            <a:schemeClr val="accent5">
              <a:lumMod val="20000"/>
              <a:lumOff val="80000"/>
            </a:schemeClr>
          </a:solidFill>
          <a:ln w="9525">
            <a:noFill/>
          </a:ln>
        </p:spPr>
        <p:txBody>
          <a:bodyPr wrap="square">
            <a:spAutoFit/>
          </a:bodyPr>
          <a:p>
            <a:pPr indent="0"/>
            <a:r>
              <a:rPr lang="zh-CN" altLang="en-US" sz="2700" b="1">
                <a:solidFill>
                  <a:srgbClr val="000000"/>
                </a:solidFill>
                <a:latin typeface="新宋体" panose="02010609030101010101" pitchFamily="49" charset="-122"/>
                <a:ea typeface="新宋体" panose="02010609030101010101" pitchFamily="49" charset="-122"/>
              </a:rPr>
              <a:t>我帮他分析</a:t>
            </a:r>
            <a:r>
              <a:rPr lang="en-US" altLang="zh-CN" sz="2700" b="1">
                <a:solidFill>
                  <a:srgbClr val="000000"/>
                </a:solidFill>
                <a:latin typeface="新宋体" panose="02010609030101010101" pitchFamily="49" charset="-122"/>
                <a:ea typeface="新宋体" panose="02010609030101010101" pitchFamily="49" charset="-122"/>
              </a:rPr>
              <a:t>……</a:t>
            </a:r>
            <a:endParaRPr lang="en-US" altLang="zh-CN" sz="2700" b="1">
              <a:solidFill>
                <a:srgbClr val="000000"/>
              </a:solidFill>
              <a:latin typeface="新宋体" panose="02010609030101010101" pitchFamily="49" charset="-122"/>
              <a:ea typeface="新宋体"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500" fill="hold">
                                          <p:stCondLst>
                                            <p:cond delay="0"/>
                                          </p:stCondLst>
                                        </p:cTn>
                                        <p:tgtEl>
                                          <p:spTgt spid="12"/>
                                        </p:tgtEl>
                                        <p:attrNameLst>
                                          <p:attrName>style.visibility</p:attrName>
                                        </p:attrNameLst>
                                      </p:cBhvr>
                                      <p:to>
                                        <p:strVal val="visible"/>
                                      </p:to>
                                    </p:set>
                                    <p:animEffect transition="in" filter="wheel(1)">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500" fill="hold">
                                          <p:stCondLst>
                                            <p:cond delay="0"/>
                                          </p:stCondLst>
                                        </p:cTn>
                                        <p:tgtEl>
                                          <p:spTgt spid="2"/>
                                        </p:tgtEl>
                                        <p:attrNameLst>
                                          <p:attrName>style.visibility</p:attrName>
                                        </p:attrNameLst>
                                      </p:cBhvr>
                                      <p:to>
                                        <p:strVal val="visible"/>
                                      </p:to>
                                    </p:set>
                                    <p:animEffect transition="in" filter="wheel(1)">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500" fill="hold">
                                          <p:stCondLst>
                                            <p:cond delay="0"/>
                                          </p:stCondLst>
                                        </p:cTn>
                                        <p:tgtEl>
                                          <p:spTgt spid="3"/>
                                        </p:tgtEl>
                                        <p:attrNameLst>
                                          <p:attrName>style.visibility</p:attrName>
                                        </p:attrNameLst>
                                      </p:cBhvr>
                                      <p:to>
                                        <p:strVal val="visible"/>
                                      </p:to>
                                    </p:set>
                                    <p:animEffect transition="in" filter="wheel(1)">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500" fill="hold">
                                          <p:stCondLst>
                                            <p:cond delay="0"/>
                                          </p:stCondLst>
                                        </p:cTn>
                                        <p:tgtEl>
                                          <p:spTgt spid="4"/>
                                        </p:tgtEl>
                                        <p:attrNameLst>
                                          <p:attrName>style.visibility</p:attrName>
                                        </p:attrNameLst>
                                      </p:cBhvr>
                                      <p:to>
                                        <p:strVal val="visible"/>
                                      </p:to>
                                    </p:set>
                                    <p:animEffect transition="in" filter="wheel(1)">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bldLvl="0" animBg="1"/>
      <p:bldP spid="12" grpId="0" bldLvl="0" animBg="1"/>
      <p:bldP spid="2" grpId="0" bldLvl="0" animBg="1"/>
      <p:bldP spid="3" grpId="0" bldLvl="0" animBg="1"/>
      <p:bldP spid="4" grpId="0" bldLvl="0" animBg="1"/>
      <p:bldP spid="7"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6" name="矩形 5"/>
          <p:cNvSpPr/>
          <p:nvPr/>
        </p:nvSpPr>
        <p:spPr>
          <a:xfrm>
            <a:off x="157480" y="203200"/>
            <a:ext cx="11856720" cy="6421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custDataLst>
              <p:tags r:id="rId2"/>
            </p:custDataLst>
          </p:nvPr>
        </p:nvSpPr>
        <p:spPr>
          <a:xfrm>
            <a:off x="1343660" y="281305"/>
            <a:ext cx="10278110" cy="435610"/>
          </a:xfrm>
          <a:prstGeom prst="rect">
            <a:avLst/>
          </a:prstGeom>
          <a:solidFill>
            <a:schemeClr val="accent2">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2" name="文本框 1"/>
          <p:cNvSpPr txBox="1"/>
          <p:nvPr>
            <p:custDataLst>
              <p:tags r:id="rId3"/>
            </p:custDataLst>
          </p:nvPr>
        </p:nvSpPr>
        <p:spPr>
          <a:xfrm>
            <a:off x="354965" y="638175"/>
            <a:ext cx="3366770" cy="435610"/>
          </a:xfrm>
          <a:prstGeom prst="rect">
            <a:avLst/>
          </a:prstGeom>
          <a:solidFill>
            <a:schemeClr val="accent2">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3" name="文本框 2"/>
          <p:cNvSpPr txBox="1"/>
          <p:nvPr>
            <p:custDataLst>
              <p:tags r:id="rId4"/>
            </p:custDataLst>
          </p:nvPr>
        </p:nvSpPr>
        <p:spPr>
          <a:xfrm>
            <a:off x="1343660" y="2202815"/>
            <a:ext cx="4264025" cy="435610"/>
          </a:xfrm>
          <a:prstGeom prst="rect">
            <a:avLst/>
          </a:prstGeom>
          <a:solidFill>
            <a:schemeClr val="accent2">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4" name="文本框 3"/>
          <p:cNvSpPr txBox="1"/>
          <p:nvPr>
            <p:custDataLst>
              <p:tags r:id="rId5"/>
            </p:custDataLst>
          </p:nvPr>
        </p:nvSpPr>
        <p:spPr>
          <a:xfrm>
            <a:off x="2552700" y="3767455"/>
            <a:ext cx="9263380" cy="435610"/>
          </a:xfrm>
          <a:prstGeom prst="rect">
            <a:avLst/>
          </a:prstGeom>
          <a:solidFill>
            <a:schemeClr val="accent2">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7" name="文本框 6"/>
          <p:cNvSpPr txBox="1"/>
          <p:nvPr>
            <p:custDataLst>
              <p:tags r:id="rId6"/>
            </p:custDataLst>
          </p:nvPr>
        </p:nvSpPr>
        <p:spPr>
          <a:xfrm>
            <a:off x="282575" y="4124325"/>
            <a:ext cx="11533505" cy="435610"/>
          </a:xfrm>
          <a:prstGeom prst="rect">
            <a:avLst/>
          </a:prstGeom>
          <a:solidFill>
            <a:schemeClr val="accent2">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8" name="文本框 7"/>
          <p:cNvSpPr txBox="1"/>
          <p:nvPr>
            <p:custDataLst>
              <p:tags r:id="rId7"/>
            </p:custDataLst>
          </p:nvPr>
        </p:nvSpPr>
        <p:spPr>
          <a:xfrm>
            <a:off x="282575" y="4559935"/>
            <a:ext cx="1607820" cy="435610"/>
          </a:xfrm>
          <a:prstGeom prst="rect">
            <a:avLst/>
          </a:prstGeom>
          <a:solidFill>
            <a:schemeClr val="accent2">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9" name="文本框 8"/>
          <p:cNvSpPr txBox="1"/>
          <p:nvPr>
            <p:custDataLst>
              <p:tags r:id="rId8"/>
            </p:custDataLst>
          </p:nvPr>
        </p:nvSpPr>
        <p:spPr>
          <a:xfrm>
            <a:off x="282575" y="4883150"/>
            <a:ext cx="11534140" cy="435610"/>
          </a:xfrm>
          <a:prstGeom prst="rect">
            <a:avLst/>
          </a:prstGeom>
          <a:solidFill>
            <a:schemeClr val="accent2">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10" name="文本框 9"/>
          <p:cNvSpPr txBox="1"/>
          <p:nvPr>
            <p:custDataLst>
              <p:tags r:id="rId9"/>
            </p:custDataLst>
          </p:nvPr>
        </p:nvSpPr>
        <p:spPr>
          <a:xfrm>
            <a:off x="282575" y="5239385"/>
            <a:ext cx="3815080" cy="435610"/>
          </a:xfrm>
          <a:prstGeom prst="rect">
            <a:avLst/>
          </a:prstGeom>
          <a:solidFill>
            <a:schemeClr val="accent2">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100" name="文本框 99"/>
          <p:cNvSpPr txBox="1"/>
          <p:nvPr>
            <p:custDataLst>
              <p:tags r:id="rId10"/>
            </p:custDataLst>
          </p:nvPr>
        </p:nvSpPr>
        <p:spPr>
          <a:xfrm>
            <a:off x="282575" y="281305"/>
            <a:ext cx="11728450" cy="5477510"/>
          </a:xfrm>
          <a:prstGeom prst="rect">
            <a:avLst/>
          </a:prstGeom>
          <a:noFill/>
          <a:ln w="9525">
            <a:noFill/>
          </a:ln>
        </p:spPr>
        <p:txBody>
          <a:bodyPr wrap="square">
            <a:spAutoFit/>
          </a:bodyPr>
          <a:p>
            <a:pPr indent="304800"/>
            <a:r>
              <a:rPr lang="en-US" altLang="zh-CN" sz="2400" b="0">
                <a:cs typeface="Times New Roman" panose="02020603050405020304" charset="0"/>
              </a:rPr>
              <a:t>    </a:t>
            </a:r>
            <a:r>
              <a:rPr sz="2500" b="0">
                <a:latin typeface="楷体" panose="02010609060101010101" charset="-122"/>
                <a:ea typeface="楷体" panose="02010609060101010101" charset="-122"/>
                <a:cs typeface="楷体" panose="02010609060101010101" charset="-122"/>
              </a:rPr>
              <a:t>⑤小男孩灿烂微笑，他穿着斜襟中式衣裳，寸头被妈妈用剃头推子刨得溜光，很像电影里的功夫小子。暑假里，爸爸就每天带着他来上班。爸爸是书画院的行政人员。工作很杂，大部分时间无暇照管他，好在领导照顾，给小男孩特批了两项福利：第一，允许他去上书画院在暑期开办的公益课程；第二，给他安排了一个小小的工作室。</a:t>
            </a:r>
            <a:endParaRPr sz="2500" b="0">
              <a:latin typeface="楷体" panose="02010609060101010101" charset="-122"/>
              <a:ea typeface="楷体" panose="02010609060101010101" charset="-122"/>
              <a:cs typeface="楷体" panose="02010609060101010101" charset="-122"/>
            </a:endParaRPr>
          </a:p>
          <a:p>
            <a:pPr indent="304800"/>
            <a:r>
              <a:rPr lang="en-US" sz="2500" b="0">
                <a:latin typeface="楷体" panose="02010609060101010101" charset="-122"/>
                <a:ea typeface="楷体" panose="02010609060101010101" charset="-122"/>
                <a:cs typeface="楷体" panose="02010609060101010101" charset="-122"/>
              </a:rPr>
              <a:t>  </a:t>
            </a:r>
            <a:r>
              <a:rPr sz="2500" b="0">
                <a:latin typeface="楷体" panose="02010609060101010101" charset="-122"/>
                <a:ea typeface="楷体" panose="02010609060101010101" charset="-122"/>
                <a:cs typeface="楷体" panose="02010609060101010101" charset="-122"/>
              </a:rPr>
              <a:t>⑥小男孩带我去看他的“工作室”，原来就是在木楼梯的下方，放了一张大茶几当桌子。小男孩无论是写暑假作业、做手工，还是写书法、做拓片，都坐在一个大蒲团上。他个子还小，藏在楼梯肚里，猛地站起来也不会撞到脑袋，而木楼梯的反面，每一级上都粘贴着孩子的书法与绘画作品，伴随着空调吹出的微风，这些字纸都微微飘摇。就在这里，小男孩向我展示他的砚台，展示书画家送给他的徽墨，展示他替奶奶卷的艾灸条，展示他觉得应该带到外太空，给外星人欣赏的“最美的木活字”。他说:“我不喜欢动画里的二次元小孩，他们都是一个模子里出来的。唐诗才是我最喜欢的二次元世界，每次，只要扑通一声跳进唐诗的世界，就觉得浑身上下都洗得清爽极了。”</a:t>
            </a:r>
            <a:endParaRPr sz="2500" b="0">
              <a:latin typeface="楷体" panose="02010609060101010101" charset="-122"/>
              <a:ea typeface="楷体" panose="02010609060101010101" charset="-122"/>
              <a:cs typeface="楷体" panose="02010609060101010101" charset="-122"/>
            </a:endParaRPr>
          </a:p>
        </p:txBody>
      </p:sp>
      <p:sp>
        <p:nvSpPr>
          <p:cNvPr id="11" name="文本框 10"/>
          <p:cNvSpPr txBox="1"/>
          <p:nvPr>
            <p:custDataLst>
              <p:tags r:id="rId11"/>
            </p:custDataLst>
          </p:nvPr>
        </p:nvSpPr>
        <p:spPr>
          <a:xfrm>
            <a:off x="2083435" y="5796915"/>
            <a:ext cx="6263640" cy="435610"/>
          </a:xfrm>
          <a:prstGeom prst="rect">
            <a:avLst/>
          </a:prstGeom>
          <a:solidFill>
            <a:schemeClr val="accent2">
              <a:lumMod val="20000"/>
              <a:lumOff val="80000"/>
            </a:schemeClr>
          </a:solidFill>
          <a:ln w="9525">
            <a:noFill/>
          </a:ln>
        </p:spPr>
        <p:txBody>
          <a:bodyPr wrap="square">
            <a:noAutofit/>
          </a:bodyPr>
          <a:p>
            <a:pPr indent="0"/>
            <a:r>
              <a:rPr lang="zh-CN" altLang="en-US" sz="2700" b="1">
                <a:solidFill>
                  <a:srgbClr val="000000"/>
                </a:solidFill>
                <a:latin typeface="新宋体" panose="02010609030101010101" pitchFamily="49" charset="-122"/>
                <a:ea typeface="新宋体" panose="02010609030101010101" pitchFamily="49" charset="-122"/>
              </a:rPr>
              <a:t>一个古装打扮、喜欢传统</a:t>
            </a:r>
            <a:r>
              <a:rPr lang="zh-CN" altLang="en-US" sz="2700" b="1">
                <a:solidFill>
                  <a:srgbClr val="000000"/>
                </a:solidFill>
                <a:latin typeface="新宋体" panose="02010609030101010101" pitchFamily="49" charset="-122"/>
                <a:ea typeface="新宋体" panose="02010609030101010101" pitchFamily="49" charset="-122"/>
              </a:rPr>
              <a:t>文化的小男孩</a:t>
            </a:r>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12" name="文本框 11"/>
          <p:cNvSpPr txBox="1"/>
          <p:nvPr>
            <p:custDataLst>
              <p:tags r:id="rId12"/>
            </p:custDataLst>
          </p:nvPr>
        </p:nvSpPr>
        <p:spPr>
          <a:xfrm>
            <a:off x="3515995" y="6175375"/>
            <a:ext cx="2463800" cy="506730"/>
          </a:xfrm>
          <a:prstGeom prst="rect">
            <a:avLst/>
          </a:prstGeom>
          <a:noFill/>
        </p:spPr>
        <p:txBody>
          <a:bodyPr wrap="square" rtlCol="0" anchor="t">
            <a:spAutoFit/>
          </a:bodyPr>
          <a:p>
            <a:r>
              <a:rPr lang="zh-CN" altLang="en-US" sz="2700" b="1">
                <a:solidFill>
                  <a:srgbClr val="C00000"/>
                </a:solidFill>
                <a:latin typeface="新宋体" panose="02010609030101010101" pitchFamily="49" charset="-122"/>
                <a:ea typeface="新宋体" panose="02010609030101010101" pitchFamily="49" charset="-122"/>
                <a:sym typeface="+mn-ea"/>
              </a:rPr>
              <a:t>（传统文化）</a:t>
            </a:r>
            <a:endParaRPr lang="zh-CN" altLang="en-US" sz="2700" b="1">
              <a:solidFill>
                <a:srgbClr val="C00000"/>
              </a:solidFill>
              <a:latin typeface="新宋体" panose="02010609030101010101" pitchFamily="49" charset="-122"/>
              <a:ea typeface="新宋体" panose="0201060903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bldLvl="0" animBg="1"/>
      <p:bldP spid="2" grpId="0" bldLvl="0" animBg="1"/>
      <p:bldP spid="3" grpId="0" bldLvl="0" animBg="1"/>
      <p:bldP spid="4" grpId="0" bldLvl="0" animBg="1"/>
      <p:bldP spid="7" grpId="0" bldLvl="0" animBg="1"/>
      <p:bldP spid="8" grpId="0" bldLvl="0" animBg="1"/>
      <p:bldP spid="9" grpId="0" bldLvl="0" animBg="1"/>
      <p:bldP spid="10" grpId="0" bldLvl="0" animBg="1"/>
      <p:bldP spid="11" grpId="0" bldLvl="0" animBg="1"/>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6" name="矩形 5"/>
          <p:cNvSpPr/>
          <p:nvPr/>
        </p:nvSpPr>
        <p:spPr>
          <a:xfrm>
            <a:off x="157480" y="203200"/>
            <a:ext cx="11856720" cy="6421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custDataLst>
              <p:tags r:id="rId2"/>
            </p:custDataLst>
          </p:nvPr>
        </p:nvSpPr>
        <p:spPr>
          <a:xfrm>
            <a:off x="299085" y="774065"/>
            <a:ext cx="8345170" cy="435610"/>
          </a:xfrm>
          <a:prstGeom prst="rect">
            <a:avLst/>
          </a:prstGeom>
          <a:solidFill>
            <a:schemeClr val="accent2">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48" name="文本框 47"/>
          <p:cNvSpPr txBox="1"/>
          <p:nvPr>
            <p:custDataLst>
              <p:tags r:id="rId3"/>
            </p:custDataLst>
          </p:nvPr>
        </p:nvSpPr>
        <p:spPr>
          <a:xfrm>
            <a:off x="9996805" y="417195"/>
            <a:ext cx="1800860" cy="435610"/>
          </a:xfrm>
          <a:prstGeom prst="rect">
            <a:avLst/>
          </a:prstGeom>
          <a:solidFill>
            <a:schemeClr val="accent2">
              <a:lumMod val="20000"/>
              <a:lumOff val="80000"/>
            </a:schemeClr>
          </a:solidFill>
          <a:ln w="9525">
            <a:noFill/>
          </a:ln>
        </p:spPr>
        <p:txBody>
          <a:bodyPr wrap="square">
            <a:noAutofit/>
          </a:bodyPr>
          <a:p>
            <a:pPr indent="0"/>
            <a:endParaRPr lang="zh-CN" altLang="en-US" sz="2700" b="1">
              <a:solidFill>
                <a:srgbClr val="000000"/>
              </a:solidFill>
              <a:latin typeface="新宋体" panose="02010609030101010101" pitchFamily="49" charset="-122"/>
              <a:ea typeface="新宋体" panose="02010609030101010101" pitchFamily="49" charset="-122"/>
            </a:endParaRPr>
          </a:p>
        </p:txBody>
      </p:sp>
      <p:sp>
        <p:nvSpPr>
          <p:cNvPr id="100" name="文本框 99"/>
          <p:cNvSpPr txBox="1"/>
          <p:nvPr>
            <p:custDataLst>
              <p:tags r:id="rId4"/>
            </p:custDataLst>
          </p:nvPr>
        </p:nvSpPr>
        <p:spPr>
          <a:xfrm>
            <a:off x="299085" y="417195"/>
            <a:ext cx="11602085" cy="5477510"/>
          </a:xfrm>
          <a:prstGeom prst="rect">
            <a:avLst/>
          </a:prstGeom>
          <a:noFill/>
          <a:ln w="9525">
            <a:noFill/>
          </a:ln>
        </p:spPr>
        <p:txBody>
          <a:bodyPr wrap="square">
            <a:spAutoFit/>
          </a:bodyPr>
          <a:p>
            <a:pPr indent="304800"/>
            <a:r>
              <a:rPr lang="en-US" altLang="zh-CN" sz="2400" b="0">
                <a:cs typeface="Times New Roman" panose="02020603050405020304" charset="0"/>
              </a:rPr>
              <a:t>    </a:t>
            </a:r>
            <a:r>
              <a:rPr sz="2500" b="0">
                <a:latin typeface="楷体" panose="02010609060101010101" charset="-122"/>
                <a:ea typeface="楷体" panose="02010609060101010101" charset="-122"/>
                <a:cs typeface="楷体" panose="02010609060101010101" charset="-122"/>
              </a:rPr>
              <a:t>⑦说到这里，他饱满的小脸忽然垮了下来，有点沮丧地对我说:“我爸说，我是一个穿越过来的古人。他好像对我这么坐得住很担心……”</a:t>
            </a:r>
            <a:endParaRPr sz="2500" b="0">
              <a:latin typeface="楷体" panose="02010609060101010101" charset="-122"/>
              <a:ea typeface="楷体" panose="02010609060101010101" charset="-122"/>
              <a:cs typeface="楷体" panose="02010609060101010101" charset="-122"/>
            </a:endParaRPr>
          </a:p>
          <a:p>
            <a:pPr indent="304800"/>
            <a:r>
              <a:rPr lang="en-US" sz="2500" b="0">
                <a:latin typeface="楷体" panose="02010609060101010101" charset="-122"/>
                <a:ea typeface="楷体" panose="02010609060101010101" charset="-122"/>
                <a:cs typeface="楷体" panose="02010609060101010101" charset="-122"/>
              </a:rPr>
              <a:t>  </a:t>
            </a:r>
            <a:r>
              <a:rPr sz="2500" b="0">
                <a:latin typeface="楷体" panose="02010609060101010101" charset="-122"/>
                <a:ea typeface="楷体" panose="02010609060101010101" charset="-122"/>
                <a:cs typeface="楷体" panose="02010609060101010101" charset="-122"/>
              </a:rPr>
              <a:t>⑧我忽然想起小男孩爸爸曾悄悄咨询：“各位老师，给我出出主意，怎样让我们家这孩子活得像一个‘10后’。我想尽一切办法，给他买盲盒，买游戏手柄，买轮滑鞋，买羽毛球，除了羽毛球他很喜欢。别的东西都被他送给表哥表姐了。他妈妈觉得就是因为我在书画院工作，孩子每逢放寒暑假都来这里，耳濡目染，才变成这样的，让大家号个脉，我娃养成这样，究竟对不对?"。</a:t>
            </a:r>
            <a:endParaRPr sz="2500" b="0">
              <a:latin typeface="楷体" panose="02010609060101010101" charset="-122"/>
              <a:ea typeface="楷体" panose="02010609060101010101" charset="-122"/>
              <a:cs typeface="楷体" panose="02010609060101010101" charset="-122"/>
            </a:endParaRPr>
          </a:p>
          <a:p>
            <a:pPr indent="304800"/>
            <a:r>
              <a:rPr lang="en-US" sz="2500" b="0">
                <a:latin typeface="楷体" panose="02010609060101010101" charset="-122"/>
                <a:ea typeface="楷体" panose="02010609060101010101" charset="-122"/>
                <a:cs typeface="楷体" panose="02010609060101010101" charset="-122"/>
              </a:rPr>
              <a:t>  </a:t>
            </a:r>
            <a:r>
              <a:rPr sz="2500" b="0">
                <a:latin typeface="楷体" panose="02010609060101010101" charset="-122"/>
                <a:ea typeface="楷体" panose="02010609060101010101" charset="-122"/>
                <a:cs typeface="楷体" panose="02010609060101010101" charset="-122"/>
              </a:rPr>
              <a:t>⑨这世间的孩子，哪能像农作物一样，到了时辰就长成一样高，呈现出整齐划一的丰收姿态？小男孩的精神世界已经暗自长成了一个美丽的花园，草木葳蕤，万物竞生，某些时刻，那种无来由的欢欣与忧伤，沁润过王维的心，千年后也会静悄悄感染小男孩。比别人更敏感，更</a:t>
            </a:r>
            <a:r>
              <a:rPr lang="zh-CN" sz="2500" b="0">
                <a:latin typeface="楷体" panose="02010609060101010101" charset="-122"/>
                <a:ea typeface="楷体" panose="02010609060101010101" charset="-122"/>
                <a:cs typeface="楷体" panose="02010609060101010101" charset="-122"/>
              </a:rPr>
              <a:t>敏锐</a:t>
            </a:r>
            <a:r>
              <a:rPr sz="2500" b="0">
                <a:latin typeface="楷体" panose="02010609060101010101" charset="-122"/>
                <a:ea typeface="楷体" panose="02010609060101010101" charset="-122"/>
                <a:cs typeface="楷体" panose="02010609060101010101" charset="-122"/>
              </a:rPr>
              <a:t>，不见得是一件需要检讨的事，它暗含艺术的、人文的滋养，像一场从天而降的露水一样，只会让花园所有的植物更加生机勃勃，根深叶茂。</a:t>
            </a:r>
            <a:endParaRPr sz="2500" b="0">
              <a:latin typeface="楷体" panose="02010609060101010101" charset="-122"/>
              <a:ea typeface="楷体" panose="02010609060101010101" charset="-122"/>
              <a:cs typeface="楷体" panose="02010609060101010101" charset="-122"/>
            </a:endParaRPr>
          </a:p>
          <a:p>
            <a:pPr indent="304800"/>
            <a:r>
              <a:rPr lang="en-US" sz="2500" b="0">
                <a:latin typeface="楷体" panose="02010609060101010101" charset="-122"/>
                <a:ea typeface="楷体" panose="02010609060101010101" charset="-122"/>
                <a:cs typeface="楷体" panose="02010609060101010101" charset="-122"/>
              </a:rPr>
              <a:t>  </a:t>
            </a:r>
            <a:r>
              <a:rPr sz="2500" b="0">
                <a:latin typeface="楷体" panose="02010609060101010101" charset="-122"/>
                <a:ea typeface="楷体" panose="02010609060101010101" charset="-122"/>
                <a:cs typeface="楷体" panose="02010609060101010101" charset="-122"/>
              </a:rPr>
              <a:t>⑩这是无须过度忧心的事，只消等候，只消守护与期待。</a:t>
            </a:r>
            <a:endParaRPr sz="2500" b="0">
              <a:latin typeface="楷体" panose="02010609060101010101" charset="-122"/>
              <a:ea typeface="楷体" panose="02010609060101010101" charset="-122"/>
              <a:cs typeface="楷体" panose="02010609060101010101" charset="-122"/>
            </a:endParaRPr>
          </a:p>
        </p:txBody>
      </p:sp>
      <p:sp>
        <p:nvSpPr>
          <p:cNvPr id="2" name="椭圆 1"/>
          <p:cNvSpPr/>
          <p:nvPr>
            <p:custDataLst>
              <p:tags r:id="rId5"/>
            </p:custDataLst>
          </p:nvPr>
        </p:nvSpPr>
        <p:spPr>
          <a:xfrm>
            <a:off x="7619365" y="417195"/>
            <a:ext cx="826135" cy="498475"/>
          </a:xfrm>
          <a:prstGeom prst="ellipse">
            <a:avLst/>
          </a:prstGeom>
          <a:noFill/>
          <a:ln w="19050">
            <a:gradFill>
              <a:gsLst>
                <a:gs pos="0">
                  <a:srgbClr val="D92763"/>
                </a:gs>
                <a:gs pos="50000">
                  <a:srgbClr val="E3447A"/>
                </a:gs>
                <a:gs pos="100000">
                  <a:srgbClr val="EC6091"/>
                </a:gs>
              </a:gsLst>
              <a:lin ang="5400000" scaled="0"/>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custDataLst>
              <p:tags r:id="rId6"/>
            </p:custDataLst>
          </p:nvPr>
        </p:nvSpPr>
        <p:spPr>
          <a:xfrm>
            <a:off x="2640965" y="3509010"/>
            <a:ext cx="2507615" cy="438150"/>
          </a:xfrm>
          <a:prstGeom prst="rect">
            <a:avLst/>
          </a:prstGeom>
          <a:noFill/>
          <a:ln w="19050">
            <a:solidFill>
              <a:srgbClr val="B6280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custDataLst>
              <p:tags r:id="rId7"/>
            </p:custDataLst>
          </p:nvPr>
        </p:nvSpPr>
        <p:spPr>
          <a:xfrm>
            <a:off x="8000365" y="3509010"/>
            <a:ext cx="1680210" cy="438150"/>
          </a:xfrm>
          <a:prstGeom prst="rect">
            <a:avLst/>
          </a:prstGeom>
          <a:noFill/>
          <a:ln w="19050">
            <a:solidFill>
              <a:srgbClr val="B6280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custDataLst>
              <p:tags r:id="rId8"/>
            </p:custDataLst>
          </p:nvPr>
        </p:nvSpPr>
        <p:spPr>
          <a:xfrm>
            <a:off x="743585" y="4659630"/>
            <a:ext cx="2772410" cy="438150"/>
          </a:xfrm>
          <a:prstGeom prst="rect">
            <a:avLst/>
          </a:prstGeom>
          <a:noFill/>
          <a:ln w="19050">
            <a:solidFill>
              <a:srgbClr val="B6280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椭圆 11"/>
          <p:cNvSpPr/>
          <p:nvPr>
            <p:custDataLst>
              <p:tags r:id="rId9"/>
            </p:custDataLst>
          </p:nvPr>
        </p:nvSpPr>
        <p:spPr>
          <a:xfrm>
            <a:off x="2609215" y="5396230"/>
            <a:ext cx="1929765" cy="498475"/>
          </a:xfrm>
          <a:prstGeom prst="ellipse">
            <a:avLst/>
          </a:prstGeom>
          <a:noFill/>
          <a:ln w="19050">
            <a:solidFill>
              <a:srgbClr val="13396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55" name="直接箭头连接符 54"/>
          <p:cNvCxnSpPr/>
          <p:nvPr>
            <p:custDataLst>
              <p:tags r:id="rId10"/>
            </p:custDataLst>
          </p:nvPr>
        </p:nvCxnSpPr>
        <p:spPr>
          <a:xfrm flipV="1">
            <a:off x="4389120" y="3141345"/>
            <a:ext cx="1978025" cy="2311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11"/>
            </p:custDataLst>
          </p:nvPr>
        </p:nvCxnSpPr>
        <p:spPr>
          <a:xfrm>
            <a:off x="4780280" y="3106420"/>
            <a:ext cx="4048760" cy="11430"/>
          </a:xfrm>
          <a:prstGeom prst="line">
            <a:avLst/>
          </a:prstGeom>
          <a:ln w="19050">
            <a:solidFill>
              <a:srgbClr val="133965"/>
            </a:solidFill>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12"/>
            </p:custDataLst>
          </p:nvPr>
        </p:nvSpPr>
        <p:spPr>
          <a:xfrm>
            <a:off x="5492750" y="5396230"/>
            <a:ext cx="698500" cy="438150"/>
          </a:xfrm>
          <a:prstGeom prst="rect">
            <a:avLst/>
          </a:prstGeom>
          <a:noFill/>
          <a:ln w="19050">
            <a:solidFill>
              <a:srgbClr val="B6280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矩形 10"/>
          <p:cNvSpPr/>
          <p:nvPr>
            <p:custDataLst>
              <p:tags r:id="rId13"/>
            </p:custDataLst>
          </p:nvPr>
        </p:nvSpPr>
        <p:spPr>
          <a:xfrm>
            <a:off x="7012305" y="5396230"/>
            <a:ext cx="1631950" cy="438150"/>
          </a:xfrm>
          <a:prstGeom prst="rect">
            <a:avLst/>
          </a:prstGeom>
          <a:noFill/>
          <a:ln w="19050">
            <a:solidFill>
              <a:srgbClr val="B6280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500"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left)">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500" fill="hold">
                                          <p:stCondLst>
                                            <p:cond delay="0"/>
                                          </p:stCondLst>
                                        </p:cTn>
                                        <p:tgtEl>
                                          <p:spTgt spid="4"/>
                                        </p:tgtEl>
                                        <p:attrNameLst>
                                          <p:attrName>style.visibility</p:attrName>
                                        </p:attrNameLst>
                                      </p:cBhvr>
                                      <p:to>
                                        <p:strVal val="visible"/>
                                      </p:to>
                                    </p:set>
                                    <p:animEffect transition="in" filter="wheel(1)">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500" fill="hold">
                                          <p:stCondLst>
                                            <p:cond delay="0"/>
                                          </p:stCondLst>
                                        </p:cTn>
                                        <p:tgtEl>
                                          <p:spTgt spid="7"/>
                                        </p:tgtEl>
                                        <p:attrNameLst>
                                          <p:attrName>style.visibility</p:attrName>
                                        </p:attrNameLst>
                                      </p:cBhvr>
                                      <p:to>
                                        <p:strVal val="visible"/>
                                      </p:to>
                                    </p:set>
                                    <p:animEffect transition="in" filter="wheel(1)">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500" fill="hold">
                                          <p:stCondLst>
                                            <p:cond delay="0"/>
                                          </p:stCondLst>
                                        </p:cTn>
                                        <p:tgtEl>
                                          <p:spTgt spid="8"/>
                                        </p:tgtEl>
                                        <p:attrNameLst>
                                          <p:attrName>style.visibility</p:attrName>
                                        </p:attrNameLst>
                                      </p:cBhvr>
                                      <p:to>
                                        <p:strVal val="visible"/>
                                      </p:to>
                                    </p:set>
                                    <p:animEffect transition="in" filter="wheel(1)">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500" fill="hold">
                                          <p:stCondLst>
                                            <p:cond delay="0"/>
                                          </p:stCondLst>
                                        </p:cTn>
                                        <p:tgtEl>
                                          <p:spTgt spid="12"/>
                                        </p:tgtEl>
                                        <p:attrNameLst>
                                          <p:attrName>style.visibility</p:attrName>
                                        </p:attrNameLst>
                                      </p:cBhvr>
                                      <p:to>
                                        <p:strVal val="visible"/>
                                      </p:to>
                                    </p:set>
                                    <p:animEffect transition="in" filter="wheel(1)">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55"/>
                                        </p:tgtEl>
                                        <p:attrNameLst>
                                          <p:attrName>style.visibility</p:attrName>
                                        </p:attrNameLst>
                                      </p:cBhvr>
                                      <p:to>
                                        <p:strVal val="visible"/>
                                      </p:to>
                                    </p:set>
                                    <p:animEffect transition="in" filter="wipe(up)">
                                      <p:cBhvr>
                                        <p:cTn id="42" dur="500"/>
                                        <p:tgtEl>
                                          <p:spTgt spid="5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grpId="0" nodeType="clickEffect">
                                  <p:stCondLst>
                                    <p:cond delay="0"/>
                                  </p:stCondLst>
                                  <p:childTnLst>
                                    <p:set>
                                      <p:cBhvr>
                                        <p:cTn id="51" dur="500" fill="hold">
                                          <p:stCondLst>
                                            <p:cond delay="0"/>
                                          </p:stCondLst>
                                        </p:cTn>
                                        <p:tgtEl>
                                          <p:spTgt spid="10"/>
                                        </p:tgtEl>
                                        <p:attrNameLst>
                                          <p:attrName>style.visibility</p:attrName>
                                        </p:attrNameLst>
                                      </p:cBhvr>
                                      <p:to>
                                        <p:strVal val="visible"/>
                                      </p:to>
                                    </p:set>
                                    <p:animEffect transition="in" filter="wheel(1)">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1" presetClass="entr" presetSubtype="1" fill="hold" grpId="0" nodeType="clickEffect">
                                  <p:stCondLst>
                                    <p:cond delay="0"/>
                                  </p:stCondLst>
                                  <p:childTnLst>
                                    <p:set>
                                      <p:cBhvr>
                                        <p:cTn id="56" dur="500" fill="hold">
                                          <p:stCondLst>
                                            <p:cond delay="0"/>
                                          </p:stCondLst>
                                        </p:cTn>
                                        <p:tgtEl>
                                          <p:spTgt spid="11"/>
                                        </p:tgtEl>
                                        <p:attrNameLst>
                                          <p:attrName>style.visibility</p:attrName>
                                        </p:attrNameLst>
                                      </p:cBhvr>
                                      <p:to>
                                        <p:strVal val="visible"/>
                                      </p:to>
                                    </p:set>
                                    <p:animEffect transition="in" filter="wheel(1)">
                                      <p:cBhvr>
                                        <p:cTn id="5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8" grpId="0" bldLvl="0" animBg="1"/>
      <p:bldP spid="3" grpId="0" bldLvl="0" animBg="1"/>
      <p:bldP spid="4" grpId="0" bldLvl="0" animBg="1"/>
      <p:bldP spid="7" grpId="0" bldLvl="0" animBg="1"/>
      <p:bldP spid="8" grpId="0" bldLvl="0" animBg="1"/>
      <p:bldP spid="12" grpId="0" bldLvl="0" animBg="1"/>
      <p:bldP spid="10" grpId="0" bldLvl="0" animBg="1"/>
      <p:bldP spid="11"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6" name="矩形 5"/>
          <p:cNvSpPr/>
          <p:nvPr/>
        </p:nvSpPr>
        <p:spPr>
          <a:xfrm>
            <a:off x="157480" y="203200"/>
            <a:ext cx="11856720" cy="6421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custDataLst>
              <p:tags r:id="rId2"/>
            </p:custDataLst>
          </p:nvPr>
        </p:nvSpPr>
        <p:spPr>
          <a:xfrm>
            <a:off x="367030" y="1853565"/>
            <a:ext cx="11602085" cy="1291590"/>
          </a:xfrm>
          <a:prstGeom prst="rect">
            <a:avLst/>
          </a:prstGeom>
          <a:noFill/>
          <a:ln w="9525">
            <a:noFill/>
          </a:ln>
        </p:spPr>
        <p:txBody>
          <a:bodyPr wrap="square">
            <a:spAutoFit/>
          </a:bodyPr>
          <a:p>
            <a:pPr indent="304800" fontAlgn="auto">
              <a:lnSpc>
                <a:spcPct val="150000"/>
              </a:lnSpc>
            </a:pPr>
            <a:r>
              <a:rPr sz="2600" b="0"/>
              <a:t>1.根据拼音写汉字。xuàn rǎn              </a:t>
            </a:r>
            <a:r>
              <a:rPr lang="en-US" sz="2600" b="0"/>
              <a:t>        </a:t>
            </a:r>
            <a:r>
              <a:rPr sz="2600" b="0"/>
              <a:t> </a:t>
            </a:r>
            <a:r>
              <a:rPr lang="en-US" sz="2600" b="0"/>
              <a:t>            </a:t>
            </a:r>
            <a:r>
              <a:rPr sz="2600" b="0"/>
              <a:t> (2分)</a:t>
            </a:r>
            <a:endParaRPr sz="2600" b="0"/>
          </a:p>
          <a:p>
            <a:pPr indent="304800" fontAlgn="auto">
              <a:lnSpc>
                <a:spcPct val="150000"/>
              </a:lnSpc>
            </a:pPr>
            <a:endParaRPr sz="2600" b="0"/>
          </a:p>
        </p:txBody>
      </p:sp>
      <p:sp>
        <p:nvSpPr>
          <p:cNvPr id="3" name="文本框 2"/>
          <p:cNvSpPr txBox="1"/>
          <p:nvPr>
            <p:custDataLst>
              <p:tags r:id="rId3"/>
            </p:custDataLst>
          </p:nvPr>
        </p:nvSpPr>
        <p:spPr>
          <a:xfrm>
            <a:off x="5087620" y="1447800"/>
            <a:ext cx="2697480" cy="1614805"/>
          </a:xfrm>
          <a:prstGeom prst="rect">
            <a:avLst/>
          </a:prstGeom>
          <a:noFill/>
        </p:spPr>
        <p:txBody>
          <a:bodyPr wrap="none" rtlCol="0" anchor="t">
            <a:spAutoFit/>
          </a:bodyPr>
          <a:p>
            <a:r>
              <a:rPr lang="zh-CN" altLang="en-US" sz="9900" b="1">
                <a:gradFill>
                  <a:gsLst>
                    <a:gs pos="0">
                      <a:srgbClr val="D92763"/>
                    </a:gs>
                    <a:gs pos="50000">
                      <a:srgbClr val="E3447A"/>
                    </a:gs>
                    <a:gs pos="100000">
                      <a:srgbClr val="EC6091"/>
                    </a:gs>
                  </a:gsLst>
                  <a:lin ang="5400000" scaled="1"/>
                </a:gradFill>
                <a:sym typeface="+mn-ea"/>
              </a:rPr>
              <a:t>渲染</a:t>
            </a:r>
            <a:endParaRPr lang="zh-CN" altLang="en-US" sz="9900" b="1">
              <a:gradFill>
                <a:gsLst>
                  <a:gs pos="0">
                    <a:srgbClr val="D92763"/>
                  </a:gs>
                  <a:gs pos="50000">
                    <a:srgbClr val="E3447A"/>
                  </a:gs>
                  <a:gs pos="100000">
                    <a:srgbClr val="EC6091"/>
                  </a:gs>
                </a:gsLst>
                <a:lin ang="5400000" scaled="1"/>
              </a:gra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6" name="矩形 5"/>
          <p:cNvSpPr/>
          <p:nvPr/>
        </p:nvSpPr>
        <p:spPr>
          <a:xfrm>
            <a:off x="157480" y="203200"/>
            <a:ext cx="11856720" cy="6421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2"/>
            </p:custDataLst>
          </p:nvPr>
        </p:nvSpPr>
        <p:spPr>
          <a:xfrm>
            <a:off x="532130" y="574675"/>
            <a:ext cx="11602085" cy="691515"/>
          </a:xfrm>
          <a:prstGeom prst="rect">
            <a:avLst/>
          </a:prstGeom>
          <a:noFill/>
          <a:ln w="9525">
            <a:noFill/>
          </a:ln>
        </p:spPr>
        <p:txBody>
          <a:bodyPr wrap="square">
            <a:spAutoFit/>
          </a:bodyPr>
          <a:p>
            <a:pPr indent="304800" fontAlgn="auto">
              <a:lnSpc>
                <a:spcPct val="150000"/>
              </a:lnSpc>
            </a:pPr>
            <a:r>
              <a:rPr sz="2600" b="0"/>
              <a:t>2.第⑦段画线句极具语言表现力，结合句中的加点词进行赏析。(5分)</a:t>
            </a:r>
            <a:endParaRPr sz="2600" b="0"/>
          </a:p>
        </p:txBody>
      </p:sp>
      <p:sp>
        <p:nvSpPr>
          <p:cNvPr id="4" name="文本框 3"/>
          <p:cNvSpPr txBox="1"/>
          <p:nvPr>
            <p:custDataLst>
              <p:tags r:id="rId3"/>
            </p:custDataLst>
          </p:nvPr>
        </p:nvSpPr>
        <p:spPr>
          <a:xfrm>
            <a:off x="706120" y="3343910"/>
            <a:ext cx="11068685" cy="2461260"/>
          </a:xfrm>
          <a:prstGeom prst="rect">
            <a:avLst/>
          </a:prstGeom>
          <a:noFill/>
        </p:spPr>
        <p:txBody>
          <a:bodyPr wrap="square" rtlCol="0" anchor="t">
            <a:spAutoFit/>
          </a:bodyPr>
          <a:p>
            <a:r>
              <a:rPr lang="zh-CN" altLang="en-US" sz="2800">
                <a:latin typeface="锦绣宋体" panose="02000503000000000000" charset="-122"/>
                <a:ea typeface="锦绣宋体" panose="02000503000000000000" charset="-122"/>
                <a:cs typeface="锦绣宋体" panose="02000503000000000000" charset="-122"/>
              </a:rPr>
              <a:t>“</a:t>
            </a:r>
            <a:r>
              <a:rPr lang="zh-CN" altLang="en-US" sz="2800">
                <a:solidFill>
                  <a:srgbClr val="B62807"/>
                </a:solidFill>
                <a:latin typeface="锦绣宋体" panose="02000503000000000000" charset="-122"/>
                <a:ea typeface="锦绣宋体" panose="02000503000000000000" charset="-122"/>
                <a:cs typeface="锦绣宋体" panose="02000503000000000000" charset="-122"/>
              </a:rPr>
              <a:t>饱满</a:t>
            </a:r>
            <a:r>
              <a:rPr lang="zh-CN" altLang="en-US" sz="2800">
                <a:latin typeface="锦绣宋体" panose="02000503000000000000" charset="-122"/>
                <a:ea typeface="锦绣宋体" panose="02000503000000000000" charset="-122"/>
                <a:cs typeface="锦绣宋体" panose="02000503000000000000" charset="-122"/>
              </a:rPr>
              <a:t>”既</a:t>
            </a:r>
            <a:r>
              <a:rPr lang="zh-CN" altLang="en-US" sz="2800">
                <a:solidFill>
                  <a:schemeClr val="tx1"/>
                </a:solidFill>
                <a:latin typeface="锦绣宋体" panose="02000503000000000000" charset="-122"/>
                <a:ea typeface="锦绣宋体" panose="02000503000000000000" charset="-122"/>
                <a:cs typeface="锦绣宋体" panose="02000503000000000000" charset="-122"/>
              </a:rPr>
              <a:t>指</a:t>
            </a:r>
            <a:r>
              <a:rPr lang="zh-CN" altLang="en-US" sz="2800">
                <a:latin typeface="锦绣宋体" panose="02000503000000000000" charset="-122"/>
                <a:ea typeface="锦绣宋体" panose="02000503000000000000" charset="-122"/>
                <a:cs typeface="锦绣宋体" panose="02000503000000000000" charset="-122"/>
              </a:rPr>
              <a:t>小男孩的外貌特点：小脸圆润(1分)，</a:t>
            </a:r>
            <a:endParaRPr lang="zh-CN" altLang="en-US" sz="2800">
              <a:latin typeface="锦绣宋体" panose="02000503000000000000" charset="-122"/>
              <a:ea typeface="锦绣宋体" panose="02000503000000000000" charset="-122"/>
              <a:cs typeface="锦绣宋体" panose="02000503000000000000" charset="-122"/>
            </a:endParaRPr>
          </a:p>
          <a:p>
            <a:pPr fontAlgn="auto">
              <a:lnSpc>
                <a:spcPct val="150000"/>
              </a:lnSpc>
            </a:pPr>
            <a:r>
              <a:rPr lang="zh-CN" altLang="en-US" sz="2800">
                <a:latin typeface="锦绣宋体" panose="02000503000000000000" charset="-122"/>
                <a:ea typeface="锦绣宋体" panose="02000503000000000000" charset="-122"/>
                <a:cs typeface="锦绣宋体" panose="02000503000000000000" charset="-122"/>
              </a:rPr>
              <a:t>又</a:t>
            </a:r>
            <a:r>
              <a:rPr lang="zh-CN" altLang="en-US" sz="2800">
                <a:solidFill>
                  <a:schemeClr val="tx1"/>
                </a:solidFill>
                <a:latin typeface="锦绣宋体" panose="02000503000000000000" charset="-122"/>
                <a:ea typeface="锦绣宋体" panose="02000503000000000000" charset="-122"/>
                <a:cs typeface="锦绣宋体" panose="02000503000000000000" charset="-122"/>
              </a:rPr>
              <a:t>指</a:t>
            </a:r>
            <a:r>
              <a:rPr lang="zh-CN" altLang="en-US" sz="2800">
                <a:latin typeface="锦绣宋体" panose="02000503000000000000" charset="-122"/>
                <a:ea typeface="锦绣宋体" panose="02000503000000000000" charset="-122"/>
                <a:cs typeface="锦绣宋体" panose="02000503000000000000" charset="-122"/>
              </a:rPr>
              <a:t>他说起唐诗或展示各种收藏和作品时内心的愉悦的精神状态(1分);</a:t>
            </a:r>
            <a:endParaRPr lang="zh-CN" altLang="en-US" sz="2800">
              <a:latin typeface="锦绣宋体" panose="02000503000000000000" charset="-122"/>
              <a:ea typeface="锦绣宋体" panose="02000503000000000000" charset="-122"/>
              <a:cs typeface="锦绣宋体" panose="02000503000000000000" charset="-122"/>
            </a:endParaRPr>
          </a:p>
          <a:p>
            <a:pPr fontAlgn="auto">
              <a:lnSpc>
                <a:spcPct val="150000"/>
              </a:lnSpc>
            </a:pPr>
            <a:r>
              <a:rPr lang="zh-CN" altLang="en-US" sz="2800">
                <a:latin typeface="锦绣宋体" panose="02000503000000000000" charset="-122"/>
                <a:ea typeface="锦绣宋体" panose="02000503000000000000" charset="-122"/>
                <a:cs typeface="锦绣宋体" panose="02000503000000000000" charset="-122"/>
              </a:rPr>
              <a:t>“</a:t>
            </a:r>
            <a:r>
              <a:rPr lang="zh-CN" altLang="en-US" sz="2800">
                <a:solidFill>
                  <a:srgbClr val="B62807"/>
                </a:solidFill>
                <a:latin typeface="锦绣宋体" panose="02000503000000000000" charset="-122"/>
                <a:ea typeface="锦绣宋体" panose="02000503000000000000" charset="-122"/>
                <a:cs typeface="锦绣宋体" panose="02000503000000000000" charset="-122"/>
              </a:rPr>
              <a:t>垮</a:t>
            </a:r>
            <a:r>
              <a:rPr lang="zh-CN" altLang="en-US" sz="2800">
                <a:latin typeface="锦绣宋体" panose="02000503000000000000" charset="-122"/>
                <a:ea typeface="锦绣宋体" panose="02000503000000000000" charset="-122"/>
                <a:cs typeface="锦绣宋体" panose="02000503000000000000" charset="-122"/>
              </a:rPr>
              <a:t>”是</a:t>
            </a:r>
            <a:r>
              <a:rPr lang="zh-CN" altLang="en-US" sz="2800">
                <a:solidFill>
                  <a:schemeClr val="tx1"/>
                </a:solidFill>
                <a:latin typeface="锦绣宋体" panose="02000503000000000000" charset="-122"/>
                <a:ea typeface="锦绣宋体" panose="02000503000000000000" charset="-122"/>
                <a:cs typeface="锦绣宋体" panose="02000503000000000000" charset="-122"/>
              </a:rPr>
              <a:t>指</a:t>
            </a:r>
            <a:r>
              <a:rPr lang="zh-CN" altLang="en-US" sz="2800">
                <a:latin typeface="锦绣宋体" panose="02000503000000000000" charset="-122"/>
                <a:ea typeface="锦绣宋体" panose="02000503000000000000" charset="-122"/>
                <a:cs typeface="锦绣宋体" panose="02000503000000000000" charset="-122"/>
              </a:rPr>
              <a:t>他得不到爸爸理解和支持的沮丧(1分)。</a:t>
            </a:r>
            <a:endParaRPr lang="zh-CN" altLang="en-US" sz="2800">
              <a:latin typeface="锦绣宋体" panose="02000503000000000000" charset="-122"/>
              <a:ea typeface="锦绣宋体" panose="02000503000000000000" charset="-122"/>
              <a:cs typeface="锦绣宋体" panose="02000503000000000000" charset="-122"/>
            </a:endParaRPr>
          </a:p>
          <a:p>
            <a:pPr fontAlgn="auto">
              <a:lnSpc>
                <a:spcPct val="150000"/>
              </a:lnSpc>
            </a:pPr>
            <a:r>
              <a:rPr lang="zh-CN" altLang="en-US" sz="2800">
                <a:latin typeface="锦绣宋体" panose="02000503000000000000" charset="-122"/>
                <a:ea typeface="锦绣宋体" panose="02000503000000000000" charset="-122"/>
                <a:cs typeface="锦绣宋体" panose="02000503000000000000" charset="-122"/>
              </a:rPr>
              <a:t>通过</a:t>
            </a:r>
            <a:r>
              <a:rPr lang="zh-CN" altLang="en-US" sz="2800">
                <a:solidFill>
                  <a:srgbClr val="BB300B"/>
                </a:solidFill>
                <a:latin typeface="锦绣宋体" panose="02000503000000000000" charset="-122"/>
                <a:ea typeface="锦绣宋体" panose="02000503000000000000" charset="-122"/>
                <a:cs typeface="锦绣宋体" panose="02000503000000000000" charset="-122"/>
              </a:rPr>
              <a:t>对比</a:t>
            </a:r>
            <a:r>
              <a:rPr lang="zh-CN" altLang="en-US" sz="2800">
                <a:latin typeface="锦绣宋体" panose="02000503000000000000" charset="-122"/>
                <a:ea typeface="锦绣宋体" panose="02000503000000000000" charset="-122"/>
                <a:cs typeface="锦绣宋体" panose="02000503000000000000" charset="-122"/>
              </a:rPr>
              <a:t>(1分)，突出小男孩对传统文化的热爱(1分)。</a:t>
            </a:r>
            <a:endParaRPr lang="zh-CN" altLang="en-US" sz="2800">
              <a:latin typeface="锦绣宋体" panose="02000503000000000000" charset="-122"/>
              <a:ea typeface="锦绣宋体" panose="02000503000000000000" charset="-122"/>
              <a:cs typeface="锦绣宋体" panose="02000503000000000000" charset="-122"/>
            </a:endParaRPr>
          </a:p>
        </p:txBody>
      </p:sp>
      <p:sp>
        <p:nvSpPr>
          <p:cNvPr id="7" name="椭圆 6"/>
          <p:cNvSpPr/>
          <p:nvPr>
            <p:custDataLst>
              <p:tags r:id="rId4"/>
            </p:custDataLst>
          </p:nvPr>
        </p:nvSpPr>
        <p:spPr>
          <a:xfrm>
            <a:off x="3807460" y="692785"/>
            <a:ext cx="1604010" cy="573405"/>
          </a:xfrm>
          <a:prstGeom prst="ellipse">
            <a:avLst/>
          </a:prstGeom>
          <a:noFill/>
          <a:ln w="19050">
            <a:solidFill>
              <a:srgbClr val="BB300B"/>
            </a:solidFill>
          </a:ln>
          <a:extLst>
            <a:ext uri="{909E8E84-426E-40DD-AFC4-6F175D3DCCD1}">
              <a14:hiddenFill xmlns:a14="http://schemas.microsoft.com/office/drawing/2010/main">
                <a:solidFill>
                  <a:srgbClr val="BB300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椭圆 7"/>
          <p:cNvSpPr/>
          <p:nvPr>
            <p:custDataLst>
              <p:tags r:id="rId5"/>
            </p:custDataLst>
          </p:nvPr>
        </p:nvSpPr>
        <p:spPr>
          <a:xfrm>
            <a:off x="9029700" y="744220"/>
            <a:ext cx="796290" cy="521970"/>
          </a:xfrm>
          <a:prstGeom prst="ellipse">
            <a:avLst/>
          </a:prstGeom>
          <a:noFill/>
          <a:ln w="19050">
            <a:solidFill>
              <a:srgbClr val="BB300B"/>
            </a:solidFill>
          </a:ln>
          <a:extLst>
            <a:ext uri="{909E8E84-426E-40DD-AFC4-6F175D3DCCD1}">
              <a14:hiddenFill xmlns:a14="http://schemas.microsoft.com/office/drawing/2010/main">
                <a:solidFill>
                  <a:srgbClr val="BB300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椭圆 8"/>
          <p:cNvSpPr/>
          <p:nvPr>
            <p:custDataLst>
              <p:tags r:id="rId6"/>
            </p:custDataLst>
          </p:nvPr>
        </p:nvSpPr>
        <p:spPr>
          <a:xfrm>
            <a:off x="7473950" y="692785"/>
            <a:ext cx="965200" cy="573405"/>
          </a:xfrm>
          <a:prstGeom prst="ellipse">
            <a:avLst/>
          </a:prstGeom>
          <a:noFill/>
          <a:ln w="19050">
            <a:solidFill>
              <a:srgbClr val="BB300B"/>
            </a:solidFill>
          </a:ln>
          <a:extLst>
            <a:ext uri="{909E8E84-426E-40DD-AFC4-6F175D3DCCD1}">
              <a14:hiddenFill xmlns:a14="http://schemas.microsoft.com/office/drawing/2010/main">
                <a:solidFill>
                  <a:srgbClr val="BB300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custDataLst>
              <p:tags r:id="rId7"/>
            </p:custDataLst>
          </p:nvPr>
        </p:nvSpPr>
        <p:spPr>
          <a:xfrm>
            <a:off x="796925" y="1328420"/>
            <a:ext cx="10696575" cy="1953260"/>
          </a:xfrm>
          <a:prstGeom prst="rect">
            <a:avLst/>
          </a:prstGeom>
          <a:noFill/>
          <a:ln w="9525">
            <a:noFill/>
          </a:ln>
        </p:spPr>
        <p:txBody>
          <a:bodyPr wrap="square">
            <a:spAutoFit/>
          </a:bodyPr>
          <a:p>
            <a:pPr indent="0"/>
            <a:r>
              <a:rPr lang="en-US" altLang="zh-CN" sz="2300" b="0">
                <a:ea typeface="宋体" panose="02010600030101010101" pitchFamily="2" charset="-122"/>
              </a:rPr>
              <a:t>……</a:t>
            </a:r>
            <a:r>
              <a:rPr lang="zh-CN" sz="2300" b="0">
                <a:ea typeface="宋体" panose="02010600030101010101" pitchFamily="2" charset="-122"/>
              </a:rPr>
              <a:t>他说:“我不喜欢动画里的二次元小孩，他们都是一个模子里出来的。唐诗才是我最喜欢的二次元世界，每次，只要扑通一声跳进唐诗的世界，就觉得浑身上下都洗得清爽极了。”</a:t>
            </a:r>
            <a:endParaRPr lang="zh-CN" sz="2300" b="0">
              <a:ea typeface="宋体" panose="02010600030101010101" pitchFamily="2" charset="-122"/>
            </a:endParaRPr>
          </a:p>
          <a:p>
            <a:pPr indent="0"/>
            <a:r>
              <a:rPr lang="zh-CN" sz="2300" b="0">
                <a:ea typeface="宋体" panose="02010600030101010101" pitchFamily="2" charset="-122"/>
              </a:rPr>
              <a:t> </a:t>
            </a:r>
            <a:r>
              <a:rPr lang="en-US" altLang="zh-CN" sz="2300" b="0">
                <a:ea typeface="宋体" panose="02010600030101010101" pitchFamily="2" charset="-122"/>
              </a:rPr>
              <a:t>      </a:t>
            </a:r>
            <a:r>
              <a:rPr lang="zh-CN" sz="2300">
                <a:ea typeface="宋体" panose="02010600030101010101" pitchFamily="2" charset="-122"/>
                <a:sym typeface="+mn-ea"/>
              </a:rPr>
              <a:t>⑦说到这里，</a:t>
            </a:r>
            <a:r>
              <a:rPr lang="zh-CN" sz="2900" b="0" u="sng">
                <a:ea typeface="宋体" panose="02010600030101010101" pitchFamily="2" charset="-122"/>
              </a:rPr>
              <a:t>他</a:t>
            </a:r>
            <a:r>
              <a:rPr lang="zh-CN" sz="2900" b="0" u="sng">
                <a:solidFill>
                  <a:srgbClr val="B62807"/>
                </a:solidFill>
                <a:ea typeface="宋体" panose="02010600030101010101" pitchFamily="2" charset="-122"/>
              </a:rPr>
              <a:t>饱满</a:t>
            </a:r>
            <a:r>
              <a:rPr lang="zh-CN" sz="2900" b="0" u="sng">
                <a:ea typeface="宋体" panose="02010600030101010101" pitchFamily="2" charset="-122"/>
              </a:rPr>
              <a:t>的小脸忽然</a:t>
            </a:r>
            <a:r>
              <a:rPr lang="zh-CN" sz="2900" b="0" u="sng">
                <a:solidFill>
                  <a:srgbClr val="B62807"/>
                </a:solidFill>
                <a:ea typeface="宋体" panose="02010600030101010101" pitchFamily="2" charset="-122"/>
              </a:rPr>
              <a:t>垮</a:t>
            </a:r>
            <a:r>
              <a:rPr lang="zh-CN" sz="2900" b="0" u="sng">
                <a:ea typeface="宋体" panose="02010600030101010101" pitchFamily="2" charset="-122"/>
              </a:rPr>
              <a:t>了下来，</a:t>
            </a:r>
            <a:r>
              <a:rPr lang="zh-CN" sz="2300" b="0">
                <a:ea typeface="宋体" panose="02010600030101010101" pitchFamily="2" charset="-122"/>
              </a:rPr>
              <a:t>有点沮丧地对我说:“我爸说，我是一个穿越过来的古人。他好像对我这么坐得住很担心……”</a:t>
            </a:r>
            <a:endParaRPr lang="zh-CN" sz="2300" b="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wipe(down)">
                                      <p:cBhvr>
                                        <p:cTn id="20" dur="500"/>
                                        <p:tgtEl>
                                          <p:spTgt spid="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wipe(down)">
                                      <p:cBhvr>
                                        <p:cTn id="25" dur="500"/>
                                        <p:tgtEl>
                                          <p:spTgt spid="4">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4">
                                            <p:txEl>
                                              <p:pRg st="2" end="2"/>
                                            </p:txEl>
                                          </p:spTgt>
                                        </p:tgtEl>
                                        <p:attrNameLst>
                                          <p:attrName>style.visibility</p:attrName>
                                        </p:attrNameLst>
                                      </p:cBhvr>
                                      <p:to>
                                        <p:strVal val="visible"/>
                                      </p:to>
                                    </p:set>
                                    <p:animEffect transition="in" filter="wipe(down)">
                                      <p:cBhvr>
                                        <p:cTn id="30" dur="500"/>
                                        <p:tgtEl>
                                          <p:spTgt spid="4">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wipe(down)">
                                      <p:cBhvr>
                                        <p:cTn id="35"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6" name="矩形 5"/>
          <p:cNvSpPr/>
          <p:nvPr/>
        </p:nvSpPr>
        <p:spPr>
          <a:xfrm>
            <a:off x="157480" y="203200"/>
            <a:ext cx="11856720" cy="6421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custDataLst>
              <p:tags r:id="rId2"/>
            </p:custDataLst>
          </p:nvPr>
        </p:nvSpPr>
        <p:spPr>
          <a:xfrm>
            <a:off x="120650" y="483235"/>
            <a:ext cx="11602085" cy="668020"/>
          </a:xfrm>
          <a:prstGeom prst="rect">
            <a:avLst/>
          </a:prstGeom>
          <a:noFill/>
          <a:ln w="9525">
            <a:noFill/>
          </a:ln>
        </p:spPr>
        <p:txBody>
          <a:bodyPr wrap="square">
            <a:spAutoFit/>
          </a:bodyPr>
          <a:p>
            <a:pPr indent="304800" fontAlgn="auto">
              <a:lnSpc>
                <a:spcPct val="150000"/>
              </a:lnSpc>
            </a:pPr>
            <a:r>
              <a:rPr sz="2500" b="0"/>
              <a:t>3.结合文章内容，完成填空。(7分)</a:t>
            </a:r>
            <a:endParaRPr sz="2500" b="0"/>
          </a:p>
        </p:txBody>
      </p:sp>
      <p:sp>
        <p:nvSpPr>
          <p:cNvPr id="4" name="文本框 3"/>
          <p:cNvSpPr txBox="1"/>
          <p:nvPr>
            <p:custDataLst>
              <p:tags r:id="rId3"/>
            </p:custDataLst>
          </p:nvPr>
        </p:nvSpPr>
        <p:spPr>
          <a:xfrm>
            <a:off x="305435" y="1128395"/>
            <a:ext cx="11589385" cy="3969385"/>
          </a:xfrm>
          <a:prstGeom prst="rect">
            <a:avLst/>
          </a:prstGeom>
          <a:noFill/>
          <a:ln w="9525">
            <a:noFill/>
          </a:ln>
        </p:spPr>
        <p:txBody>
          <a:bodyPr wrap="square">
            <a:spAutoFit/>
          </a:bodyPr>
          <a:p>
            <a:pPr indent="0" fontAlgn="auto">
              <a:lnSpc>
                <a:spcPct val="150000"/>
              </a:lnSpc>
            </a:pPr>
            <a:r>
              <a:rPr lang="zh-CN" sz="2400" b="0">
                <a:cs typeface="Times New Roman" panose="02020603050405020304" charset="0"/>
              </a:rPr>
              <a:t>他，一个与众不同的男孩，他的心恰似一座花园!当“10后”的孩子热衷于盲盒、游戏手柄、轮滑鞋</a:t>
            </a:r>
            <a:r>
              <a:rPr lang="en-US" sz="2400" b="0">
                <a:latin typeface="Times New Roman" panose="02020603050405020304" charset="0"/>
              </a:rPr>
              <a:t>……</a:t>
            </a:r>
            <a:r>
              <a:rPr lang="zh-CN" sz="2400" b="0">
                <a:cs typeface="Times New Roman" panose="02020603050405020304" charset="0"/>
              </a:rPr>
              <a:t>而他</a:t>
            </a:r>
            <a:r>
              <a:rPr lang="en-US" altLang="zh-CN" sz="2400" b="0">
                <a:cs typeface="Times New Roman" panose="02020603050405020304" charset="0"/>
              </a:rPr>
              <a:t>——</a:t>
            </a:r>
            <a:r>
              <a:rPr lang="zh-CN" sz="2400" b="0">
                <a:cs typeface="Times New Roman" panose="02020603050405020304" charset="0"/>
              </a:rPr>
              <a:t>刻字时，反复打磨美工刀，修掉四角木头，吹走木屑，是那么专注。印刷前，⑴</a:t>
            </a:r>
            <a:r>
              <a:rPr lang="en-US" sz="2400" b="0" u="sng">
                <a:latin typeface="Times New Roman" panose="02020603050405020304" charset="0"/>
                <a:cs typeface="Times New Roman" panose="02020603050405020304" charset="0"/>
              </a:rPr>
              <a:t>                                                                               </a:t>
            </a:r>
            <a:r>
              <a:rPr lang="zh-CN" sz="2400" b="0">
                <a:cs typeface="Times New Roman" panose="02020603050405020304" charset="0"/>
              </a:rPr>
              <a:t> ，是那么⑵</a:t>
            </a:r>
            <a:r>
              <a:rPr lang="en-US" sz="2400" b="0" u="sng">
                <a:latin typeface="Times New Roman" panose="02020603050405020304" charset="0"/>
                <a:cs typeface="Times New Roman" panose="02020603050405020304" charset="0"/>
              </a:rPr>
              <a:t>                    </a:t>
            </a:r>
            <a:r>
              <a:rPr lang="zh-CN" sz="2400" b="0">
                <a:latin typeface="Times New Roman" panose="02020603050405020304" charset="0"/>
                <a:ea typeface="宋体" panose="02010600030101010101" pitchFamily="2" charset="-122"/>
              </a:rPr>
              <a:t>。</a:t>
            </a:r>
            <a:r>
              <a:rPr lang="zh-CN" sz="2400" b="0">
                <a:cs typeface="Times New Roman" panose="02020603050405020304" charset="0"/>
              </a:rPr>
              <a:t>印刷时，刷墨、覆盖，轻压轻刷，揭开绵纸，是那么</a:t>
            </a:r>
            <a:r>
              <a:rPr lang="en-US" sz="2400" b="0">
                <a:latin typeface="Times New Roman" panose="02020603050405020304" charset="0"/>
              </a:rPr>
              <a:t>⑶</a:t>
            </a:r>
            <a:r>
              <a:rPr lang="en-US" sz="2400" b="0">
                <a:latin typeface="Times New Roman" panose="02020603050405020304" charset="0"/>
                <a:cs typeface="Times New Roman" panose="02020603050405020304" charset="0"/>
              </a:rPr>
              <a:t> </a:t>
            </a:r>
            <a:r>
              <a:rPr lang="en-US" sz="2400" b="0" u="sng">
                <a:latin typeface="Times New Roman" panose="02020603050405020304" charset="0"/>
                <a:cs typeface="Times New Roman" panose="02020603050405020304" charset="0"/>
              </a:rPr>
              <a:t>                         </a:t>
            </a:r>
            <a:r>
              <a:rPr lang="zh-CN" sz="2400" b="0">
                <a:latin typeface="Times New Roman" panose="02020603050405020304" charset="0"/>
                <a:ea typeface="宋体" panose="02010600030101010101" pitchFamily="2" charset="-122"/>
              </a:rPr>
              <a:t>。</a:t>
            </a:r>
            <a:r>
              <a:rPr lang="zh-CN" sz="2400" b="0">
                <a:cs typeface="Times New Roman" panose="02020603050405020304" charset="0"/>
              </a:rPr>
              <a:t>背诗时，</a:t>
            </a:r>
            <a:r>
              <a:rPr lang="en-US" sz="2400" b="0">
                <a:latin typeface="Times New Roman" panose="02020603050405020304" charset="0"/>
              </a:rPr>
              <a:t>⑷</a:t>
            </a:r>
            <a:r>
              <a:rPr lang="en-US" sz="2400" b="0" u="sng">
                <a:latin typeface="Times New Roman" panose="02020603050405020304" charset="0"/>
                <a:cs typeface="Times New Roman" panose="02020603050405020304" charset="0"/>
              </a:rPr>
              <a:t>                                                                    </a:t>
            </a:r>
            <a:r>
              <a:rPr lang="zh-CN" sz="2400" b="0">
                <a:cs typeface="Times New Roman" panose="02020603050405020304" charset="0"/>
              </a:rPr>
              <a:t> ，是那么自信。带我参观工作室时，⑸</a:t>
            </a:r>
            <a:r>
              <a:rPr lang="en-US" sz="2400" b="0" u="sng">
                <a:latin typeface="Times New Roman" panose="02020603050405020304" charset="0"/>
                <a:cs typeface="Times New Roman" panose="02020603050405020304" charset="0"/>
              </a:rPr>
              <a:t>                                                           </a:t>
            </a:r>
            <a:r>
              <a:rPr lang="zh-CN" sz="2400" b="0">
                <a:cs typeface="Times New Roman" panose="02020603050405020304" charset="0"/>
              </a:rPr>
              <a:t> ，是那么快乐。他的精神世界已经暗自长成了一个美丽的花园，草木葳蕤，万物竞生。</a:t>
            </a:r>
            <a:endParaRPr lang="zh-CN" altLang="en-US" sz="2400"/>
          </a:p>
        </p:txBody>
      </p:sp>
      <p:sp>
        <p:nvSpPr>
          <p:cNvPr id="2" name="文本框 1"/>
          <p:cNvSpPr txBox="1"/>
          <p:nvPr>
            <p:custDataLst>
              <p:tags r:id="rId4"/>
            </p:custDataLst>
          </p:nvPr>
        </p:nvSpPr>
        <p:spPr>
          <a:xfrm>
            <a:off x="4140835" y="2337435"/>
            <a:ext cx="5936615" cy="506730"/>
          </a:xfrm>
          <a:prstGeom prst="rect">
            <a:avLst/>
          </a:prstGeom>
          <a:noFill/>
        </p:spPr>
        <p:txBody>
          <a:bodyPr wrap="square" rtlCol="0" anchor="t">
            <a:spAutoFit/>
          </a:bodyPr>
          <a:p>
            <a:pPr algn="l"/>
            <a:r>
              <a:rPr lang="zh-CN" altLang="en-US" sz="2700" b="1">
                <a:solidFill>
                  <a:srgbClr val="B62807"/>
                </a:solidFill>
                <a:latin typeface="锦绣宋体" panose="02000503000000000000" charset="-122"/>
                <a:ea typeface="锦绣宋体" panose="02000503000000000000" charset="-122"/>
                <a:sym typeface="+mn-ea"/>
              </a:rPr>
              <a:t>蹲下来用目光丈量，直至满意</a:t>
            </a:r>
            <a:endParaRPr lang="zh-CN" altLang="en-US" sz="2700" b="1">
              <a:solidFill>
                <a:srgbClr val="B62807"/>
              </a:solidFill>
              <a:latin typeface="锦绣宋体" panose="02000503000000000000" charset="-122"/>
              <a:ea typeface="锦绣宋体" panose="02000503000000000000" charset="-122"/>
              <a:sym typeface="+mn-ea"/>
            </a:endParaRPr>
          </a:p>
        </p:txBody>
      </p:sp>
      <p:sp>
        <p:nvSpPr>
          <p:cNvPr id="7" name="文本框 6"/>
          <p:cNvSpPr txBox="1"/>
          <p:nvPr>
            <p:custDataLst>
              <p:tags r:id="rId5"/>
            </p:custDataLst>
          </p:nvPr>
        </p:nvSpPr>
        <p:spPr>
          <a:xfrm>
            <a:off x="802005" y="2882900"/>
            <a:ext cx="1557020" cy="506730"/>
          </a:xfrm>
          <a:prstGeom prst="rect">
            <a:avLst/>
          </a:prstGeom>
          <a:noFill/>
        </p:spPr>
        <p:txBody>
          <a:bodyPr wrap="none" rtlCol="0" anchor="t">
            <a:spAutoFit/>
          </a:bodyPr>
          <a:p>
            <a:pPr algn="l"/>
            <a:r>
              <a:rPr lang="zh-CN" altLang="en-US" sz="2700" b="1">
                <a:solidFill>
                  <a:srgbClr val="B62807"/>
                </a:solidFill>
                <a:latin typeface="锦绣宋体" panose="02000503000000000000" charset="-122"/>
                <a:ea typeface="锦绣宋体" panose="02000503000000000000" charset="-122"/>
                <a:sym typeface="+mn-ea"/>
              </a:rPr>
              <a:t>精益求精</a:t>
            </a:r>
            <a:endParaRPr lang="zh-CN" altLang="en-US" sz="2700" b="1">
              <a:solidFill>
                <a:srgbClr val="B62807"/>
              </a:solidFill>
              <a:latin typeface="锦绣宋体" panose="02000503000000000000" charset="-122"/>
              <a:ea typeface="锦绣宋体" panose="02000503000000000000" charset="-122"/>
              <a:sym typeface="+mn-ea"/>
            </a:endParaRPr>
          </a:p>
        </p:txBody>
      </p:sp>
      <p:sp>
        <p:nvSpPr>
          <p:cNvPr id="8" name="文本框 7"/>
          <p:cNvSpPr txBox="1"/>
          <p:nvPr>
            <p:custDataLst>
              <p:tags r:id="rId6"/>
            </p:custDataLst>
          </p:nvPr>
        </p:nvSpPr>
        <p:spPr>
          <a:xfrm>
            <a:off x="1070610" y="3404870"/>
            <a:ext cx="1624965" cy="506730"/>
          </a:xfrm>
          <a:prstGeom prst="rect">
            <a:avLst/>
          </a:prstGeom>
          <a:noFill/>
        </p:spPr>
        <p:txBody>
          <a:bodyPr wrap="square" rtlCol="0" anchor="t">
            <a:spAutoFit/>
          </a:bodyPr>
          <a:p>
            <a:pPr algn="l"/>
            <a:r>
              <a:rPr lang="zh-CN" altLang="en-US" sz="2700" b="1">
                <a:solidFill>
                  <a:srgbClr val="B62807"/>
                </a:solidFill>
                <a:latin typeface="锦绣宋体" panose="02000503000000000000" charset="-122"/>
                <a:ea typeface="锦绣宋体" panose="02000503000000000000" charset="-122"/>
                <a:sym typeface="+mn-ea"/>
              </a:rPr>
              <a:t>一丝不苟</a:t>
            </a:r>
            <a:endParaRPr lang="zh-CN" altLang="en-US" sz="2700" b="1">
              <a:solidFill>
                <a:srgbClr val="B62807"/>
              </a:solidFill>
              <a:latin typeface="锦绣宋体" panose="02000503000000000000" charset="-122"/>
              <a:ea typeface="锦绣宋体" panose="02000503000000000000" charset="-122"/>
              <a:sym typeface="+mn-ea"/>
            </a:endParaRPr>
          </a:p>
        </p:txBody>
      </p:sp>
      <p:sp>
        <p:nvSpPr>
          <p:cNvPr id="9" name="文本框 8"/>
          <p:cNvSpPr txBox="1"/>
          <p:nvPr>
            <p:custDataLst>
              <p:tags r:id="rId7"/>
            </p:custDataLst>
          </p:nvPr>
        </p:nvSpPr>
        <p:spPr>
          <a:xfrm>
            <a:off x="4617085" y="3404870"/>
            <a:ext cx="4992370" cy="506730"/>
          </a:xfrm>
          <a:prstGeom prst="rect">
            <a:avLst/>
          </a:prstGeom>
          <a:noFill/>
        </p:spPr>
        <p:txBody>
          <a:bodyPr wrap="none" rtlCol="0" anchor="t">
            <a:spAutoFit/>
          </a:bodyPr>
          <a:p>
            <a:pPr algn="l"/>
            <a:r>
              <a:rPr lang="zh-CN" altLang="en-US" sz="2700" b="1">
                <a:solidFill>
                  <a:srgbClr val="B62807"/>
                </a:solidFill>
                <a:latin typeface="锦绣宋体" panose="02000503000000000000" charset="-122"/>
                <a:ea typeface="锦绣宋体" panose="02000503000000000000" charset="-122"/>
                <a:sym typeface="+mn-ea"/>
              </a:rPr>
              <a:t>主动探讨不同阶段对诗意的理解</a:t>
            </a:r>
            <a:endParaRPr lang="zh-CN" altLang="en-US" sz="2700" b="1">
              <a:solidFill>
                <a:srgbClr val="B62807"/>
              </a:solidFill>
              <a:latin typeface="锦绣宋体" panose="02000503000000000000" charset="-122"/>
              <a:ea typeface="锦绣宋体" panose="02000503000000000000" charset="-122"/>
              <a:sym typeface="+mn-ea"/>
            </a:endParaRPr>
          </a:p>
        </p:txBody>
      </p:sp>
      <p:sp>
        <p:nvSpPr>
          <p:cNvPr id="10" name="文本框 9"/>
          <p:cNvSpPr txBox="1"/>
          <p:nvPr>
            <p:custDataLst>
              <p:tags r:id="rId8"/>
            </p:custDataLst>
          </p:nvPr>
        </p:nvSpPr>
        <p:spPr>
          <a:xfrm>
            <a:off x="3682365" y="3911600"/>
            <a:ext cx="4479290" cy="506730"/>
          </a:xfrm>
          <a:prstGeom prst="rect">
            <a:avLst/>
          </a:prstGeom>
          <a:noFill/>
        </p:spPr>
        <p:txBody>
          <a:bodyPr wrap="square" rtlCol="0" anchor="t">
            <a:spAutoFit/>
          </a:bodyPr>
          <a:p>
            <a:pPr algn="l"/>
            <a:r>
              <a:rPr lang="zh-CN" altLang="en-US" sz="2700" b="1">
                <a:solidFill>
                  <a:srgbClr val="B62807"/>
                </a:solidFill>
                <a:latin typeface="锦绣宋体" panose="02000503000000000000" charset="-122"/>
                <a:ea typeface="锦绣宋体" panose="02000503000000000000" charset="-122"/>
                <a:sym typeface="+mn-ea"/>
              </a:rPr>
              <a:t>向我展示各种收藏和作品</a:t>
            </a:r>
            <a:endParaRPr lang="zh-CN" altLang="en-US" sz="2700" b="1">
              <a:solidFill>
                <a:srgbClr val="B62807"/>
              </a:solidFill>
              <a:latin typeface="锦绣宋体" panose="02000503000000000000" charset="-122"/>
              <a:ea typeface="锦绣宋体" panose="02000503000000000000" charset="-122"/>
              <a:sym typeface="+mn-ea"/>
            </a:endParaRPr>
          </a:p>
        </p:txBody>
      </p:sp>
      <p:sp>
        <p:nvSpPr>
          <p:cNvPr id="3" name="椭圆 2"/>
          <p:cNvSpPr/>
          <p:nvPr>
            <p:custDataLst>
              <p:tags r:id="rId9"/>
            </p:custDataLst>
          </p:nvPr>
        </p:nvSpPr>
        <p:spPr>
          <a:xfrm>
            <a:off x="1483995" y="2294255"/>
            <a:ext cx="1212215" cy="573405"/>
          </a:xfrm>
          <a:prstGeom prst="ellipse">
            <a:avLst/>
          </a:prstGeom>
          <a:noFill/>
          <a:ln w="19050">
            <a:solidFill>
              <a:srgbClr val="BB300B"/>
            </a:solidFill>
          </a:ln>
          <a:extLst>
            <a:ext uri="{909E8E84-426E-40DD-AFC4-6F175D3DCCD1}">
              <a14:hiddenFill xmlns:a14="http://schemas.microsoft.com/office/drawing/2010/main">
                <a:solidFill>
                  <a:srgbClr val="BB300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椭圆 10"/>
          <p:cNvSpPr/>
          <p:nvPr>
            <p:custDataLst>
              <p:tags r:id="rId10"/>
            </p:custDataLst>
          </p:nvPr>
        </p:nvSpPr>
        <p:spPr>
          <a:xfrm>
            <a:off x="2470150" y="2882900"/>
            <a:ext cx="1212215" cy="573405"/>
          </a:xfrm>
          <a:prstGeom prst="ellipse">
            <a:avLst/>
          </a:prstGeom>
          <a:noFill/>
          <a:ln w="19050">
            <a:solidFill>
              <a:srgbClr val="BB300B"/>
            </a:solidFill>
          </a:ln>
          <a:extLst>
            <a:ext uri="{909E8E84-426E-40DD-AFC4-6F175D3DCCD1}">
              <a14:hiddenFill xmlns:a14="http://schemas.microsoft.com/office/drawing/2010/main">
                <a:solidFill>
                  <a:srgbClr val="BB300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custDataLst>
              <p:tags r:id="rId11"/>
            </p:custDataLst>
          </p:nvPr>
        </p:nvSpPr>
        <p:spPr>
          <a:xfrm>
            <a:off x="2823210" y="3456305"/>
            <a:ext cx="1212215" cy="573405"/>
          </a:xfrm>
          <a:prstGeom prst="ellipse">
            <a:avLst/>
          </a:prstGeom>
          <a:noFill/>
          <a:ln w="19050">
            <a:solidFill>
              <a:srgbClr val="BB300B"/>
            </a:solidFill>
          </a:ln>
          <a:extLst>
            <a:ext uri="{909E8E84-426E-40DD-AFC4-6F175D3DCCD1}">
              <a14:hiddenFill xmlns:a14="http://schemas.microsoft.com/office/drawing/2010/main">
                <a:solidFill>
                  <a:srgbClr val="BB300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椭圆 12"/>
          <p:cNvSpPr/>
          <p:nvPr>
            <p:custDataLst>
              <p:tags r:id="rId12"/>
            </p:custDataLst>
          </p:nvPr>
        </p:nvSpPr>
        <p:spPr>
          <a:xfrm>
            <a:off x="271780" y="3926840"/>
            <a:ext cx="2684145" cy="573405"/>
          </a:xfrm>
          <a:prstGeom prst="ellipse">
            <a:avLst/>
          </a:prstGeom>
          <a:noFill/>
          <a:ln w="19050">
            <a:solidFill>
              <a:srgbClr val="BB300B"/>
            </a:solidFill>
          </a:ln>
          <a:extLst>
            <a:ext uri="{909E8E84-426E-40DD-AFC4-6F175D3DCCD1}">
              <a14:hiddenFill xmlns:a14="http://schemas.microsoft.com/office/drawing/2010/main">
                <a:solidFill>
                  <a:srgbClr val="BB300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文本框 13"/>
          <p:cNvSpPr txBox="1"/>
          <p:nvPr>
            <p:custDataLst>
              <p:tags r:id="rId13"/>
            </p:custDataLst>
          </p:nvPr>
        </p:nvSpPr>
        <p:spPr>
          <a:xfrm>
            <a:off x="1938020" y="5187950"/>
            <a:ext cx="3226435" cy="506730"/>
          </a:xfrm>
          <a:prstGeom prst="rect">
            <a:avLst/>
          </a:prstGeom>
          <a:solidFill>
            <a:schemeClr val="accent4">
              <a:lumMod val="20000"/>
              <a:lumOff val="80000"/>
            </a:schemeClr>
          </a:solidFill>
          <a:ln w="9525">
            <a:noFill/>
          </a:ln>
        </p:spPr>
        <p:txBody>
          <a:bodyPr wrap="square">
            <a:spAutoFit/>
          </a:bodyPr>
          <a:p>
            <a:pPr indent="0"/>
            <a:r>
              <a:rPr lang="zh-CN" altLang="en-US" sz="2700" b="1">
                <a:solidFill>
                  <a:srgbClr val="000000"/>
                </a:solidFill>
                <a:latin typeface="新宋体" panose="02010609030101010101" pitchFamily="49" charset="-122"/>
                <a:ea typeface="新宋体" panose="02010609030101010101" pitchFamily="49" charset="-122"/>
              </a:rPr>
              <a:t>分段，精确到</a:t>
            </a:r>
            <a:r>
              <a:rPr lang="zh-CN" altLang="en-US" sz="2700" b="1">
                <a:solidFill>
                  <a:srgbClr val="000000"/>
                </a:solidFill>
                <a:latin typeface="新宋体" panose="02010609030101010101" pitchFamily="49" charset="-122"/>
                <a:ea typeface="新宋体" panose="02010609030101010101" pitchFamily="49" charset="-122"/>
              </a:rPr>
              <a:t>句子</a:t>
            </a:r>
            <a:endParaRPr lang="zh-CN" altLang="en-US" sz="2700" b="1">
              <a:solidFill>
                <a:srgbClr val="000000"/>
              </a:solidFill>
              <a:latin typeface="新宋体" panose="02010609030101010101" pitchFamily="49" charset="-122"/>
              <a:ea typeface="新宋体"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1"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linds(horizontal)">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1"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blinds(horizontal)">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1"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ppt_x"/>
                                          </p:val>
                                        </p:tav>
                                        <p:tav tm="100000">
                                          <p:val>
                                            <p:strVal val="#ppt_x"/>
                                          </p:val>
                                        </p:tav>
                                      </p:tavLst>
                                    </p:anim>
                                    <p:anim calcmode="lin" valueType="num">
                                      <p:cBhvr additive="base">
                                        <p:cTn id="41"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blinds(horizontal)">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1"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additive="base">
                                        <p:cTn id="51" dur="500" fill="hold"/>
                                        <p:tgtEl>
                                          <p:spTgt spid="10"/>
                                        </p:tgtEl>
                                        <p:attrNameLst>
                                          <p:attrName>ppt_x</p:attrName>
                                        </p:attrNameLst>
                                      </p:cBhvr>
                                      <p:tavLst>
                                        <p:tav tm="0">
                                          <p:val>
                                            <p:strVal val="#ppt_x"/>
                                          </p:val>
                                        </p:tav>
                                        <p:tav tm="100000">
                                          <p:val>
                                            <p:strVal val="#ppt_x"/>
                                          </p:val>
                                        </p:tav>
                                      </p:tavLst>
                                    </p:anim>
                                    <p:anim calcmode="lin" valueType="num">
                                      <p:cBhvr additive="base">
                                        <p:cTn id="52"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P spid="9" grpId="0"/>
      <p:bldP spid="10" grpId="0"/>
      <p:bldP spid="3" grpId="0" bldLvl="0" animBg="1"/>
      <p:bldP spid="11" grpId="0" bldLvl="0" animBg="1"/>
      <p:bldP spid="12" grpId="0" bldLvl="0" animBg="1"/>
      <p:bldP spid="13" grpId="0" bldLvl="0" animBg="1"/>
      <p:bldP spid="14"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6" name="矩形 5"/>
          <p:cNvSpPr/>
          <p:nvPr/>
        </p:nvSpPr>
        <p:spPr>
          <a:xfrm>
            <a:off x="157480" y="203200"/>
            <a:ext cx="11856720" cy="6421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custDataLst>
              <p:tags r:id="rId2"/>
            </p:custDataLst>
          </p:nvPr>
        </p:nvSpPr>
        <p:spPr>
          <a:xfrm>
            <a:off x="294640" y="1096645"/>
            <a:ext cx="11602085" cy="2861310"/>
          </a:xfrm>
          <a:prstGeom prst="rect">
            <a:avLst/>
          </a:prstGeom>
          <a:noFill/>
          <a:ln w="9525">
            <a:noFill/>
          </a:ln>
        </p:spPr>
        <p:txBody>
          <a:bodyPr wrap="square">
            <a:spAutoFit/>
          </a:bodyPr>
          <a:p>
            <a:pPr indent="304800" fontAlgn="auto">
              <a:lnSpc>
                <a:spcPct val="150000"/>
              </a:lnSpc>
            </a:pPr>
            <a:r>
              <a:rPr sz="2400" b="0"/>
              <a:t>4.第10段画线句的理解不恰当的一项是(   </a:t>
            </a:r>
            <a:r>
              <a:rPr lang="en-US" sz="2400" b="0"/>
              <a:t>       </a:t>
            </a:r>
            <a:r>
              <a:rPr sz="2400" b="0"/>
              <a:t>  ) (2分)</a:t>
            </a:r>
            <a:endParaRPr sz="2400" b="0"/>
          </a:p>
          <a:p>
            <a:pPr indent="304800" fontAlgn="auto">
              <a:lnSpc>
                <a:spcPct val="150000"/>
              </a:lnSpc>
            </a:pPr>
            <a:r>
              <a:rPr lang="en-US" sz="2400" b="0"/>
              <a:t>  </a:t>
            </a:r>
            <a:r>
              <a:rPr sz="2400" b="0"/>
              <a:t>A.对于孩子的成长中表现出来的与众不同，我们不必过多忧虑。</a:t>
            </a:r>
            <a:endParaRPr sz="2400" b="0"/>
          </a:p>
          <a:p>
            <a:pPr indent="304800" fontAlgn="auto">
              <a:lnSpc>
                <a:spcPct val="150000"/>
              </a:lnSpc>
            </a:pPr>
            <a:r>
              <a:rPr lang="en-US" sz="2400" b="0"/>
              <a:t>  </a:t>
            </a:r>
            <a:r>
              <a:rPr sz="2400" b="0"/>
              <a:t>B.我们要尊重孩子的个性发展，给予每个孩子不同的发展空间。</a:t>
            </a:r>
            <a:endParaRPr sz="2400" b="0"/>
          </a:p>
          <a:p>
            <a:pPr indent="304800" fontAlgn="auto">
              <a:lnSpc>
                <a:spcPct val="150000"/>
              </a:lnSpc>
            </a:pPr>
            <a:r>
              <a:rPr lang="en-US" sz="2400" b="0"/>
              <a:t>  </a:t>
            </a:r>
            <a:r>
              <a:rPr sz="2400" b="0"/>
              <a:t>C.对于孩子的成长，我们只需顺其自然，任其发展。</a:t>
            </a:r>
            <a:endParaRPr sz="2400" b="0"/>
          </a:p>
          <a:p>
            <a:pPr indent="304800" fontAlgn="auto">
              <a:lnSpc>
                <a:spcPct val="150000"/>
              </a:lnSpc>
            </a:pPr>
            <a:r>
              <a:rPr lang="en-US" sz="2400" b="0"/>
              <a:t>  </a:t>
            </a:r>
            <a:r>
              <a:rPr sz="2400" b="0"/>
              <a:t>D.看到孩子身上个性化的潜质，我们要保护、支持与鼓励，静待花开。</a:t>
            </a:r>
            <a:endParaRPr sz="2400" b="0"/>
          </a:p>
        </p:txBody>
      </p:sp>
      <p:sp>
        <p:nvSpPr>
          <p:cNvPr id="3" name="文本框 2"/>
          <p:cNvSpPr txBox="1"/>
          <p:nvPr>
            <p:custDataLst>
              <p:tags r:id="rId3"/>
            </p:custDataLst>
          </p:nvPr>
        </p:nvSpPr>
        <p:spPr>
          <a:xfrm>
            <a:off x="6181090" y="831850"/>
            <a:ext cx="398145" cy="1106805"/>
          </a:xfrm>
          <a:prstGeom prst="rect">
            <a:avLst/>
          </a:prstGeom>
          <a:noFill/>
        </p:spPr>
        <p:txBody>
          <a:bodyPr wrap="square" rtlCol="0" anchor="t">
            <a:spAutoFit/>
          </a:bodyPr>
          <a:p>
            <a:r>
              <a:rPr lang="en-US" altLang="zh-CN" sz="6600" b="1">
                <a:solidFill>
                  <a:srgbClr val="E58086"/>
                </a:solidFill>
                <a:sym typeface="+mn-ea"/>
              </a:rPr>
              <a:t>C</a:t>
            </a:r>
            <a:endParaRPr lang="en-US" altLang="zh-CN" sz="6600" b="1">
              <a:solidFill>
                <a:srgbClr val="E58086"/>
              </a:solidFill>
              <a:sym typeface="+mn-ea"/>
            </a:endParaRPr>
          </a:p>
        </p:txBody>
      </p:sp>
      <p:sp>
        <p:nvSpPr>
          <p:cNvPr id="7" name="椭圆 6"/>
          <p:cNvSpPr/>
          <p:nvPr>
            <p:custDataLst>
              <p:tags r:id="rId4"/>
            </p:custDataLst>
          </p:nvPr>
        </p:nvSpPr>
        <p:spPr>
          <a:xfrm>
            <a:off x="4090035" y="2830195"/>
            <a:ext cx="717550" cy="573405"/>
          </a:xfrm>
          <a:prstGeom prst="ellipse">
            <a:avLst/>
          </a:prstGeom>
          <a:noFill/>
          <a:ln w="19050">
            <a:solidFill>
              <a:srgbClr val="BB300B"/>
            </a:solidFill>
          </a:ln>
          <a:extLst>
            <a:ext uri="{909E8E84-426E-40DD-AFC4-6F175D3DCCD1}">
              <a14:hiddenFill xmlns:a14="http://schemas.microsoft.com/office/drawing/2010/main">
                <a:solidFill>
                  <a:srgbClr val="BB300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11" r="6435" b="5720"/>
          <a:stretch>
            <a:fillRect/>
          </a:stretch>
        </p:blipFill>
        <p:spPr>
          <a:xfrm rot="5400000">
            <a:off x="2666998" y="-2667000"/>
            <a:ext cx="6858002" cy="12192002"/>
          </a:xfrm>
          <a:prstGeom prst="rect">
            <a:avLst/>
          </a:prstGeom>
        </p:spPr>
      </p:pic>
      <p:sp>
        <p:nvSpPr>
          <p:cNvPr id="6" name="矩形 5"/>
          <p:cNvSpPr/>
          <p:nvPr/>
        </p:nvSpPr>
        <p:spPr>
          <a:xfrm>
            <a:off x="157480" y="203200"/>
            <a:ext cx="11856720" cy="6421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custDataLst>
              <p:tags r:id="rId2"/>
            </p:custDataLst>
          </p:nvPr>
        </p:nvSpPr>
        <p:spPr>
          <a:xfrm>
            <a:off x="638175" y="1019175"/>
            <a:ext cx="11602085" cy="737235"/>
          </a:xfrm>
          <a:prstGeom prst="rect">
            <a:avLst/>
          </a:prstGeom>
          <a:noFill/>
          <a:ln w="9525">
            <a:noFill/>
          </a:ln>
        </p:spPr>
        <p:txBody>
          <a:bodyPr wrap="square">
            <a:spAutoFit/>
          </a:bodyPr>
          <a:p>
            <a:pPr indent="304800" fontAlgn="auto">
              <a:lnSpc>
                <a:spcPct val="150000"/>
              </a:lnSpc>
            </a:pPr>
            <a:r>
              <a:rPr sz="2800" b="0"/>
              <a:t>5.本文标题的妙处是（4分)</a:t>
            </a:r>
            <a:endParaRPr sz="2800" b="0"/>
          </a:p>
        </p:txBody>
      </p:sp>
      <p:sp>
        <p:nvSpPr>
          <p:cNvPr id="2" name="文本框 1"/>
          <p:cNvSpPr txBox="1"/>
          <p:nvPr>
            <p:custDataLst>
              <p:tags r:id="rId3"/>
            </p:custDataLst>
          </p:nvPr>
        </p:nvSpPr>
        <p:spPr>
          <a:xfrm>
            <a:off x="1044575" y="1935480"/>
            <a:ext cx="11068685" cy="2676525"/>
          </a:xfrm>
          <a:prstGeom prst="rect">
            <a:avLst/>
          </a:prstGeom>
          <a:noFill/>
        </p:spPr>
        <p:txBody>
          <a:bodyPr wrap="square" rtlCol="0" anchor="t">
            <a:spAutoFit/>
          </a:bodyPr>
          <a:p>
            <a:pPr fontAlgn="auto">
              <a:lnSpc>
                <a:spcPct val="150000"/>
              </a:lnSpc>
            </a:pPr>
            <a:r>
              <a:rPr lang="zh-CN" altLang="en-US" sz="2800">
                <a:latin typeface="锦绣宋体" panose="02000503000000000000" charset="-122"/>
                <a:ea typeface="锦绣宋体" panose="02000503000000000000" charset="-122"/>
                <a:cs typeface="锦绣宋体" panose="02000503000000000000" charset="-122"/>
              </a:rPr>
              <a:t>运用</a:t>
            </a:r>
            <a:r>
              <a:rPr lang="zh-CN" altLang="en-US" sz="2800">
                <a:solidFill>
                  <a:srgbClr val="BB300B"/>
                </a:solidFill>
                <a:latin typeface="锦绣宋体" panose="02000503000000000000" charset="-122"/>
                <a:ea typeface="锦绣宋体" panose="02000503000000000000" charset="-122"/>
                <a:cs typeface="锦绣宋体" panose="02000503000000000000" charset="-122"/>
              </a:rPr>
              <a:t>比喻</a:t>
            </a:r>
            <a:r>
              <a:rPr lang="zh-CN" altLang="en-US" sz="2800">
                <a:latin typeface="锦绣宋体" panose="02000503000000000000" charset="-122"/>
                <a:ea typeface="锦绣宋体" panose="02000503000000000000" charset="-122"/>
                <a:cs typeface="锦绣宋体" panose="02000503000000000000" charset="-122"/>
              </a:rPr>
              <a:t>的修辞手法，把</a:t>
            </a:r>
            <a:r>
              <a:rPr lang="zh-CN" altLang="en-US" sz="2800" u="sng">
                <a:latin typeface="锦绣宋体" panose="02000503000000000000" charset="-122"/>
                <a:ea typeface="锦绣宋体" panose="02000503000000000000" charset="-122"/>
                <a:cs typeface="锦绣宋体" panose="02000503000000000000" charset="-122"/>
              </a:rPr>
              <a:t>小男孩的心比作花园</a:t>
            </a:r>
            <a:r>
              <a:rPr lang="zh-CN" altLang="en-US" sz="2800">
                <a:latin typeface="锦绣宋体" panose="02000503000000000000" charset="-122"/>
                <a:ea typeface="锦绣宋体" panose="02000503000000000000" charset="-122"/>
                <a:cs typeface="锦绣宋体" panose="02000503000000000000" charset="-122"/>
              </a:rPr>
              <a:t>(1分)，</a:t>
            </a:r>
            <a:endParaRPr lang="zh-CN" altLang="en-US" sz="2800">
              <a:latin typeface="锦绣宋体" panose="02000503000000000000" charset="-122"/>
              <a:ea typeface="锦绣宋体" panose="02000503000000000000" charset="-122"/>
              <a:cs typeface="锦绣宋体" panose="02000503000000000000" charset="-122"/>
            </a:endParaRPr>
          </a:p>
          <a:p>
            <a:pPr fontAlgn="auto">
              <a:lnSpc>
                <a:spcPct val="150000"/>
              </a:lnSpc>
            </a:pPr>
            <a:r>
              <a:rPr lang="zh-CN" altLang="en-US" sz="2800">
                <a:latin typeface="锦绣宋体" panose="02000503000000000000" charset="-122"/>
                <a:ea typeface="锦绣宋体" panose="02000503000000000000" charset="-122"/>
                <a:cs typeface="锦绣宋体" panose="02000503000000000000" charset="-122"/>
              </a:rPr>
              <a:t>吸引读者的阅读兴趣(1分)，</a:t>
            </a:r>
            <a:endParaRPr lang="zh-CN" altLang="en-US" sz="2800">
              <a:latin typeface="锦绣宋体" panose="02000503000000000000" charset="-122"/>
              <a:ea typeface="锦绣宋体" panose="02000503000000000000" charset="-122"/>
              <a:cs typeface="锦绣宋体" panose="02000503000000000000" charset="-122"/>
            </a:endParaRPr>
          </a:p>
          <a:p>
            <a:pPr fontAlgn="auto">
              <a:lnSpc>
                <a:spcPct val="150000"/>
              </a:lnSpc>
            </a:pPr>
            <a:r>
              <a:rPr lang="zh-CN" altLang="en-US" sz="2800">
                <a:latin typeface="锦绣宋体" panose="02000503000000000000" charset="-122"/>
                <a:ea typeface="锦绣宋体" panose="02000503000000000000" charset="-122"/>
                <a:cs typeface="锦绣宋体" panose="02000503000000000000" charset="-122"/>
              </a:rPr>
              <a:t>赞美了小男孩在中国文化的熏陶下美丽、生机勃勃的精神世界</a:t>
            </a:r>
            <a:endParaRPr lang="zh-CN" altLang="en-US" sz="2800">
              <a:latin typeface="锦绣宋体" panose="02000503000000000000" charset="-122"/>
              <a:ea typeface="锦绣宋体" panose="02000503000000000000" charset="-122"/>
              <a:cs typeface="锦绣宋体" panose="02000503000000000000" charset="-122"/>
            </a:endParaRPr>
          </a:p>
          <a:p>
            <a:pPr fontAlgn="auto">
              <a:lnSpc>
                <a:spcPct val="150000"/>
              </a:lnSpc>
            </a:pPr>
            <a:r>
              <a:rPr lang="zh-CN" altLang="en-US" sz="2800">
                <a:latin typeface="锦绣宋体" panose="02000503000000000000" charset="-122"/>
                <a:ea typeface="锦绣宋体" panose="02000503000000000000" charset="-122"/>
                <a:cs typeface="锦绣宋体" panose="02000503000000000000" charset="-122"/>
              </a:rPr>
              <a:t>(或暗含作者对小男孩美丽、生机勃勃的精神世界的肯定)(2分)。</a:t>
            </a:r>
            <a:endParaRPr lang="zh-CN" altLang="en-US" sz="2800">
              <a:latin typeface="锦绣宋体" panose="02000503000000000000" charset="-122"/>
              <a:ea typeface="锦绣宋体" panose="02000503000000000000" charset="-122"/>
              <a:cs typeface="锦绣宋体" panose="02000503000000000000" charset="-122"/>
            </a:endParaRPr>
          </a:p>
        </p:txBody>
      </p:sp>
      <p:sp>
        <p:nvSpPr>
          <p:cNvPr id="7" name="椭圆 6"/>
          <p:cNvSpPr/>
          <p:nvPr>
            <p:custDataLst>
              <p:tags r:id="rId4"/>
            </p:custDataLst>
          </p:nvPr>
        </p:nvSpPr>
        <p:spPr>
          <a:xfrm>
            <a:off x="3011805" y="1183005"/>
            <a:ext cx="873760" cy="573405"/>
          </a:xfrm>
          <a:prstGeom prst="ellipse">
            <a:avLst/>
          </a:prstGeom>
          <a:noFill/>
          <a:ln w="19050">
            <a:solidFill>
              <a:srgbClr val="BB300B"/>
            </a:solidFill>
          </a:ln>
          <a:extLst>
            <a:ext uri="{909E8E84-426E-40DD-AFC4-6F175D3DCCD1}">
              <a14:hiddenFill xmlns:a14="http://schemas.microsoft.com/office/drawing/2010/main">
                <a:solidFill>
                  <a:srgbClr val="BB300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500"/>
                                        <p:tgtEl>
                                          <p:spTgt spid="2">
                                            <p:txEl>
                                              <p:pRg st="2" end="2"/>
                                            </p:txEl>
                                          </p:spTgt>
                                        </p:tgtEl>
                                      </p:cBhvr>
                                    </p:animEffect>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wipe(down)">
                                      <p:cBhvr>
                                        <p:cTn id="21" dur="500"/>
                                        <p:tgtEl>
                                          <p:spTgt spid="2">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UNIT_PLACING_PICTURE_USER_VIEWPORT" val="{&quot;height&quot;:1333.051968503937,&quot;width&quot;:1629.2850393700787}"/>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PP_MARK_KEY" val="2a9f00f2-6246-4202-8b28-8788f00aa119"/>
  <p:tag name="COMMONDATA" val="eyJoZGlkIjoiYWQ2MjA2N2FkZjE3NzVmNjYxN2Q5Y2RiNzQ3NmRmNmEifQ=="/>
  <p:tag name="commondata" val="eyJoZGlkIjoiOWNkNmIyM2ExOGJiMGNlYzJhNjRjNjAwODhhMDM2YT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9020</Words>
  <Application>WPS 演示</Application>
  <PresentationFormat>宽屏</PresentationFormat>
  <Paragraphs>439</Paragraphs>
  <Slides>34</Slides>
  <Notes>2</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34</vt:i4>
      </vt:variant>
    </vt:vector>
  </HeadingPairs>
  <TitlesOfParts>
    <vt:vector size="51" baseType="lpstr">
      <vt:lpstr>Arial</vt:lpstr>
      <vt:lpstr>宋体</vt:lpstr>
      <vt:lpstr>Wingdings</vt:lpstr>
      <vt:lpstr>新宋体</vt:lpstr>
      <vt:lpstr>汉仪大宋简</vt:lpstr>
      <vt:lpstr>Times New Roman</vt:lpstr>
      <vt:lpstr>楷体</vt:lpstr>
      <vt:lpstr>Times New Roman</vt:lpstr>
      <vt:lpstr>等线</vt:lpstr>
      <vt:lpstr>微软雅黑</vt:lpstr>
      <vt:lpstr>Arial Unicode MS</vt:lpstr>
      <vt:lpstr>等线 Light</vt:lpstr>
      <vt:lpstr>黑体</vt:lpstr>
      <vt:lpstr>锦绣宋体</vt:lpstr>
      <vt:lpstr>Calibri</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320</cp:lastModifiedBy>
  <cp:revision>10</cp:revision>
  <dcterms:created xsi:type="dcterms:W3CDTF">2026-10-07T11:10:00Z</dcterms:created>
  <dcterms:modified xsi:type="dcterms:W3CDTF">2026-10-08T03:56:00Z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1C01158BA4F94B2487A6BF5F356A7DA9_13</vt:lpwstr>
  </property>
  <property fmtid="{D5CDD505-2E9C-101B-9397-08002B2CF9AE}" pid="3" name="KSOProductBuildVer">
    <vt:lpwstr>2052-12.1.0.28505</vt:lpwstr>
  </property>
</Properties>
</file>