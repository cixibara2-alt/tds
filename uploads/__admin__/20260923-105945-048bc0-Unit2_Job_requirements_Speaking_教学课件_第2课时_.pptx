
<file path=[Content_Types].xml><?xml version="1.0" encoding="utf-8"?>
<Types xmlns="http://schemas.openxmlformats.org/package/2006/content-types"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98" d="100"/>
          <a:sy n="198" d="100"/>
        </p:scale>
        <p:origin x="96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22" d="100"/>
          <a:sy n="122" d="100"/>
        </p:scale>
        <p:origin x="5660" y="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开场：回顾job ads的requirements，抛出 What does it take to get your dream job?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1分钟过目标；终点任务：说出自己的梦想职业与第一步行动。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约3分钟。用第1课时广告Requirements栏唤醒词汇；抛出主问题。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约4分钟。一听抓三层：dream job / why / present action。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约4分钟。二听抓要求与鼓励；朗读划出五步功能链。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约2分钟。五步功能链板书化；强调要求句的 need to / have to / will need to 变体。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约3分钟。补白+转换练习；让义务表达脱离单一must。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约2分钟。读卡片；说明可自选职业。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约9分钟（含S8）。示范→扮演→换角色→展示互评。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约5分钟。个人计划四句+结对分享；回扣BQ与Ms Chen金句。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约2分钟。回顾功能链；分层作业；预告C板块。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microsoft.com/office/2007/relationships/media" Target="../media/media1.mp3"/><Relationship Id="rId1" Type="http://schemas.openxmlformats.org/officeDocument/2006/relationships/audio" Target="../media/media1.mp3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5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2011680"/>
            <a:ext cx="4754880" cy="4754880"/>
          </a:xfrm>
          <a:prstGeom prst="ellipse">
            <a:avLst/>
          </a:prstGeom>
          <a:solidFill>
            <a:srgbClr val="E8A33D">
              <a:alpha val="25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503920" y="3566160"/>
            <a:ext cx="2103120" cy="2103120"/>
          </a:xfrm>
          <a:prstGeom prst="ellipse">
            <a:avLst/>
          </a:prstGeom>
          <a:solidFill>
            <a:srgbClr val="F96167">
              <a:alpha val="28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2 · PEOPLE AND THEIR JOBS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Speaking: Job requirements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Talking about my dream job — and what it takes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EA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Period 2 · Grade 9 · 沪教版（五四学制）九年级上册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-1097280"/>
            <a:ext cx="2377440" cy="2377440"/>
          </a:xfrm>
          <a:prstGeom prst="ellipse">
            <a:avLst/>
          </a:prstGeom>
          <a:solidFill>
            <a:srgbClr val="E8A33D">
              <a:alpha val="12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914400" y="4206240"/>
            <a:ext cx="2011680" cy="2011680"/>
          </a:xfrm>
          <a:prstGeom prst="ellipse">
            <a:avLst/>
          </a:prstGeom>
          <a:solidFill>
            <a:srgbClr val="14555A">
              <a:alpha val="8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11480" y="292608"/>
            <a:ext cx="475488" cy="475488"/>
          </a:xfrm>
          <a:prstGeom prst="ellipse">
            <a:avLst/>
          </a:prstGeom>
          <a:solidFill>
            <a:srgbClr val="14555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◎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"/>
            <a:ext cx="76809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5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Our goals today 今天的目标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2 People and their jobs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4F7F7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rgbClr val="14555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132588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 Yiming's dream-job talk: reason → requirements → action → encouragement.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4F7F7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937760" y="1645920"/>
            <a:ext cx="548640" cy="548640"/>
          </a:xfrm>
          <a:prstGeom prst="ellipse">
            <a:avLst/>
          </a:prstGeom>
          <a:solidFill>
            <a:srgbClr val="14555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937760" y="1645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0" y="132588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obligation sentences: It's necessary for me to … / It's my duty to …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4F7F7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85800" y="3429000"/>
            <a:ext cx="548640" cy="548640"/>
          </a:xfrm>
          <a:prstGeom prst="ellipse">
            <a:avLst/>
          </a:prstGeom>
          <a:solidFill>
            <a:srgbClr val="14555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85800" y="34290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310896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Role-play: talk about a dream job with the job cards (both roles!).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4F7F7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937760" y="3429000"/>
            <a:ext cx="548640" cy="548640"/>
          </a:xfrm>
          <a:prstGeom prst="ellipse">
            <a:avLst/>
          </a:prstGeom>
          <a:solidFill>
            <a:srgbClr val="F96167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937760" y="34290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69280" y="310896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 YOUR dream job and your first step towards it.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-1097280"/>
            <a:ext cx="2377440" cy="2377440"/>
          </a:xfrm>
          <a:prstGeom prst="ellipse">
            <a:avLst/>
          </a:prstGeom>
          <a:solidFill>
            <a:srgbClr val="E8A33D">
              <a:alpha val="12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914400" y="4206240"/>
            <a:ext cx="2011680" cy="2011680"/>
          </a:xfrm>
          <a:prstGeom prst="ellipse">
            <a:avLst/>
          </a:prstGeom>
          <a:solidFill>
            <a:srgbClr val="14555A">
              <a:alpha val="8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11480" y="292608"/>
            <a:ext cx="475488" cy="475488"/>
          </a:xfrm>
          <a:prstGeom prst="ellipse">
            <a:avLst/>
          </a:prstGeom>
          <a:solidFill>
            <a:srgbClr val="14555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"/>
            <a:ext cx="76809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5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Lead-in: what does it take?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2 People and their jobs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4F7F7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REQUIREMENTS: Degree in medicine · Training in emergency care · Excellent communication skills …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11" name="Text 9"/>
          <p:cNvSpPr/>
          <p:nvPr/>
        </p:nvSpPr>
        <p:spPr>
          <a:xfrm>
            <a:off x="777240" y="2651760"/>
            <a:ext cx="75895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does “requirements” mean in a job ad?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does it take to get YOUR dream job?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Today: Yiming asks Ms Chen the very same question.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-1097280"/>
            <a:ext cx="2377440" cy="2377440"/>
          </a:xfrm>
          <a:prstGeom prst="ellipse">
            <a:avLst/>
          </a:prstGeom>
          <a:solidFill>
            <a:srgbClr val="E8A33D">
              <a:alpha val="12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914400" y="4206240"/>
            <a:ext cx="2011680" cy="2011680"/>
          </a:xfrm>
          <a:prstGeom prst="ellipse">
            <a:avLst/>
          </a:prstGeom>
          <a:solidFill>
            <a:srgbClr val="14555A">
              <a:alpha val="8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11480" y="292608"/>
            <a:ext cx="475488" cy="475488"/>
          </a:xfrm>
          <a:prstGeom prst="ellipse">
            <a:avLst/>
          </a:prstGeom>
          <a:solidFill>
            <a:srgbClr val="14555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"/>
            <a:ext cx="76809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5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B1 The scene &amp; first listen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2 People and their jobs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4555A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9" name="Text 7"/>
          <p:cNvSpPr/>
          <p:nvPr/>
        </p:nvSpPr>
        <p:spPr>
          <a:xfrm>
            <a:off x="731520" y="114300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Wang Yiming is asking Ms Chen about how to get his dream job.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4F7F7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2331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Yiming's dream job?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19272" y="23774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4F7F7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13" name="Text 11"/>
          <p:cNvSpPr/>
          <p:nvPr/>
        </p:nvSpPr>
        <p:spPr>
          <a:xfrm>
            <a:off x="3456432" y="2377440"/>
            <a:ext cx="2331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does he want it?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181344" y="237744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4F7F7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15" name="Text 13"/>
          <p:cNvSpPr/>
          <p:nvPr/>
        </p:nvSpPr>
        <p:spPr>
          <a:xfrm>
            <a:off x="6318504" y="2377440"/>
            <a:ext cx="2331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he doing NOW for it?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Answers: a photographer (magazines) · interested in taking photos of everything · taking photos for the school newspaper</a:t>
            </a:r>
            <a:endParaRPr lang="en-US" sz="1250" dirty="0"/>
          </a:p>
        </p:txBody>
      </p:sp>
      <p:pic>
        <p:nvPicPr>
          <p:cNvPr id="18" name="09 Unit 2 Speaking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4525" y="443865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732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-1097280"/>
            <a:ext cx="2377440" cy="2377440"/>
          </a:xfrm>
          <a:prstGeom prst="ellipse">
            <a:avLst/>
          </a:prstGeom>
          <a:solidFill>
            <a:srgbClr val="E8A33D">
              <a:alpha val="12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914400" y="4206240"/>
            <a:ext cx="2011680" cy="2011680"/>
          </a:xfrm>
          <a:prstGeom prst="ellipse">
            <a:avLst/>
          </a:prstGeom>
          <a:solidFill>
            <a:srgbClr val="14555A">
              <a:alpha val="8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11480" y="292608"/>
            <a:ext cx="475488" cy="475488"/>
          </a:xfrm>
          <a:prstGeom prst="ellipse">
            <a:avLst/>
          </a:prstGeom>
          <a:solidFill>
            <a:srgbClr val="14555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"/>
            <a:ext cx="76809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5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B1 Second listen: what it takes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2 People and their jobs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F4F7F7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55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Ms Chen: what's required?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338328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being familiar with cameras — not enough!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of art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 courses and get trained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F4F7F7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 sz="2800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Her encouragement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5204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“Set a goal and work towards it. I'm sure your dream will come true.”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aloud &amp; underline the 5 moves: ask → dream → reason → requirements → action/encouragement</a:t>
            </a:r>
            <a:endParaRPr lang="en-US" sz="1300" dirty="0"/>
          </a:p>
        </p:txBody>
      </p:sp>
      <p:pic>
        <p:nvPicPr>
          <p:cNvPr id="15" name="09 Unit 2 Speaking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4525" y="4438650"/>
            <a:ext cx="406400" cy="40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81732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  <p:bldLst>
      <p:bldP spid="13" grpId="0" animBg="1"/>
      <p:bldP spid="10" grpId="0"/>
      <p:bldP spid="1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-1097280"/>
            <a:ext cx="2377440" cy="2377440"/>
          </a:xfrm>
          <a:prstGeom prst="ellipse">
            <a:avLst/>
          </a:prstGeom>
          <a:solidFill>
            <a:srgbClr val="E8A33D">
              <a:alpha val="12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914400" y="4206240"/>
            <a:ext cx="2011680" cy="2011680"/>
          </a:xfrm>
          <a:prstGeom prst="ellipse">
            <a:avLst/>
          </a:prstGeom>
          <a:solidFill>
            <a:srgbClr val="14555A">
              <a:alpha val="8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11480" y="292608"/>
            <a:ext cx="475488" cy="475488"/>
          </a:xfrm>
          <a:prstGeom prst="ellipse">
            <a:avLst/>
          </a:prstGeom>
          <a:solidFill>
            <a:srgbClr val="14555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"/>
            <a:ext cx="76809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5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Language mining: the 5 moves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2 People and their jobs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9" name="Text 7"/>
          <p:cNvSpPr/>
          <p:nvPr/>
        </p:nvSpPr>
        <p:spPr>
          <a:xfrm>
            <a:off x="640080" y="1097280"/>
            <a:ext cx="21031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55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Ask for ideas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34640" y="1097280"/>
            <a:ext cx="5669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Could you please give me some ideas on how to …?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4F7F7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12" name="Text 10"/>
          <p:cNvSpPr/>
          <p:nvPr/>
        </p:nvSpPr>
        <p:spPr>
          <a:xfrm>
            <a:off x="640080" y="1810512"/>
            <a:ext cx="21031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C9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Dream job + reason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34640" y="1810512"/>
            <a:ext cx="5669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I'd like to be … I want to … / Because I am interested in …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15" name="Text 13"/>
          <p:cNvSpPr/>
          <p:nvPr/>
        </p:nvSpPr>
        <p:spPr>
          <a:xfrm>
            <a:off x="640080" y="2523744"/>
            <a:ext cx="21031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Requirements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834640" y="2523744"/>
            <a:ext cx="5669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skills are required? / You need to have … / You'll need to …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4F7F7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18" name="Text 16"/>
          <p:cNvSpPr/>
          <p:nvPr/>
        </p:nvSpPr>
        <p:spPr>
          <a:xfrm>
            <a:off x="640080" y="3236976"/>
            <a:ext cx="21031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Present action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834640" y="3236976"/>
            <a:ext cx="5669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I'm trying to get some experience — I'm …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395020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 sz="3200"/>
          </a:p>
        </p:txBody>
      </p:sp>
      <p:sp>
        <p:nvSpPr>
          <p:cNvPr id="21" name="Text 19"/>
          <p:cNvSpPr/>
          <p:nvPr/>
        </p:nvSpPr>
        <p:spPr>
          <a:xfrm>
            <a:off x="640080" y="3950208"/>
            <a:ext cx="210312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55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Encouragement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834640" y="3950208"/>
            <a:ext cx="566928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a goal and work towards it. / Good thinking!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-1097280"/>
            <a:ext cx="2377440" cy="2377440"/>
          </a:xfrm>
          <a:prstGeom prst="ellipse">
            <a:avLst/>
          </a:prstGeom>
          <a:solidFill>
            <a:srgbClr val="E8A33D">
              <a:alpha val="12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914400" y="4206240"/>
            <a:ext cx="2011680" cy="2011680"/>
          </a:xfrm>
          <a:prstGeom prst="ellipse">
            <a:avLst/>
          </a:prstGeom>
          <a:solidFill>
            <a:srgbClr val="14555A">
              <a:alpha val="8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11480" y="292608"/>
            <a:ext cx="475488" cy="475488"/>
          </a:xfrm>
          <a:prstGeom prst="ellipse">
            <a:avLst/>
          </a:prstGeom>
          <a:solidFill>
            <a:srgbClr val="14555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"/>
            <a:ext cx="76809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5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Learning notes: expressing obligations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2 People and their jobs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4F7F7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77240" y="1371600"/>
            <a:ext cx="484632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It's necessary for me to learn some skills.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It's my responsibility / duty to do it.</a:t>
            </a:r>
            <a:endParaRPr lang="en-US" sz="20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2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additions: I have to … / I need to … / It's required that …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126480" y="114300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14555A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355080" y="13258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Rewrite it!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1783080"/>
            <a:ext cx="21031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“I must learn art.” → “It's necessary for me to learn art.”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-1097280"/>
            <a:ext cx="2377440" cy="2377440"/>
          </a:xfrm>
          <a:prstGeom prst="ellipse">
            <a:avLst/>
          </a:prstGeom>
          <a:solidFill>
            <a:srgbClr val="E8A33D">
              <a:alpha val="12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914400" y="4206240"/>
            <a:ext cx="2011680" cy="2011680"/>
          </a:xfrm>
          <a:prstGeom prst="ellipse">
            <a:avLst/>
          </a:prstGeom>
          <a:solidFill>
            <a:srgbClr val="14555A">
              <a:alpha val="8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11480" y="292608"/>
            <a:ext cx="475488" cy="475488"/>
          </a:xfrm>
          <a:prstGeom prst="ellipse">
            <a:avLst/>
          </a:prstGeom>
          <a:solidFill>
            <a:srgbClr val="14555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"/>
            <a:ext cx="76809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5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B2 Job cards: read the requirements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2 People and their jobs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3977640" cy="3017520"/>
          </a:xfrm>
          <a:prstGeom prst="roundRect">
            <a:avLst>
              <a:gd name="adj" fmla="val 2424"/>
            </a:avLst>
          </a:prstGeom>
          <a:solidFill>
            <a:srgbClr val="F4F7F7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5800" y="128016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9A5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Music teacher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691640"/>
            <a:ext cx="338328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Teacher certification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of basic instruments and music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Patience with children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Skills in organising performances and school concerts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3977640" cy="3017520"/>
          </a:xfrm>
          <a:prstGeom prst="roundRect">
            <a:avLst>
              <a:gd name="adj" fmla="val 2424"/>
            </a:avLst>
          </a:prstGeom>
          <a:solidFill>
            <a:srgbClr val="F4F7F7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128016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55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Architect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4920" y="1691640"/>
            <a:ext cx="338328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Degree in architecture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Communication and management skills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Office software skills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skills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…or choose your own job! Use the cards as your “information”.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-1097280"/>
            <a:ext cx="2377440" cy="2377440"/>
          </a:xfrm>
          <a:prstGeom prst="ellipse">
            <a:avLst/>
          </a:prstGeom>
          <a:solidFill>
            <a:srgbClr val="E8A33D">
              <a:alpha val="12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914400" y="4206240"/>
            <a:ext cx="2011680" cy="2011680"/>
          </a:xfrm>
          <a:prstGeom prst="ellipse">
            <a:avLst/>
          </a:prstGeom>
          <a:solidFill>
            <a:srgbClr val="14555A">
              <a:alpha val="8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11480" y="292608"/>
            <a:ext cx="475488" cy="475488"/>
          </a:xfrm>
          <a:prstGeom prst="ellipse">
            <a:avLst/>
          </a:prstGeom>
          <a:solidFill>
            <a:srgbClr val="14555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"/>
            <a:ext cx="76809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5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Role-play: Ms Chen &amp; the student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2 People and their jobs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F4F7F7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Student: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160020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Could you please give me some ideas …?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I'd like to be … because …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I'm trying to … (present action)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800" y="269748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55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Ms Chen: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you know what skills are required?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You'll need to … (from the card)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a goal and work towards it!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852160" y="1097280"/>
            <a:ext cx="2834640" cy="30175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080760" y="12344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55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Checklist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1645920"/>
            <a:ext cx="237744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dream job + reason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2+ obligation sentences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 action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encouragement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Pairs 5 min → SWITCH roles (to-do list!) → 2–3 pairs perform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-1097280"/>
            <a:ext cx="2377440" cy="2377440"/>
          </a:xfrm>
          <a:prstGeom prst="ellipse">
            <a:avLst/>
          </a:prstGeom>
          <a:solidFill>
            <a:srgbClr val="E8A33D">
              <a:alpha val="12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-914400" y="4206240"/>
            <a:ext cx="2011680" cy="2011680"/>
          </a:xfrm>
          <a:prstGeom prst="ellipse">
            <a:avLst/>
          </a:prstGeom>
          <a:solidFill>
            <a:srgbClr val="14555A">
              <a:alpha val="8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411480" y="292608"/>
            <a:ext cx="475488" cy="475488"/>
          </a:xfrm>
          <a:prstGeom prst="ellipse">
            <a:avLst/>
          </a:prstGeom>
          <a:solidFill>
            <a:srgbClr val="14555A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11480" y="29260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"/>
            <a:ext cx="76809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555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Your turn: my dream job plan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0" y="4864608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2 People and their jobs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8229600" cy="2194560"/>
          </a:xfrm>
          <a:prstGeom prst="roundRect">
            <a:avLst>
              <a:gd name="adj" fmla="val 3333"/>
            </a:avLst>
          </a:prstGeom>
          <a:solidFill>
            <a:srgbClr val="F4F7F7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 sz="2400"/>
          </a:p>
        </p:txBody>
      </p:sp>
      <p:sp>
        <p:nvSpPr>
          <p:cNvPr id="9" name="Text 7"/>
          <p:cNvSpPr/>
          <p:nvPr/>
        </p:nvSpPr>
        <p:spPr>
          <a:xfrm>
            <a:off x="777240" y="1371600"/>
            <a:ext cx="758952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I'd like to be ______, because ______.</a:t>
            </a:r>
            <a:endParaRPr lang="en-US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It's necessary for me to ______.</a:t>
            </a:r>
            <a:endParaRPr lang="en-US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It's my duty to ______.</a:t>
            </a:r>
            <a:endParaRPr lang="en-US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dirty="0">
                <a:solidFill>
                  <a:srgbClr val="263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Now I'm ______ (my first step).</a:t>
            </a:r>
            <a:endParaRPr lang="en-US" dirty="0"/>
          </a:p>
          <a:p>
            <a:pPr marL="0" indent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like every job we heard — it connects to WHY people work.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14555A"/>
          </a:solidFill>
          <a:ln w="12700">
            <a:solidFill>
              <a:srgbClr val="D8DEEE"/>
            </a:solidFill>
            <a:prstDash val="solid"/>
          </a:ln>
          <a:effectLst>
            <a:outerShdw blurRad="76200" dist="25400" dir="5400000" algn="bl" rotWithShape="0">
              <a:srgbClr val="9AA3C0">
                <a:alpha val="3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dream without a plan is just a wish — set a goal and work towards it!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5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645920"/>
            <a:ext cx="4023360" cy="4023360"/>
          </a:xfrm>
          <a:prstGeom prst="ellipse">
            <a:avLst/>
          </a:prstGeom>
          <a:solidFill>
            <a:srgbClr val="E8A33D">
              <a:alpha val="22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Set a goal and work towards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→ dream → reason → requirements → action → encouragement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FFFFFF">
              <a:alpha val="1200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Homework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A. Read B1 in roles &amp; record it.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B. Write your 3-sentence dream-job plan (obligation sentences!).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C. Challenge: design your own job card (4 requirements).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0" y="2743200"/>
            <a:ext cx="292608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Next: a man who gives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old books a new life…</a:t>
            </a:r>
            <a:endParaRPr lang="en-US" sz="14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(C Reading)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3500</Words>
  <Application>WPS 演示</Application>
  <PresentationFormat>全屏显示(16:9)</PresentationFormat>
  <Paragraphs>193</Paragraphs>
  <Slides>11</Slides>
  <Notes>11</Notes>
  <HiddenSlides>0</HiddenSlides>
  <MMClips>2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Calibri</vt:lpstr>
      <vt:lpstr>Calibri</vt:lpstr>
      <vt:lpstr>Cambria</vt:lpstr>
      <vt:lpstr>Cambria</vt:lpstr>
      <vt:lpstr>Cambria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 B Speaking (Period 2)</dc:title>
  <dc:creator>PptxGenJS</dc:creator>
  <dc:subject>PptxGenJS Presentation</dc:subject>
  <cp:lastModifiedBy>320</cp:lastModifiedBy>
  <cp:revision>3</cp:revision>
  <dcterms:created xsi:type="dcterms:W3CDTF">2026-09-22T12:31:00Z</dcterms:created>
  <dcterms:modified xsi:type="dcterms:W3CDTF">2026-09-23T02:58:51Z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AE134542426B455AB2EDED4E00FEB1AE_13</vt:lpwstr>
  </property>
</Properties>
</file>